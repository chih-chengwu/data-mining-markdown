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emf" ContentType="image/x-emf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8" r:id="rId1"/>
  </p:sldMasterIdLst>
  <p:notesMasterIdLst>
    <p:notesMasterId r:id="rId61"/>
  </p:notesMasterIdLst>
  <p:handoutMasterIdLst>
    <p:handoutMasterId r:id="rId62"/>
  </p:handoutMasterIdLst>
  <p:sldIdLst>
    <p:sldId id="282" r:id="rId2"/>
    <p:sldId id="283" r:id="rId3"/>
    <p:sldId id="285" r:id="rId4"/>
    <p:sldId id="286" r:id="rId5"/>
    <p:sldId id="335" r:id="rId6"/>
    <p:sldId id="287" r:id="rId7"/>
    <p:sldId id="288" r:id="rId8"/>
    <p:sldId id="289" r:id="rId9"/>
    <p:sldId id="291" r:id="rId10"/>
    <p:sldId id="292" r:id="rId11"/>
    <p:sldId id="293" r:id="rId12"/>
    <p:sldId id="294" r:id="rId13"/>
    <p:sldId id="295" r:id="rId14"/>
    <p:sldId id="296" r:id="rId15"/>
    <p:sldId id="297" r:id="rId16"/>
    <p:sldId id="298" r:id="rId17"/>
    <p:sldId id="339" r:id="rId18"/>
    <p:sldId id="337" r:id="rId19"/>
    <p:sldId id="338" r:id="rId20"/>
    <p:sldId id="341" r:id="rId21"/>
    <p:sldId id="336" r:id="rId22"/>
    <p:sldId id="342" r:id="rId23"/>
    <p:sldId id="340" r:id="rId24"/>
    <p:sldId id="299" r:id="rId25"/>
    <p:sldId id="300" r:id="rId26"/>
    <p:sldId id="301" r:id="rId27"/>
    <p:sldId id="302" r:id="rId28"/>
    <p:sldId id="303" r:id="rId29"/>
    <p:sldId id="304" r:id="rId30"/>
    <p:sldId id="305" r:id="rId31"/>
    <p:sldId id="306" r:id="rId32"/>
    <p:sldId id="307" r:id="rId33"/>
    <p:sldId id="308" r:id="rId34"/>
    <p:sldId id="309" r:id="rId35"/>
    <p:sldId id="310" r:id="rId36"/>
    <p:sldId id="311" r:id="rId37"/>
    <p:sldId id="312" r:id="rId38"/>
    <p:sldId id="313" r:id="rId39"/>
    <p:sldId id="314" r:id="rId40"/>
    <p:sldId id="315" r:id="rId41"/>
    <p:sldId id="316" r:id="rId42"/>
    <p:sldId id="317" r:id="rId43"/>
    <p:sldId id="318" r:id="rId44"/>
    <p:sldId id="319" r:id="rId45"/>
    <p:sldId id="320" r:id="rId46"/>
    <p:sldId id="321" r:id="rId47"/>
    <p:sldId id="322" r:id="rId48"/>
    <p:sldId id="323" r:id="rId49"/>
    <p:sldId id="324" r:id="rId50"/>
    <p:sldId id="325" r:id="rId51"/>
    <p:sldId id="326" r:id="rId52"/>
    <p:sldId id="327" r:id="rId53"/>
    <p:sldId id="328" r:id="rId54"/>
    <p:sldId id="329" r:id="rId55"/>
    <p:sldId id="330" r:id="rId56"/>
    <p:sldId id="331" r:id="rId57"/>
    <p:sldId id="332" r:id="rId58"/>
    <p:sldId id="333" r:id="rId59"/>
    <p:sldId id="334" r:id="rId60"/>
  </p:sldIdLst>
  <p:sldSz cx="9144000" cy="6858000" type="screen4x3"/>
  <p:notesSz cx="6858000" cy="9144000"/>
  <p:defaultTextStyle>
    <a:defPPr>
      <a:defRPr lang="zh-TW"/>
    </a:defPPr>
    <a:lvl1pPr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新細明體" pitchFamily="18" charset="-120"/>
        <a:cs typeface="+mn-cs"/>
      </a:defRPr>
    </a:lvl1pPr>
    <a:lvl2pPr marL="4572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新細明體" pitchFamily="18" charset="-120"/>
        <a:cs typeface="+mn-cs"/>
      </a:defRPr>
    </a:lvl2pPr>
    <a:lvl3pPr marL="9144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新細明體" pitchFamily="18" charset="-120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新細明體" pitchFamily="18" charset="-120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umimoji="1" kern="1200">
        <a:solidFill>
          <a:schemeClr val="tx1"/>
        </a:solidFill>
        <a:latin typeface="Arial" charset="0"/>
        <a:ea typeface="新細明體" pitchFamily="18" charset="-120"/>
        <a:cs typeface="+mn-cs"/>
      </a:defRPr>
    </a:lvl5pPr>
    <a:lvl6pPr marL="2286000" algn="l" defTabSz="914400" rtl="0" eaLnBrk="1" latinLnBrk="0" hangingPunct="1">
      <a:defRPr kumimoji="1" kern="1200">
        <a:solidFill>
          <a:schemeClr val="tx1"/>
        </a:solidFill>
        <a:latin typeface="Arial" charset="0"/>
        <a:ea typeface="新細明體" pitchFamily="18" charset="-120"/>
        <a:cs typeface="+mn-cs"/>
      </a:defRPr>
    </a:lvl6pPr>
    <a:lvl7pPr marL="2743200" algn="l" defTabSz="914400" rtl="0" eaLnBrk="1" latinLnBrk="0" hangingPunct="1">
      <a:defRPr kumimoji="1" kern="1200">
        <a:solidFill>
          <a:schemeClr val="tx1"/>
        </a:solidFill>
        <a:latin typeface="Arial" charset="0"/>
        <a:ea typeface="新細明體" pitchFamily="18" charset="-120"/>
        <a:cs typeface="+mn-cs"/>
      </a:defRPr>
    </a:lvl7pPr>
    <a:lvl8pPr marL="3200400" algn="l" defTabSz="914400" rtl="0" eaLnBrk="1" latinLnBrk="0" hangingPunct="1">
      <a:defRPr kumimoji="1" kern="1200">
        <a:solidFill>
          <a:schemeClr val="tx1"/>
        </a:solidFill>
        <a:latin typeface="Arial" charset="0"/>
        <a:ea typeface="新細明體" pitchFamily="18" charset="-120"/>
        <a:cs typeface="+mn-cs"/>
      </a:defRPr>
    </a:lvl8pPr>
    <a:lvl9pPr marL="3657600" algn="l" defTabSz="914400" rtl="0" eaLnBrk="1" latinLnBrk="0" hangingPunct="1">
      <a:defRPr kumimoji="1" kern="1200">
        <a:solidFill>
          <a:schemeClr val="tx1"/>
        </a:solidFill>
        <a:latin typeface="Arial" charset="0"/>
        <a:ea typeface="新細明體" pitchFamily="18" charset="-120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660066"/>
    <a:srgbClr val="FF66CC"/>
    <a:srgbClr val="800000"/>
    <a:srgbClr val="996633"/>
    <a:srgbClr val="669900"/>
    <a:srgbClr val="FF3300"/>
    <a:srgbClr val="343434"/>
    <a:srgbClr val="003300"/>
    <a:srgbClr val="00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150" autoAdjust="0"/>
    <p:restoredTop sz="96727" autoAdjust="0"/>
  </p:normalViewPr>
  <p:slideViewPr>
    <p:cSldViewPr>
      <p:cViewPr varScale="1">
        <p:scale>
          <a:sx n="84" d="100"/>
          <a:sy n="84" d="100"/>
        </p:scale>
        <p:origin x="245" y="8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200" d="100"/>
        <a:sy n="200" d="100"/>
      </p:scale>
      <p:origin x="0" y="-9804"/>
    </p:cViewPr>
  </p:sorterViewPr>
  <p:notesViewPr>
    <p:cSldViewPr>
      <p:cViewPr varScale="1">
        <p:scale>
          <a:sx n="58" d="100"/>
          <a:sy n="58" d="100"/>
        </p:scale>
        <p:origin x="-1764" y="-7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24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46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90467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90468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90469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C47178D8-FEFD-450A-944D-365F56570C8C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210339906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67BE1B-9015-48F9-82AF-E00A58196DAB}" type="datetimeFigureOut">
              <a:rPr lang="zh-TW" altLang="en-US" smtClean="0"/>
              <a:t>2025/9/23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D4FA67-A4B9-48A4-85F2-E5533334A24A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828519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688393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85306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88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88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88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88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888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36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88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37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888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38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88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39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88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40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88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圖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AD4FA67-A4B9-48A4-85F2-E5533334A24A}" type="slidenum">
              <a:rPr lang="zh-TW" altLang="en-US" smtClean="0"/>
              <a:t>41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10588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>
            <a:grpSpLocks/>
          </p:cNvGrpSpPr>
          <p:nvPr/>
        </p:nvGrpSpPr>
        <p:grpSpPr bwMode="auto">
          <a:xfrm>
            <a:off x="0" y="0"/>
            <a:ext cx="5867400" cy="6858000"/>
            <a:chOff x="0" y="0"/>
            <a:chExt cx="3696" cy="4320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auto">
            <a:xfrm>
              <a:off x="0" y="0"/>
              <a:ext cx="2880" cy="432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9pPr>
            </a:lstStyle>
            <a:p>
              <a:pPr algn="ctr" eaLnBrk="1" hangingPunct="1"/>
              <a:endParaRPr lang="zh-TW" altLang="zh-TW" sz="2400">
                <a:latin typeface="Times New Roman" pitchFamily="18" charset="0"/>
              </a:endParaRPr>
            </a:p>
          </p:txBody>
        </p:sp>
        <p:sp>
          <p:nvSpPr>
            <p:cNvPr id="6" name="AutoShape 4"/>
            <p:cNvSpPr>
              <a:spLocks noChangeArrowheads="1"/>
            </p:cNvSpPr>
            <p:nvPr/>
          </p:nvSpPr>
          <p:spPr bwMode="white">
            <a:xfrm>
              <a:off x="432" y="624"/>
              <a:ext cx="3264" cy="1200"/>
            </a:xfrm>
            <a:prstGeom prst="roundRect">
              <a:avLst>
                <a:gd name="adj" fmla="val 50000"/>
              </a:avLst>
            </a:prstGeom>
            <a:solidFill>
              <a:schemeClr val="bg1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9pPr>
            </a:lstStyle>
            <a:p>
              <a:pPr algn="ctr" eaLnBrk="1" hangingPunct="1"/>
              <a:endParaRPr lang="zh-TW" altLang="zh-TW" sz="2400">
                <a:latin typeface="Times New Roman" pitchFamily="18" charset="0"/>
              </a:endParaRPr>
            </a:p>
          </p:txBody>
        </p:sp>
      </p:grpSp>
      <p:grpSp>
        <p:nvGrpSpPr>
          <p:cNvPr id="7" name="Group 5"/>
          <p:cNvGrpSpPr>
            <a:grpSpLocks/>
          </p:cNvGrpSpPr>
          <p:nvPr/>
        </p:nvGrpSpPr>
        <p:grpSpPr bwMode="auto">
          <a:xfrm>
            <a:off x="3632200" y="4889500"/>
            <a:ext cx="4876800" cy="319088"/>
            <a:chOff x="2288" y="3080"/>
            <a:chExt cx="3072" cy="201"/>
          </a:xfrm>
        </p:grpSpPr>
        <p:sp>
          <p:nvSpPr>
            <p:cNvPr id="8" name="AutoShape 6"/>
            <p:cNvSpPr>
              <a:spLocks noChangeArrowheads="1"/>
            </p:cNvSpPr>
            <p:nvPr/>
          </p:nvSpPr>
          <p:spPr bwMode="auto">
            <a:xfrm flipH="1">
              <a:off x="2288" y="3080"/>
              <a:ext cx="2914" cy="200"/>
            </a:xfrm>
            <a:prstGeom prst="roundRect">
              <a:avLst>
                <a:gd name="adj" fmla="val 0"/>
              </a:avLst>
            </a:prstGeom>
            <a:solidFill>
              <a:schemeClr val="hlink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9pPr>
            </a:lstStyle>
            <a:p>
              <a:pPr eaLnBrk="1" hangingPunct="1"/>
              <a:endParaRPr lang="zh-TW" altLang="en-US"/>
            </a:p>
          </p:txBody>
        </p:sp>
        <p:sp>
          <p:nvSpPr>
            <p:cNvPr id="9" name="AutoShape 7"/>
            <p:cNvSpPr>
              <a:spLocks noChangeArrowheads="1"/>
            </p:cNvSpPr>
            <p:nvPr/>
          </p:nvSpPr>
          <p:spPr bwMode="auto">
            <a:xfrm>
              <a:off x="5196" y="3080"/>
              <a:ext cx="164" cy="201"/>
            </a:xfrm>
            <a:prstGeom prst="flowChartDelay">
              <a:avLst/>
            </a:prstGeom>
            <a:solidFill>
              <a:schemeClr val="hlink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9pPr>
            </a:lstStyle>
            <a:p>
              <a:pPr eaLnBrk="1" hangingPunct="1"/>
              <a:endParaRPr lang="zh-TW" altLang="en-US"/>
            </a:p>
          </p:txBody>
        </p:sp>
      </p:grpSp>
      <p:sp>
        <p:nvSpPr>
          <p:cNvPr id="188424" name="Rectangle 8"/>
          <p:cNvSpPr>
            <a:spLocks noGrp="1" noChangeArrowheads="1"/>
          </p:cNvSpPr>
          <p:nvPr>
            <p:ph type="subTitle" idx="1"/>
          </p:nvPr>
        </p:nvSpPr>
        <p:spPr>
          <a:xfrm>
            <a:off x="4673600" y="2927350"/>
            <a:ext cx="4013200" cy="1822450"/>
          </a:xfrm>
        </p:spPr>
        <p:txBody>
          <a:bodyPr anchor="b"/>
          <a:lstStyle>
            <a:lvl1pPr marL="0" indent="0">
              <a:buFont typeface="Wingdings" pitchFamily="2" charset="2"/>
              <a:buNone/>
              <a:defRPr>
                <a:solidFill>
                  <a:schemeClr val="tx2"/>
                </a:solidFill>
              </a:defRPr>
            </a:lvl1pPr>
          </a:lstStyle>
          <a:p>
            <a:pPr lvl="0"/>
            <a:r>
              <a:rPr lang="zh-TW" altLang="en-US" noProof="0" smtClean="0"/>
              <a:t>按一下以編輯母片副標題樣式</a:t>
            </a:r>
          </a:p>
        </p:txBody>
      </p:sp>
      <p:sp>
        <p:nvSpPr>
          <p:cNvPr id="188428" name="AutoShape 12"/>
          <p:cNvSpPr>
            <a:spLocks noGrp="1" noChangeArrowheads="1"/>
          </p:cNvSpPr>
          <p:nvPr>
            <p:ph type="ctrTitle" sz="quarter"/>
          </p:nvPr>
        </p:nvSpPr>
        <p:spPr>
          <a:xfrm>
            <a:off x="685800" y="990600"/>
            <a:ext cx="8229600" cy="1905000"/>
          </a:xfrm>
          <a:prstGeom prst="roundRect">
            <a:avLst>
              <a:gd name="adj" fmla="val 50000"/>
            </a:avLst>
          </a:prstGeom>
        </p:spPr>
        <p:txBody>
          <a:bodyPr anchor="ctr"/>
          <a:lstStyle>
            <a:lvl1pPr algn="ctr"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zh-TW" altLang="en-US" noProof="0" smtClean="0"/>
              <a:t>按一下以編輯母片標題樣式</a:t>
            </a:r>
          </a:p>
        </p:txBody>
      </p:sp>
      <p:sp>
        <p:nvSpPr>
          <p:cNvPr id="10" name="Rectangle 9"/>
          <p:cNvSpPr>
            <a:spLocks noGrp="1" noChangeArrowheads="1"/>
          </p:cNvSpPr>
          <p:nvPr>
            <p:ph type="dt" sz="quarter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1" name="Rectangle 10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2" name="Rectangle 11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6200" y="6248400"/>
            <a:ext cx="587375" cy="488950"/>
          </a:xfrm>
        </p:spPr>
        <p:txBody>
          <a:bodyPr anchorCtr="0"/>
          <a:lstStyle>
            <a:lvl1pPr>
              <a:defRPr/>
            </a:lvl1pPr>
          </a:lstStyle>
          <a:p>
            <a:pPr>
              <a:defRPr/>
            </a:pPr>
            <a:fld id="{F2EFDEF8-9B9A-4253-A89D-7452AC486DE6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7149005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425BFDA-AE0C-43A3-B229-917851F13E3C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9832805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3BA4AA5-EE2E-4AF6-9E30-A02244918FA7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6539358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27088" y="2349500"/>
            <a:ext cx="3770312" cy="37242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749800" y="2349500"/>
            <a:ext cx="3770313" cy="37242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5B5987D-43E9-47CF-9D3F-2647BDFAA3C3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0337178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8" name="Rectangle 12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9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ED27570-56A3-4F54-8C13-2DD0D2DAEF88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15470318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" name="Rectangle 12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7C5BBF4-89AE-4E89-AA3E-65BBEA9B3789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6938378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3" name="Rectangle 12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4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B0F0A5A-4180-45AD-B642-D7C029880B83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85891515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40FEA68-3D47-4556-9EC1-F6FB992C691F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0439525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TW" altLang="en-US" noProof="0" smtClean="0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TW" altLang="en-US" smtClean="0"/>
              <a:t>按一下以編輯母片文字樣式</a:t>
            </a:r>
          </a:p>
        </p:txBody>
      </p:sp>
      <p:sp>
        <p:nvSpPr>
          <p:cNvPr id="5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12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7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7CF92D0-8C6F-4C1A-AB2E-EF452AFE66B8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5653468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EFE25D2-EBD8-4275-BA73-480679771C4D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2295358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6597650" y="188913"/>
            <a:ext cx="1922463" cy="5884862"/>
          </a:xfrm>
        </p:spPr>
        <p:txBody>
          <a:bodyPr vert="eaVert"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27088" y="188913"/>
            <a:ext cx="5618162" cy="5884862"/>
          </a:xfrm>
        </p:spPr>
        <p:txBody>
          <a:bodyPr vert="eaVert"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5" name="Rectangle 12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6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E039901-D3DE-457B-BE74-2A8EA90A514B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40888844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標題，四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 sz="quarter"/>
          </p:nvPr>
        </p:nvSpPr>
        <p:spPr>
          <a:xfrm>
            <a:off x="900113" y="188913"/>
            <a:ext cx="6985000" cy="1143000"/>
          </a:xfrm>
        </p:spPr>
        <p:txBody>
          <a:bodyPr/>
          <a:lstStyle/>
          <a:p>
            <a:r>
              <a:rPr lang="zh-TW" altLang="en-US" smtClean="0"/>
              <a:t>按一下以編輯母片標題樣式</a:t>
            </a:r>
            <a:endParaRPr lang="zh-TW" altLang="en-US"/>
          </a:p>
        </p:txBody>
      </p:sp>
      <p:sp>
        <p:nvSpPr>
          <p:cNvPr id="3" name="內容版面配置區 2"/>
          <p:cNvSpPr>
            <a:spLocks noGrp="1"/>
          </p:cNvSpPr>
          <p:nvPr>
            <p:ph sz="quarter" idx="1"/>
          </p:nvPr>
        </p:nvSpPr>
        <p:spPr>
          <a:xfrm>
            <a:off x="827088" y="2349500"/>
            <a:ext cx="3770312" cy="178593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4" name="內容版面配置區 3"/>
          <p:cNvSpPr>
            <a:spLocks noGrp="1"/>
          </p:cNvSpPr>
          <p:nvPr>
            <p:ph sz="quarter" idx="2"/>
          </p:nvPr>
        </p:nvSpPr>
        <p:spPr>
          <a:xfrm>
            <a:off x="4749800" y="2349500"/>
            <a:ext cx="3770313" cy="1785938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5" name="內容版面配置區 4"/>
          <p:cNvSpPr>
            <a:spLocks noGrp="1"/>
          </p:cNvSpPr>
          <p:nvPr>
            <p:ph sz="quarter" idx="3"/>
          </p:nvPr>
        </p:nvSpPr>
        <p:spPr>
          <a:xfrm>
            <a:off x="827088" y="4287838"/>
            <a:ext cx="3770312" cy="1785937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4749800" y="4287838"/>
            <a:ext cx="3770313" cy="1785937"/>
          </a:xfrm>
        </p:spPr>
        <p:txBody>
          <a:bodyPr/>
          <a:lstStyle/>
          <a:p>
            <a:pPr lvl="0"/>
            <a:r>
              <a:rPr lang="zh-TW" altLang="en-US" smtClean="0"/>
              <a:t>按一下以編輯母片文字樣式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  <a:endParaRPr lang="zh-TW" altLang="en-US"/>
          </a:p>
        </p:txBody>
      </p:sp>
      <p:sp>
        <p:nvSpPr>
          <p:cNvPr id="7" name="Rectangle 11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8" name="Rectangle 12"/>
          <p:cNvSpPr>
            <a:spLocks noGrp="1" noChangeArrowheads="1"/>
          </p:cNvSpPr>
          <p:nvPr>
            <p:ph type="ftr" sz="quarter" idx="11"/>
          </p:nvPr>
        </p:nvSpPr>
        <p:spPr>
          <a:xfrm>
            <a:off x="5791200" y="6248400"/>
            <a:ext cx="2897188" cy="474663"/>
          </a:xfrm>
          <a:prstGeom prst="rect">
            <a:avLst/>
          </a:prstGeo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9" name="Rectangle 13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719B016-30B0-4840-AF9C-1892892AE57B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6096094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6" name="Group 3"/>
          <p:cNvGrpSpPr>
            <a:grpSpLocks/>
          </p:cNvGrpSpPr>
          <p:nvPr/>
        </p:nvGrpSpPr>
        <p:grpSpPr bwMode="auto">
          <a:xfrm>
            <a:off x="0" y="0"/>
            <a:ext cx="3200400" cy="6858000"/>
            <a:chOff x="0" y="0"/>
            <a:chExt cx="2016" cy="4320"/>
          </a:xfrm>
        </p:grpSpPr>
        <p:sp>
          <p:nvSpPr>
            <p:cNvPr id="1035" name="Rectangle 4"/>
            <p:cNvSpPr>
              <a:spLocks noChangeArrowheads="1"/>
            </p:cNvSpPr>
            <p:nvPr userDrawn="1"/>
          </p:nvSpPr>
          <p:spPr bwMode="auto">
            <a:xfrm>
              <a:off x="0" y="0"/>
              <a:ext cx="480" cy="432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9pPr>
            </a:lstStyle>
            <a:p>
              <a:pPr eaLnBrk="1" hangingPunct="1"/>
              <a:endParaRPr lang="zh-TW" altLang="en-US"/>
            </a:p>
          </p:txBody>
        </p:sp>
        <p:sp>
          <p:nvSpPr>
            <p:cNvPr id="1036" name="Freeform 5"/>
            <p:cNvSpPr>
              <a:spLocks/>
            </p:cNvSpPr>
            <p:nvPr userDrawn="1"/>
          </p:nvSpPr>
          <p:spPr bwMode="auto">
            <a:xfrm>
              <a:off x="288" y="0"/>
              <a:ext cx="1728" cy="735"/>
            </a:xfrm>
            <a:custGeom>
              <a:avLst/>
              <a:gdLst>
                <a:gd name="T0" fmla="*/ 1728 w 1728"/>
                <a:gd name="T1" fmla="*/ 0 h 735"/>
                <a:gd name="T2" fmla="*/ 1728 w 1728"/>
                <a:gd name="T3" fmla="*/ 480 h 735"/>
                <a:gd name="T4" fmla="*/ 380 w 1728"/>
                <a:gd name="T5" fmla="*/ 482 h 735"/>
                <a:gd name="T6" fmla="*/ 354 w 1728"/>
                <a:gd name="T7" fmla="*/ 480 h 735"/>
                <a:gd name="T8" fmla="*/ 308 w 1728"/>
                <a:gd name="T9" fmla="*/ 489 h 735"/>
                <a:gd name="T10" fmla="*/ 246 w 1728"/>
                <a:gd name="T11" fmla="*/ 531 h 735"/>
                <a:gd name="T12" fmla="*/ 206 w 1728"/>
                <a:gd name="T13" fmla="*/ 597 h 735"/>
                <a:gd name="T14" fmla="*/ 192 w 1728"/>
                <a:gd name="T15" fmla="*/ 666 h 735"/>
                <a:gd name="T16" fmla="*/ 192 w 1728"/>
                <a:gd name="T17" fmla="*/ 735 h 735"/>
                <a:gd name="T18" fmla="*/ 0 w 1728"/>
                <a:gd name="T19" fmla="*/ 735 h 735"/>
                <a:gd name="T20" fmla="*/ 0 w 1728"/>
                <a:gd name="T21" fmla="*/ 480 h 735"/>
                <a:gd name="T22" fmla="*/ 0 w 1728"/>
                <a:gd name="T23" fmla="*/ 0 h 735"/>
                <a:gd name="T24" fmla="*/ 1728 w 1728"/>
                <a:gd name="T25" fmla="*/ 0 h 735"/>
                <a:gd name="T26" fmla="*/ 0 60000 65536"/>
                <a:gd name="T27" fmla="*/ 0 60000 65536"/>
                <a:gd name="T28" fmla="*/ 0 60000 65536"/>
                <a:gd name="T29" fmla="*/ 0 60000 65536"/>
                <a:gd name="T30" fmla="*/ 0 60000 65536"/>
                <a:gd name="T31" fmla="*/ 0 60000 65536"/>
                <a:gd name="T32" fmla="*/ 0 60000 65536"/>
                <a:gd name="T33" fmla="*/ 0 60000 65536"/>
                <a:gd name="T34" fmla="*/ 0 60000 65536"/>
                <a:gd name="T35" fmla="*/ 0 60000 65536"/>
                <a:gd name="T36" fmla="*/ 0 60000 65536"/>
                <a:gd name="T37" fmla="*/ 0 60000 65536"/>
                <a:gd name="T38" fmla="*/ 0 60000 65536"/>
              </a:gdLst>
              <a:ahLst/>
              <a:cxnLst>
                <a:cxn ang="T26">
                  <a:pos x="T0" y="T1"/>
                </a:cxn>
                <a:cxn ang="T27">
                  <a:pos x="T2" y="T3"/>
                </a:cxn>
                <a:cxn ang="T28">
                  <a:pos x="T4" y="T5"/>
                </a:cxn>
                <a:cxn ang="T29">
                  <a:pos x="T6" y="T7"/>
                </a:cxn>
                <a:cxn ang="T30">
                  <a:pos x="T8" y="T9"/>
                </a:cxn>
                <a:cxn ang="T31">
                  <a:pos x="T10" y="T11"/>
                </a:cxn>
                <a:cxn ang="T32">
                  <a:pos x="T12" y="T13"/>
                </a:cxn>
                <a:cxn ang="T33">
                  <a:pos x="T14" y="T15"/>
                </a:cxn>
                <a:cxn ang="T34">
                  <a:pos x="T16" y="T17"/>
                </a:cxn>
                <a:cxn ang="T35">
                  <a:pos x="T18" y="T19"/>
                </a:cxn>
                <a:cxn ang="T36">
                  <a:pos x="T20" y="T21"/>
                </a:cxn>
                <a:cxn ang="T37">
                  <a:pos x="T22" y="T23"/>
                </a:cxn>
                <a:cxn ang="T38">
                  <a:pos x="T24" y="T25"/>
                </a:cxn>
              </a:cxnLst>
              <a:rect l="0" t="0" r="r" b="b"/>
              <a:pathLst>
                <a:path w="1728" h="735">
                  <a:moveTo>
                    <a:pt x="1728" y="0"/>
                  </a:moveTo>
                  <a:lnTo>
                    <a:pt x="1728" y="480"/>
                  </a:lnTo>
                  <a:lnTo>
                    <a:pt x="380" y="482"/>
                  </a:lnTo>
                  <a:lnTo>
                    <a:pt x="354" y="480"/>
                  </a:lnTo>
                  <a:lnTo>
                    <a:pt x="308" y="489"/>
                  </a:lnTo>
                  <a:cubicBezTo>
                    <a:pt x="290" y="498"/>
                    <a:pt x="263" y="513"/>
                    <a:pt x="246" y="531"/>
                  </a:cubicBezTo>
                  <a:cubicBezTo>
                    <a:pt x="229" y="549"/>
                    <a:pt x="215" y="574"/>
                    <a:pt x="206" y="597"/>
                  </a:cubicBezTo>
                  <a:cubicBezTo>
                    <a:pt x="197" y="620"/>
                    <a:pt x="194" y="643"/>
                    <a:pt x="192" y="666"/>
                  </a:cubicBezTo>
                  <a:lnTo>
                    <a:pt x="192" y="735"/>
                  </a:lnTo>
                  <a:lnTo>
                    <a:pt x="0" y="735"/>
                  </a:lnTo>
                  <a:lnTo>
                    <a:pt x="0" y="480"/>
                  </a:lnTo>
                  <a:lnTo>
                    <a:pt x="0" y="0"/>
                  </a:lnTo>
                  <a:lnTo>
                    <a:pt x="172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 cap="flat" cmpd="sng">
                  <a:solidFill>
                    <a:schemeClr val="tx1"/>
                  </a:solidFill>
                  <a:prstDash val="solid"/>
                  <a:miter lim="800000"/>
                  <a:headEnd type="none" w="med" len="med"/>
                  <a:tailEnd type="none" w="med" len="med"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/>
            <a:lstStyle/>
            <a:p>
              <a:endParaRPr lang="zh-TW" altLang="en-US"/>
            </a:p>
          </p:txBody>
        </p:sp>
      </p:grpSp>
      <p:sp>
        <p:nvSpPr>
          <p:cNvPr id="1027" name="AutoShape 9"/>
          <p:cNvSpPr>
            <a:spLocks noGrp="1" noChangeArrowheads="1"/>
          </p:cNvSpPr>
          <p:nvPr>
            <p:ph type="title"/>
          </p:nvPr>
        </p:nvSpPr>
        <p:spPr bwMode="auto">
          <a:xfrm>
            <a:off x="900113" y="188913"/>
            <a:ext cx="6985000" cy="1143000"/>
          </a:xfrm>
          <a:prstGeom prst="roundRect">
            <a:avLst>
              <a:gd name="adj" fmla="val 21667"/>
            </a:avLst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round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TW" smtClean="0"/>
              <a:t>  </a:t>
            </a:r>
            <a:r>
              <a:rPr lang="zh-TW" altLang="en-US" smtClean="0"/>
              <a:t>按一下以編輯母片標題樣式</a:t>
            </a:r>
          </a:p>
        </p:txBody>
      </p:sp>
      <p:sp>
        <p:nvSpPr>
          <p:cNvPr id="1028" name="Rectangle 10"/>
          <p:cNvSpPr>
            <a:spLocks noGrp="1" noChangeArrowheads="1"/>
          </p:cNvSpPr>
          <p:nvPr>
            <p:ph type="body" idx="1"/>
          </p:nvPr>
        </p:nvSpPr>
        <p:spPr bwMode="auto">
          <a:xfrm>
            <a:off x="827088" y="2349500"/>
            <a:ext cx="7693025" cy="3724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TW" altLang="en-US" smtClean="0"/>
              <a:t>按一下以編輯母片</a:t>
            </a:r>
          </a:p>
          <a:p>
            <a:pPr lvl="1"/>
            <a:r>
              <a:rPr lang="zh-TW" altLang="en-US" smtClean="0"/>
              <a:t>第二層</a:t>
            </a:r>
          </a:p>
          <a:p>
            <a:pPr lvl="2"/>
            <a:r>
              <a:rPr lang="zh-TW" altLang="en-US" smtClean="0"/>
              <a:t>第三層</a:t>
            </a:r>
          </a:p>
          <a:p>
            <a:pPr lvl="3"/>
            <a:r>
              <a:rPr lang="zh-TW" altLang="en-US" smtClean="0"/>
              <a:t>第四層</a:t>
            </a:r>
          </a:p>
          <a:p>
            <a:pPr lvl="4"/>
            <a:r>
              <a:rPr lang="zh-TW" altLang="en-US" smtClean="0"/>
              <a:t>第五層</a:t>
            </a:r>
          </a:p>
        </p:txBody>
      </p:sp>
      <p:sp>
        <p:nvSpPr>
          <p:cNvPr id="187403" name="Rectangle 11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438400" y="6248400"/>
            <a:ext cx="2130425" cy="474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kumimoji="0" sz="1400"/>
            </a:lvl1pPr>
          </a:lstStyle>
          <a:p>
            <a:pPr>
              <a:defRPr/>
            </a:pPr>
            <a:endParaRPr lang="en-US" altLang="zh-TW"/>
          </a:p>
        </p:txBody>
      </p:sp>
      <p:sp>
        <p:nvSpPr>
          <p:cNvPr id="187405" name="Rectangle 1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84138" y="6242050"/>
            <a:ext cx="587375" cy="4889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1" compatLnSpc="1">
            <a:prstTxWarp prst="textNoShape">
              <a:avLst/>
            </a:prstTxWarp>
          </a:bodyPr>
          <a:lstStyle>
            <a:lvl1pPr>
              <a:defRPr kumimoji="0" sz="2600" b="1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928849DF-7452-4CF2-888F-2E7BD110586F}" type="slidenum">
              <a:rPr lang="en-US" altLang="zh-TW"/>
              <a:pPr>
                <a:defRPr/>
              </a:pPr>
              <a:t>‹#›</a:t>
            </a:fld>
            <a:endParaRPr lang="en-US" altLang="zh-TW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1" r:id="rId1"/>
    <p:sldLayoutId id="2147483880" r:id="rId2"/>
    <p:sldLayoutId id="2147483881" r:id="rId3"/>
    <p:sldLayoutId id="2147483882" r:id="rId4"/>
    <p:sldLayoutId id="2147483883" r:id="rId5"/>
    <p:sldLayoutId id="2147483884" r:id="rId6"/>
    <p:sldLayoutId id="2147483885" r:id="rId7"/>
    <p:sldLayoutId id="2147483886" r:id="rId8"/>
    <p:sldLayoutId id="2147483887" r:id="rId9"/>
    <p:sldLayoutId id="2147483888" r:id="rId10"/>
    <p:sldLayoutId id="2147483889" r:id="rId11"/>
    <p:sldLayoutId id="2147483890" r:id="rId12"/>
  </p:sldLayoutIdLst>
  <p:hf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buClr>
          <a:srgbClr val="FF0000"/>
        </a:buClr>
        <a:buSzPct val="50000"/>
        <a:buFont typeface="Wingdings" pitchFamily="2" charset="2"/>
        <a:defRPr kumimoji="1" sz="40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buClr>
          <a:srgbClr val="FF0000"/>
        </a:buClr>
        <a:buSzPct val="50000"/>
        <a:buFont typeface="Wingdings" pitchFamily="2" charset="2"/>
        <a:defRPr kumimoji="1" sz="4000" b="1">
          <a:solidFill>
            <a:schemeClr val="tx2"/>
          </a:solidFill>
          <a:latin typeface="Arial" charset="0"/>
          <a:ea typeface="標楷體" pitchFamily="65" charset="-120"/>
          <a:cs typeface="新細明體" pitchFamily="18" charset="-120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buClr>
          <a:srgbClr val="FF0000"/>
        </a:buClr>
        <a:buSzPct val="50000"/>
        <a:buFont typeface="Wingdings" pitchFamily="2" charset="2"/>
        <a:defRPr kumimoji="1" sz="4000" b="1">
          <a:solidFill>
            <a:schemeClr val="tx2"/>
          </a:solidFill>
          <a:latin typeface="Arial" charset="0"/>
          <a:ea typeface="標楷體" pitchFamily="65" charset="-120"/>
          <a:cs typeface="新細明體" pitchFamily="18" charset="-120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buClr>
          <a:srgbClr val="FF0000"/>
        </a:buClr>
        <a:buSzPct val="50000"/>
        <a:buFont typeface="Wingdings" pitchFamily="2" charset="2"/>
        <a:defRPr kumimoji="1" sz="4000" b="1">
          <a:solidFill>
            <a:schemeClr val="tx2"/>
          </a:solidFill>
          <a:latin typeface="Arial" charset="0"/>
          <a:ea typeface="標楷體" pitchFamily="65" charset="-120"/>
          <a:cs typeface="新細明體" pitchFamily="18" charset="-120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buClr>
          <a:srgbClr val="FF0000"/>
        </a:buClr>
        <a:buSzPct val="50000"/>
        <a:buFont typeface="Wingdings" pitchFamily="2" charset="2"/>
        <a:defRPr kumimoji="1" sz="4000" b="1">
          <a:solidFill>
            <a:schemeClr val="tx2"/>
          </a:solidFill>
          <a:latin typeface="Arial" charset="0"/>
          <a:ea typeface="標楷體" pitchFamily="65" charset="-120"/>
          <a:cs typeface="新細明體" pitchFamily="18" charset="-120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buClr>
          <a:srgbClr val="FF0000"/>
        </a:buClr>
        <a:buSzPct val="50000"/>
        <a:buFont typeface="Wingdings" pitchFamily="2" charset="2"/>
        <a:defRPr kumimoji="1" sz="4000" b="1">
          <a:solidFill>
            <a:schemeClr val="tx2"/>
          </a:solidFill>
          <a:latin typeface="Arial" charset="0"/>
          <a:ea typeface="標楷體" pitchFamily="65" charset="-120"/>
          <a:cs typeface="新細明體" pitchFamily="18" charset="-120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buClr>
          <a:srgbClr val="FF0000"/>
        </a:buClr>
        <a:buSzPct val="50000"/>
        <a:buFont typeface="Wingdings" pitchFamily="2" charset="2"/>
        <a:defRPr kumimoji="1" sz="4000" b="1">
          <a:solidFill>
            <a:schemeClr val="tx2"/>
          </a:solidFill>
          <a:latin typeface="Arial" charset="0"/>
          <a:ea typeface="標楷體" pitchFamily="65" charset="-120"/>
          <a:cs typeface="新細明體" pitchFamily="18" charset="-120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buClr>
          <a:srgbClr val="FF0000"/>
        </a:buClr>
        <a:buSzPct val="50000"/>
        <a:buFont typeface="Wingdings" pitchFamily="2" charset="2"/>
        <a:defRPr kumimoji="1" sz="4000" b="1">
          <a:solidFill>
            <a:schemeClr val="tx2"/>
          </a:solidFill>
          <a:latin typeface="Arial" charset="0"/>
          <a:ea typeface="標楷體" pitchFamily="65" charset="-120"/>
          <a:cs typeface="新細明體" pitchFamily="18" charset="-120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buClr>
          <a:srgbClr val="FF0000"/>
        </a:buClr>
        <a:buSzPct val="50000"/>
        <a:buFont typeface="Wingdings" pitchFamily="2" charset="2"/>
        <a:defRPr kumimoji="1" sz="4000" b="1">
          <a:solidFill>
            <a:schemeClr val="tx2"/>
          </a:solidFill>
          <a:latin typeface="Arial" charset="0"/>
          <a:ea typeface="標楷體" pitchFamily="65" charset="-120"/>
          <a:cs typeface="新細明體" pitchFamily="18" charset="-12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itchFamily="2" charset="2"/>
        <a:buChar char="l"/>
        <a:defRPr kumimoji="1"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itchFamily="2" charset="2"/>
        <a:buChar char="Ø"/>
        <a:defRPr kumimoji="1"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itchFamily="2" charset="2"/>
        <a:buChar char="u"/>
        <a:defRPr kumimoji="1" sz="28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itchFamily="2" charset="2"/>
        <a:buChar char="Ø"/>
        <a:defRPr kumimoji="1" sz="2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itchFamily="2" charset="2"/>
        <a:buChar char="u"/>
        <a:defRPr kumimoji="1" sz="2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itchFamily="2" charset="2"/>
        <a:buChar char="u"/>
        <a:defRPr kumimoji="1" sz="2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itchFamily="2" charset="2"/>
        <a:buChar char="u"/>
        <a:defRPr kumimoji="1" sz="2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itchFamily="2" charset="2"/>
        <a:buChar char="u"/>
        <a:defRPr kumimoji="1" sz="2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1"/>
        </a:buClr>
        <a:buSzPct val="75000"/>
        <a:buFont typeface="Wingdings" pitchFamily="2" charset="2"/>
        <a:buChar char="u"/>
        <a:defRPr kumimoji="1" sz="2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9.xml"/><Relationship Id="rId7" Type="http://schemas.openxmlformats.org/officeDocument/2006/relationships/slide" Target="slide42.xml"/><Relationship Id="rId2" Type="http://schemas.openxmlformats.org/officeDocument/2006/relationships/slide" Target="slide3.xml"/><Relationship Id="rId1" Type="http://schemas.openxmlformats.org/officeDocument/2006/relationships/slideLayout" Target="../slideLayouts/slideLayout2.xml"/><Relationship Id="rId6" Type="http://schemas.openxmlformats.org/officeDocument/2006/relationships/slide" Target="slide30.xml"/><Relationship Id="rId5" Type="http://schemas.openxmlformats.org/officeDocument/2006/relationships/slide" Target="slide27.xml"/><Relationship Id="rId4" Type="http://schemas.openxmlformats.org/officeDocument/2006/relationships/slide" Target="slide2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7" Type="http://schemas.openxmlformats.org/officeDocument/2006/relationships/image" Target="../media/image12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0.png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emf"/><Relationship Id="rId7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2.png"/><Relationship Id="rId4" Type="http://schemas.openxmlformats.org/officeDocument/2006/relationships/image" Target="../media/image15.emf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0.png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aifreeblog.herokuapp.com/posts/54/data_science_203/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25.png"/><Relationship Id="rId4" Type="http://schemas.openxmlformats.org/officeDocument/2006/relationships/image" Target="../media/image24.wmf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reurl.cc/emOAVm" TargetMode="External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hyperlink" Target="https://reurl.cc/8pKvYj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reurl.cc/xQbMvN" TargetMode="External"/><Relationship Id="rId2" Type="http://schemas.openxmlformats.org/officeDocument/2006/relationships/hyperlink" Target="https://reurl.cc/V1ZOjR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reurl.cc/NR8dKx" TargetMode="Externa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0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slide" Target="slide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support.microsoft.com/zh-tw/office/sumxmy2-%E5%87%BD%E6%95%B8-9d144ac1-4d79-43de-b524-e2ecee23b299" TargetMode="External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slide" Target="slide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043608" y="2564904"/>
            <a:ext cx="7879080" cy="184665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66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資料探勘：</a:t>
            </a:r>
            <a:r>
              <a:rPr lang="zh-TW" altLang="en-US" sz="54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程序與</a:t>
            </a:r>
            <a:r>
              <a:rPr lang="zh-TW" altLang="en-US" sz="5400" b="1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模式</a:t>
            </a:r>
            <a:endParaRPr lang="en-US" altLang="zh-TW" sz="5400" b="1" dirty="0" smtClean="0">
              <a:solidFill>
                <a:schemeClr val="tx1">
                  <a:lumMod val="85000"/>
                  <a:lumOff val="1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4800" b="1" dirty="0" smtClean="0">
                <a:solidFill>
                  <a:srgbClr val="FF33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                       使用</a:t>
            </a:r>
            <a:r>
              <a:rPr lang="en-US" altLang="zh-TW" sz="4800" b="1" dirty="0" smtClean="0">
                <a:solidFill>
                  <a:srgbClr val="FF33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Excel</a:t>
            </a:r>
            <a:r>
              <a:rPr lang="zh-TW" altLang="en-US" sz="4800" b="1" dirty="0" smtClean="0">
                <a:solidFill>
                  <a:srgbClr val="FF33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實作</a:t>
            </a:r>
            <a:endParaRPr lang="zh-TW" altLang="en-US" sz="4800" b="1" dirty="0">
              <a:solidFill>
                <a:srgbClr val="FF33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719B016-30B0-4840-AF9C-1892892AE57B}" type="slidenum">
              <a:rPr lang="en-US" altLang="zh-TW" smtClean="0"/>
              <a:pPr>
                <a:defRPr/>
              </a:pPr>
              <a:t>1</a:t>
            </a:fld>
            <a:endParaRPr lang="en-US" altLang="zh-TW"/>
          </a:p>
        </p:txBody>
      </p:sp>
    </p:spTree>
  </p:cSld>
  <p:clrMapOvr>
    <a:masterClrMapping/>
  </p:clrMapOvr>
  <p:transition>
    <p:blinds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099" name="Group 10"/>
          <p:cNvGrpSpPr>
            <a:grpSpLocks/>
          </p:cNvGrpSpPr>
          <p:nvPr/>
        </p:nvGrpSpPr>
        <p:grpSpPr bwMode="auto">
          <a:xfrm>
            <a:off x="250825" y="1341438"/>
            <a:ext cx="8604250" cy="142875"/>
            <a:chOff x="703" y="1525"/>
            <a:chExt cx="4859" cy="91"/>
          </a:xfrm>
        </p:grpSpPr>
        <p:sp>
          <p:nvSpPr>
            <p:cNvPr id="4102" name="AutoShape 11"/>
            <p:cNvSpPr>
              <a:spLocks noChangeArrowheads="1"/>
            </p:cNvSpPr>
            <p:nvPr/>
          </p:nvSpPr>
          <p:spPr bwMode="auto">
            <a:xfrm>
              <a:off x="5284" y="1525"/>
              <a:ext cx="278" cy="91"/>
            </a:xfrm>
            <a:prstGeom prst="flowChartDelay">
              <a:avLst/>
            </a:prstGeom>
            <a:solidFill>
              <a:srgbClr val="336699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>
              <a:lvl1pPr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1pPr>
              <a:lvl2pPr marL="742950" indent="-28575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2pPr>
              <a:lvl3pPr marL="11430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3pPr>
              <a:lvl4pPr marL="16002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4pPr>
              <a:lvl5pPr marL="2057400" indent="-228600" eaLnBrk="0" hangingPunct="0"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>
                  <a:solidFill>
                    <a:schemeClr val="tx1"/>
                  </a:solidFill>
                  <a:latin typeface="Arial" charset="0"/>
                  <a:ea typeface="新細明體" pitchFamily="18" charset="-120"/>
                </a:defRPr>
              </a:lvl9pPr>
            </a:lstStyle>
            <a:p>
              <a:pPr eaLnBrk="1" hangingPunct="1"/>
              <a:endParaRPr lang="zh-TW" altLang="en-US"/>
            </a:p>
          </p:txBody>
        </p:sp>
        <p:grpSp>
          <p:nvGrpSpPr>
            <p:cNvPr id="4103" name="Group 12"/>
            <p:cNvGrpSpPr>
              <a:grpSpLocks/>
            </p:cNvGrpSpPr>
            <p:nvPr/>
          </p:nvGrpSpPr>
          <p:grpSpPr bwMode="auto">
            <a:xfrm>
              <a:off x="703" y="1525"/>
              <a:ext cx="4614" cy="91"/>
              <a:chOff x="157" y="1162"/>
              <a:chExt cx="4614" cy="91"/>
            </a:xfrm>
          </p:grpSpPr>
          <p:sp>
            <p:nvSpPr>
              <p:cNvPr id="4104" name="AutoShape 13"/>
              <p:cNvSpPr>
                <a:spLocks noChangeArrowheads="1"/>
              </p:cNvSpPr>
              <p:nvPr/>
            </p:nvSpPr>
            <p:spPr bwMode="auto">
              <a:xfrm rot="10800000" flipH="1">
                <a:off x="394" y="1162"/>
                <a:ext cx="4377" cy="91"/>
              </a:xfrm>
              <a:prstGeom prst="roundRect">
                <a:avLst>
                  <a:gd name="adj" fmla="val 0"/>
                </a:avLst>
              </a:prstGeom>
              <a:solidFill>
                <a:srgbClr val="336699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round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9pPr>
              </a:lstStyle>
              <a:p>
                <a:pPr eaLnBrk="1" hangingPunct="1"/>
                <a:endParaRPr lang="zh-TW" altLang="en-US"/>
              </a:p>
            </p:txBody>
          </p:sp>
          <p:sp>
            <p:nvSpPr>
              <p:cNvPr id="4105" name="AutoShape 14"/>
              <p:cNvSpPr>
                <a:spLocks noChangeArrowheads="1"/>
              </p:cNvSpPr>
              <p:nvPr/>
            </p:nvSpPr>
            <p:spPr bwMode="auto">
              <a:xfrm rot="10800000">
                <a:off x="157" y="1162"/>
                <a:ext cx="246" cy="91"/>
              </a:xfrm>
              <a:prstGeom prst="flowChartDelay">
                <a:avLst/>
              </a:prstGeom>
              <a:solidFill>
                <a:srgbClr val="336699"/>
              </a:solidFill>
              <a:ln>
                <a:noFill/>
              </a:ln>
              <a:effectLst/>
              <a:extLs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wrap="none" anchor="ctr"/>
              <a:lstStyle>
                <a:lvl1pPr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1pPr>
                <a:lvl2pPr marL="742950" indent="-28575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2pPr>
                <a:lvl3pPr marL="11430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3pPr>
                <a:lvl4pPr marL="16002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4pPr>
                <a:lvl5pPr marL="2057400" indent="-228600" eaLnBrk="0" hangingPunct="0"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>
                    <a:solidFill>
                      <a:schemeClr val="tx1"/>
                    </a:solidFill>
                    <a:latin typeface="Arial" charset="0"/>
                    <a:ea typeface="新細明體" pitchFamily="18" charset="-120"/>
                  </a:defRPr>
                </a:lvl9pPr>
              </a:lstStyle>
              <a:p>
                <a:pPr eaLnBrk="1" hangingPunct="1"/>
                <a:endParaRPr lang="zh-TW" altLang="en-US"/>
              </a:p>
            </p:txBody>
          </p:sp>
        </p:grpSp>
      </p:grpSp>
      <p:sp>
        <p:nvSpPr>
          <p:cNvPr id="4100" name="文字方塊 1"/>
          <p:cNvSpPr txBox="1">
            <a:spLocks noChangeArrowheads="1"/>
          </p:cNvSpPr>
          <p:nvPr/>
        </p:nvSpPr>
        <p:spPr bwMode="auto">
          <a:xfrm>
            <a:off x="18926" y="38234"/>
            <a:ext cx="9521626" cy="14465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marL="1703388" indent="-1703388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Arial" charset="0"/>
                <a:ea typeface="新細明體" pitchFamily="18" charset="-120"/>
              </a:defRPr>
            </a:lvl9pPr>
          </a:lstStyle>
          <a:p>
            <a:pPr eaLnBrk="1" hangingPunct="1"/>
            <a:r>
              <a:rPr lang="zh-TW" altLang="en-US" sz="4400" b="1" dirty="0" smtClean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第</a:t>
            </a:r>
            <a:r>
              <a:rPr lang="zh-TW" altLang="en-US" sz="4400" b="1" dirty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５</a:t>
            </a:r>
            <a:r>
              <a:rPr lang="zh-TW" altLang="en-US" sz="4400" b="1" dirty="0" smtClean="0">
                <a:solidFill>
                  <a:schemeClr val="bg1"/>
                </a:solidFill>
                <a:latin typeface="微軟正黑體" pitchFamily="34" charset="-120"/>
                <a:ea typeface="微軟正黑體" pitchFamily="34" charset="-120"/>
              </a:rPr>
              <a:t>章 </a:t>
            </a:r>
            <a:r>
              <a:rPr lang="zh-TW" altLang="en-US" sz="4400" b="1" dirty="0" smtClean="0">
                <a:latin typeface="微軟正黑體" pitchFamily="34" charset="-120"/>
                <a:ea typeface="微軟正黑體" pitchFamily="34" charset="-120"/>
              </a:rPr>
              <a:t>聚</a:t>
            </a:r>
            <a:r>
              <a:rPr lang="zh-TW" altLang="en-US" sz="4400" b="1" dirty="0">
                <a:latin typeface="微軟正黑體" pitchFamily="34" charset="-120"/>
                <a:ea typeface="微軟正黑體" pitchFamily="34" charset="-120"/>
              </a:rPr>
              <a:t>類</a:t>
            </a:r>
            <a:r>
              <a:rPr lang="zh-TW" altLang="en-US" sz="4400" b="1" dirty="0" smtClean="0">
                <a:latin typeface="微軟正黑體" pitchFamily="34" charset="-120"/>
                <a:ea typeface="微軟正黑體" pitchFamily="34" charset="-120"/>
              </a:rPr>
              <a:t>分析（一）：均值聚類分</a:t>
            </a:r>
            <a:endParaRPr lang="en-US" altLang="zh-TW" sz="4400" b="1" dirty="0" smtClean="0">
              <a:latin typeface="微軟正黑體" pitchFamily="34" charset="-120"/>
              <a:ea typeface="微軟正黑體" pitchFamily="34" charset="-120"/>
            </a:endParaRPr>
          </a:p>
          <a:p>
            <a:pPr eaLnBrk="1" hangingPunct="1"/>
            <a:r>
              <a:rPr lang="zh-TW" altLang="en-US" sz="4400" b="1" dirty="0" smtClean="0">
                <a:latin typeface="微軟正黑體" pitchFamily="34" charset="-120"/>
                <a:ea typeface="微軟正黑體" pitchFamily="34" charset="-120"/>
              </a:rPr>
              <a:t>析</a:t>
            </a:r>
            <a:endParaRPr lang="en-US" altLang="zh-TW" sz="4400" b="1" dirty="0">
              <a:latin typeface="微軟正黑體" pitchFamily="34" charset="-120"/>
              <a:ea typeface="微軟正黑體" pitchFamily="34" charset="-120"/>
            </a:endParaRPr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2</a:t>
            </a:fld>
            <a:endParaRPr lang="en-US" altLang="zh-TW"/>
          </a:p>
        </p:txBody>
      </p:sp>
      <p:sp>
        <p:nvSpPr>
          <p:cNvPr id="10" name="文字方塊 1"/>
          <p:cNvSpPr txBox="1">
            <a:spLocks noChangeArrowheads="1"/>
          </p:cNvSpPr>
          <p:nvPr/>
        </p:nvSpPr>
        <p:spPr bwMode="auto">
          <a:xfrm>
            <a:off x="827087" y="1772816"/>
            <a:ext cx="7781847" cy="25545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lnSpc>
                <a:spcPts val="32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dirty="0">
                <a:latin typeface="微軟正黑體" pitchFamily="34" charset="-120"/>
                <a:ea typeface="微軟正黑體" pitchFamily="34" charset="-120"/>
                <a:hlinkClick r:id="rId2" action="ppaction://hlinksldjump"/>
              </a:rPr>
              <a:t>5-1 </a:t>
            </a:r>
            <a:r>
              <a:rPr lang="zh-TW" altLang="en-US" sz="2400" dirty="0">
                <a:latin typeface="微軟正黑體" pitchFamily="34" charset="-120"/>
                <a:ea typeface="微軟正黑體" pitchFamily="34" charset="-120"/>
                <a:hlinkClick r:id="rId2" action="ppaction://hlinksldjump"/>
              </a:rPr>
              <a:t>模型架構</a:t>
            </a:r>
            <a:endParaRPr lang="zh-TW" altLang="en-US" sz="2400" dirty="0">
              <a:latin typeface="微軟正黑體" pitchFamily="34" charset="-120"/>
              <a:ea typeface="微軟正黑體" pitchFamily="34" charset="-120"/>
            </a:endParaRPr>
          </a:p>
          <a:p>
            <a:pPr eaLnBrk="1" hangingPunct="1">
              <a:lnSpc>
                <a:spcPts val="32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dirty="0">
                <a:latin typeface="微軟正黑體" pitchFamily="34" charset="-120"/>
                <a:ea typeface="微軟正黑體" pitchFamily="34" charset="-120"/>
                <a:hlinkClick r:id="rId3" action="ppaction://hlinksldjump"/>
              </a:rPr>
              <a:t>5-2 </a:t>
            </a:r>
            <a:r>
              <a:rPr lang="zh-TW" altLang="en-US" sz="2400" dirty="0">
                <a:latin typeface="微軟正黑體" pitchFamily="34" charset="-120"/>
                <a:ea typeface="微軟正黑體" pitchFamily="34" charset="-120"/>
                <a:hlinkClick r:id="rId3" action="ppaction://hlinksldjump"/>
              </a:rPr>
              <a:t>模型建立</a:t>
            </a:r>
            <a:endParaRPr lang="zh-TW" altLang="en-US" sz="2400" dirty="0">
              <a:latin typeface="微軟正黑體" pitchFamily="34" charset="-120"/>
              <a:ea typeface="微軟正黑體" pitchFamily="34" charset="-120"/>
            </a:endParaRPr>
          </a:p>
          <a:p>
            <a:pPr eaLnBrk="1" hangingPunct="1">
              <a:lnSpc>
                <a:spcPts val="32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dirty="0">
                <a:latin typeface="微軟正黑體" pitchFamily="34" charset="-120"/>
                <a:ea typeface="微軟正黑體" pitchFamily="34" charset="-120"/>
                <a:hlinkClick r:id="rId4" action="ppaction://hlinksldjump"/>
              </a:rPr>
              <a:t>5-3 </a:t>
            </a:r>
            <a:r>
              <a:rPr lang="zh-TW" altLang="en-US" sz="2400" dirty="0">
                <a:latin typeface="微軟正黑體" pitchFamily="34" charset="-120"/>
                <a:ea typeface="微軟正黑體" pitchFamily="34" charset="-120"/>
                <a:hlinkClick r:id="rId4" action="ppaction://hlinksldjump"/>
              </a:rPr>
              <a:t>實例一：旅行社個案</a:t>
            </a:r>
            <a:endParaRPr lang="zh-TW" altLang="en-US" sz="2400" dirty="0">
              <a:latin typeface="微軟正黑體" pitchFamily="34" charset="-120"/>
              <a:ea typeface="微軟正黑體" pitchFamily="34" charset="-120"/>
            </a:endParaRPr>
          </a:p>
          <a:p>
            <a:pPr eaLnBrk="1" hangingPunct="1">
              <a:lnSpc>
                <a:spcPts val="32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dirty="0">
                <a:solidFill>
                  <a:srgbClr val="800000"/>
                </a:solidFill>
                <a:latin typeface="微軟正黑體" pitchFamily="34" charset="-120"/>
                <a:ea typeface="微軟正黑體" pitchFamily="34" charset="-120"/>
                <a:hlinkClick r:id="rId5" action="ppaction://hlinksldjump"/>
              </a:rPr>
              <a:t>5-4 </a:t>
            </a:r>
            <a:r>
              <a:rPr lang="zh-TW" altLang="en-US" sz="2400" dirty="0">
                <a:solidFill>
                  <a:srgbClr val="800000"/>
                </a:solidFill>
                <a:latin typeface="微軟正黑體" pitchFamily="34" charset="-120"/>
                <a:ea typeface="微軟正黑體" pitchFamily="34" charset="-120"/>
                <a:hlinkClick r:id="rId5" action="ppaction://hlinksldjump"/>
              </a:rPr>
              <a:t>實例二：書局行銷個案</a:t>
            </a:r>
            <a:endParaRPr lang="zh-TW" altLang="en-US" sz="2400" dirty="0">
              <a:solidFill>
                <a:srgbClr val="800000"/>
              </a:solidFill>
              <a:latin typeface="微軟正黑體" pitchFamily="34" charset="-120"/>
              <a:ea typeface="微軟正黑體" pitchFamily="34" charset="-120"/>
            </a:endParaRPr>
          </a:p>
          <a:p>
            <a:pPr eaLnBrk="1" hangingPunct="1">
              <a:lnSpc>
                <a:spcPts val="32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TW" sz="2400" dirty="0">
                <a:solidFill>
                  <a:srgbClr val="800000"/>
                </a:solidFill>
                <a:latin typeface="微軟正黑體" pitchFamily="34" charset="-120"/>
                <a:ea typeface="微軟正黑體" pitchFamily="34" charset="-120"/>
                <a:hlinkClick r:id="rId6" action="ppaction://hlinksldjump"/>
              </a:rPr>
              <a:t>5-5 </a:t>
            </a:r>
            <a:r>
              <a:rPr lang="zh-TW" altLang="en-US" sz="2400" dirty="0">
                <a:solidFill>
                  <a:srgbClr val="800000"/>
                </a:solidFill>
                <a:latin typeface="微軟正黑體" pitchFamily="34" charset="-120"/>
                <a:ea typeface="微軟正黑體" pitchFamily="34" charset="-120"/>
                <a:hlinkClick r:id="rId6" action="ppaction://hlinksldjump"/>
              </a:rPr>
              <a:t>實例三：公民意見分析個案</a:t>
            </a:r>
            <a:endParaRPr lang="zh-TW" altLang="en-US" sz="2400" dirty="0">
              <a:solidFill>
                <a:srgbClr val="800000"/>
              </a:solidFill>
              <a:latin typeface="微軟正黑體" pitchFamily="34" charset="-120"/>
              <a:ea typeface="微軟正黑體" pitchFamily="34" charset="-120"/>
            </a:endParaRPr>
          </a:p>
          <a:p>
            <a:pPr eaLnBrk="1" hangingPunct="1">
              <a:lnSpc>
                <a:spcPts val="32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TW" altLang="en-US" sz="2400" dirty="0">
                <a:latin typeface="微軟正黑體" pitchFamily="34" charset="-120"/>
                <a:ea typeface="微軟正黑體" pitchFamily="34" charset="-120"/>
                <a:hlinkClick r:id="rId7" action="ppaction://hlinksldjump"/>
              </a:rPr>
              <a:t>實作單元</a:t>
            </a:r>
            <a:r>
              <a:rPr lang="en-US" altLang="zh-TW" sz="2400" dirty="0">
                <a:latin typeface="微軟正黑體" pitchFamily="34" charset="-120"/>
                <a:ea typeface="微軟正黑體" pitchFamily="34" charset="-120"/>
                <a:hlinkClick r:id="rId7" action="ppaction://hlinksldjump"/>
              </a:rPr>
              <a:t>A</a:t>
            </a:r>
            <a:r>
              <a:rPr lang="zh-TW" altLang="en-US" sz="2400" dirty="0">
                <a:latin typeface="微軟正黑體" pitchFamily="34" charset="-120"/>
                <a:ea typeface="微軟正黑體" pitchFamily="34" charset="-120"/>
                <a:hlinkClick r:id="rId7" action="ppaction://hlinksldjump"/>
              </a:rPr>
              <a:t>：</a:t>
            </a:r>
            <a:r>
              <a:rPr lang="en-US" altLang="zh-TW" sz="2400" dirty="0">
                <a:latin typeface="微軟正黑體" pitchFamily="34" charset="-120"/>
                <a:ea typeface="微軟正黑體" pitchFamily="34" charset="-120"/>
                <a:hlinkClick r:id="rId7" action="ppaction://hlinksldjump"/>
              </a:rPr>
              <a:t>Excel </a:t>
            </a:r>
            <a:r>
              <a:rPr lang="zh-TW" altLang="en-US" sz="2400" dirty="0">
                <a:latin typeface="微軟正黑體" pitchFamily="34" charset="-120"/>
                <a:ea typeface="微軟正黑體" pitchFamily="34" charset="-120"/>
                <a:hlinkClick r:id="rId7" action="ppaction://hlinksldjump"/>
              </a:rPr>
              <a:t>資料探勘系統──均值聚類分析</a:t>
            </a:r>
            <a:endParaRPr lang="zh-TW" altLang="en-US" sz="2400" dirty="0">
              <a:ea typeface="新細明體" pitchFamily="18" charset="-120"/>
            </a:endParaRPr>
          </a:p>
        </p:txBody>
      </p:sp>
      <p:sp>
        <p:nvSpPr>
          <p:cNvPr id="2" name="矩形 1"/>
          <p:cNvSpPr/>
          <p:nvPr/>
        </p:nvSpPr>
        <p:spPr>
          <a:xfrm>
            <a:off x="1835696" y="4725144"/>
            <a:ext cx="6120680" cy="2005856"/>
          </a:xfrm>
          <a:prstGeom prst="rect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dirty="0" smtClean="0"/>
              <a:t>聚類</a:t>
            </a:r>
            <a:r>
              <a:rPr lang="zh-TW" altLang="en-US" dirty="0"/>
              <a:t>分析</a:t>
            </a:r>
            <a:r>
              <a:rPr lang="en-US" altLang="zh-TW" dirty="0" smtClean="0"/>
              <a:t>:</a:t>
            </a:r>
            <a:r>
              <a:rPr lang="zh-TW" altLang="en-US" dirty="0"/>
              <a:t>集</a:t>
            </a:r>
            <a:r>
              <a:rPr lang="zh-TW" altLang="en-US" dirty="0" smtClean="0"/>
              <a:t>群分析</a:t>
            </a:r>
            <a:r>
              <a:rPr lang="en-US" altLang="zh-TW" dirty="0"/>
              <a:t>(Clustering)</a:t>
            </a:r>
            <a:r>
              <a:rPr lang="zh-TW" altLang="en-US" dirty="0"/>
              <a:t>分</a:t>
            </a:r>
            <a:r>
              <a:rPr lang="zh-TW" altLang="en-US" dirty="0" smtClean="0"/>
              <a:t>群</a:t>
            </a:r>
            <a:endParaRPr lang="en-US" altLang="zh-TW" dirty="0" smtClean="0"/>
          </a:p>
          <a:p>
            <a:r>
              <a:rPr lang="en-US" altLang="zh-TW" dirty="0" smtClean="0"/>
              <a:t>A.</a:t>
            </a:r>
            <a:r>
              <a:rPr lang="zh-TW" altLang="en-US" dirty="0" smtClean="0"/>
              <a:t>均值</a:t>
            </a:r>
            <a:r>
              <a:rPr lang="en-US" altLang="zh-TW" dirty="0" smtClean="0"/>
              <a:t>(K-means)</a:t>
            </a:r>
          </a:p>
          <a:p>
            <a:r>
              <a:rPr lang="en-US" altLang="zh-TW" dirty="0" smtClean="0"/>
              <a:t>B.</a:t>
            </a:r>
            <a:r>
              <a:rPr lang="zh-TW" altLang="en-US" dirty="0" smtClean="0"/>
              <a:t>階層</a:t>
            </a:r>
            <a:r>
              <a:rPr lang="zh-TW" altLang="en-US" dirty="0"/>
              <a:t>聚類</a:t>
            </a:r>
            <a:r>
              <a:rPr lang="zh-TW" altLang="en-US" dirty="0" smtClean="0"/>
              <a:t>分析</a:t>
            </a:r>
            <a:r>
              <a:rPr lang="en-US" altLang="zh-TW" dirty="0" smtClean="0"/>
              <a:t>(Hierarchical Cluster Analysis)</a:t>
            </a:r>
          </a:p>
          <a:p>
            <a:endParaRPr lang="en-US" altLang="zh-TW" dirty="0" smtClean="0"/>
          </a:p>
          <a:p>
            <a:r>
              <a:rPr lang="zh-TW" altLang="en-US" dirty="0" smtClean="0"/>
              <a:t>註</a:t>
            </a:r>
            <a:r>
              <a:rPr lang="en-US" altLang="zh-TW" dirty="0" smtClean="0"/>
              <a:t>: mean </a:t>
            </a:r>
            <a:r>
              <a:rPr lang="zh-TW" altLang="en-US" dirty="0" smtClean="0"/>
              <a:t>意思</a:t>
            </a:r>
            <a:r>
              <a:rPr lang="en-US" altLang="zh-TW" dirty="0" smtClean="0"/>
              <a:t>, </a:t>
            </a:r>
            <a:r>
              <a:rPr lang="zh-TW" altLang="en-US" dirty="0" smtClean="0"/>
              <a:t>小氣</a:t>
            </a:r>
            <a:r>
              <a:rPr lang="en-US" altLang="zh-TW" dirty="0" smtClean="0"/>
              <a:t>, </a:t>
            </a:r>
            <a:r>
              <a:rPr lang="zh-TW" altLang="en-US" dirty="0" smtClean="0">
                <a:solidFill>
                  <a:schemeClr val="bg1"/>
                </a:solidFill>
              </a:rPr>
              <a:t>中間的</a:t>
            </a:r>
            <a:endParaRPr lang="en-US" altLang="zh-TW" dirty="0" smtClean="0">
              <a:solidFill>
                <a:schemeClr val="bg1"/>
              </a:solidFill>
            </a:endParaRPr>
          </a:p>
          <a:p>
            <a:endParaRPr lang="en-US" altLang="zh-TW" dirty="0">
              <a:solidFill>
                <a:schemeClr val="bg1"/>
              </a:solidFill>
            </a:endParaRPr>
          </a:p>
          <a:p>
            <a:r>
              <a:rPr lang="zh-TW" altLang="en-US" b="1" dirty="0" smtClean="0"/>
              <a:t>屬於</a:t>
            </a:r>
            <a:r>
              <a:rPr lang="en-US" altLang="zh-TW" b="1" dirty="0" smtClean="0"/>
              <a:t>: </a:t>
            </a:r>
            <a:r>
              <a:rPr lang="zh-TW" altLang="en-US" b="1" dirty="0" smtClean="0"/>
              <a:t>非</a:t>
            </a:r>
            <a:r>
              <a:rPr lang="zh-TW" altLang="en-US" b="1" dirty="0"/>
              <a:t>監督學習 </a:t>
            </a:r>
            <a:r>
              <a:rPr lang="en-US" altLang="zh-TW" b="1" dirty="0"/>
              <a:t>(unsupervised learning)</a:t>
            </a:r>
            <a:endParaRPr lang="zh-TW" altLang="en-US" dirty="0"/>
          </a:p>
        </p:txBody>
      </p:sp>
    </p:spTree>
  </p:cSld>
  <p:clrMapOvr>
    <a:masterClrMapping/>
  </p:clrMapOvr>
  <p:transition>
    <p:blinds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3</a:t>
            </a:fld>
            <a:endParaRPr lang="en-US" altLang="zh-TW"/>
          </a:p>
        </p:txBody>
      </p:sp>
      <p:sp>
        <p:nvSpPr>
          <p:cNvPr id="5" name="文字方塊 1"/>
          <p:cNvSpPr txBox="1">
            <a:spLocks noChangeArrowheads="1"/>
          </p:cNvSpPr>
          <p:nvPr/>
        </p:nvSpPr>
        <p:spPr bwMode="auto">
          <a:xfrm flipH="1">
            <a:off x="788988" y="179388"/>
            <a:ext cx="8355012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algn="ctr" eaLnBrk="1" hangingPunct="1">
              <a:lnSpc>
                <a:spcPct val="80000"/>
              </a:lnSpc>
              <a:spcAft>
                <a:spcPts val="2000"/>
              </a:spcAft>
              <a:buClrTx/>
              <a:buSzTx/>
              <a:buFontTx/>
              <a:buNone/>
            </a:pPr>
            <a:r>
              <a:rPr lang="en-US" altLang="zh-TW" sz="4000" b="1" dirty="0">
                <a:solidFill>
                  <a:srgbClr val="FF0000"/>
                </a:solidFill>
                <a:latin typeface="標楷體" panose="03000509000000000000" pitchFamily="65" charset="-120"/>
              </a:rPr>
              <a:t>5-1 </a:t>
            </a:r>
            <a:r>
              <a:rPr lang="zh-TW" altLang="en-US" sz="4000" b="1" dirty="0">
                <a:solidFill>
                  <a:srgbClr val="FF0000"/>
                </a:solidFill>
                <a:latin typeface="標楷體" panose="03000509000000000000" pitchFamily="65" charset="-120"/>
              </a:rPr>
              <a:t>模型架構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08" t="40086" r="31650" b="21735"/>
          <a:stretch/>
        </p:blipFill>
        <p:spPr bwMode="auto">
          <a:xfrm>
            <a:off x="899592" y="1734170"/>
            <a:ext cx="7920000" cy="3082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矩形 1"/>
          <p:cNvSpPr/>
          <p:nvPr/>
        </p:nvSpPr>
        <p:spPr>
          <a:xfrm>
            <a:off x="1070619" y="4841608"/>
            <a:ext cx="779175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</a:t>
            </a:r>
            <a:r>
              <a:rPr lang="en-US" altLang="zh-TW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5-1(a), 5-1(b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 </a:t>
            </a:r>
            <a:r>
              <a:rPr lang="en-US" altLang="zh-TW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: 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學生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「管理學」與「程式設計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」課程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成績（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三個聚類）</a:t>
            </a:r>
          </a:p>
        </p:txBody>
      </p:sp>
      <p:sp>
        <p:nvSpPr>
          <p:cNvPr id="3" name="矩形 2"/>
          <p:cNvSpPr/>
          <p:nvPr/>
        </p:nvSpPr>
        <p:spPr>
          <a:xfrm>
            <a:off x="2267744" y="895339"/>
            <a:ext cx="5906206" cy="733461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dirty="0" smtClean="0"/>
              <a:t>某系有</a:t>
            </a:r>
            <a:r>
              <a:rPr lang="en-US" altLang="zh-TW" dirty="0" smtClean="0"/>
              <a:t>100</a:t>
            </a:r>
            <a:r>
              <a:rPr lang="zh-TW" altLang="en-US" dirty="0" smtClean="0"/>
              <a:t>名學生其管理學及程式設計成績如圖</a:t>
            </a:r>
            <a:r>
              <a:rPr lang="en-US" altLang="zh-TW" dirty="0" smtClean="0"/>
              <a:t>5-1(a)</a:t>
            </a:r>
          </a:p>
          <a:p>
            <a:r>
              <a:rPr lang="zh-TW" altLang="en-US" dirty="0" smtClean="0"/>
              <a:t>明顯存在三個聚類</a:t>
            </a:r>
            <a:r>
              <a:rPr lang="zh-TW" altLang="en-US" dirty="0"/>
              <a:t>如圖</a:t>
            </a:r>
            <a:r>
              <a:rPr lang="en-US" altLang="zh-TW" dirty="0" smtClean="0"/>
              <a:t>5-1(b)</a:t>
            </a:r>
            <a:endParaRPr lang="en-US" altLang="zh-TW" dirty="0"/>
          </a:p>
        </p:txBody>
      </p:sp>
      <p:sp>
        <p:nvSpPr>
          <p:cNvPr id="8" name="矩形 7"/>
          <p:cNvSpPr/>
          <p:nvPr/>
        </p:nvSpPr>
        <p:spPr>
          <a:xfrm>
            <a:off x="806327" y="5497397"/>
            <a:ext cx="4287068" cy="580635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3200" dirty="0">
                <a:latin typeface="+mn-ea"/>
              </a:rPr>
              <a:t>歐</a:t>
            </a:r>
            <a:r>
              <a:rPr lang="zh-TW" altLang="zh-TW" sz="3200" dirty="0" smtClean="0">
                <a:latin typeface="+mn-ea"/>
              </a:rPr>
              <a:t>幾</a:t>
            </a:r>
            <a:r>
              <a:rPr lang="zh-TW" altLang="zh-TW" sz="3200" dirty="0">
                <a:latin typeface="+mn-ea"/>
              </a:rPr>
              <a:t>里</a:t>
            </a:r>
            <a:r>
              <a:rPr lang="zh-TW" altLang="zh-TW" sz="3200" dirty="0" smtClean="0">
                <a:latin typeface="+mn-ea"/>
              </a:rPr>
              <a:t>得距離</a:t>
            </a:r>
            <a:endParaRPr lang="zh-TW" altLang="zh-TW" sz="3200" dirty="0">
              <a:latin typeface="+mn-ea"/>
            </a:endParaRP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0847" y="5511365"/>
            <a:ext cx="3857143" cy="1237866"/>
          </a:xfrm>
          <a:prstGeom prst="rect">
            <a:avLst/>
          </a:prstGeom>
          <a:ln w="25400">
            <a:solidFill>
              <a:srgbClr val="FF0000"/>
            </a:solidFill>
          </a:ln>
        </p:spPr>
      </p:pic>
      <p:sp>
        <p:nvSpPr>
          <p:cNvPr id="14" name="矩形 13"/>
          <p:cNvSpPr/>
          <p:nvPr/>
        </p:nvSpPr>
        <p:spPr>
          <a:xfrm>
            <a:off x="806327" y="6172456"/>
            <a:ext cx="4287068" cy="576775"/>
          </a:xfrm>
          <a:prstGeom prst="rect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smtClean="0"/>
              <a:t>A</a:t>
            </a:r>
            <a:r>
              <a:rPr lang="zh-TW" altLang="en-US" dirty="0" smtClean="0"/>
              <a:t>點</a:t>
            </a:r>
            <a:r>
              <a:rPr lang="en-US" altLang="zh-TW" dirty="0" smtClean="0"/>
              <a:t>(</a:t>
            </a:r>
            <a:r>
              <a:rPr lang="en-US" altLang="zh-TW" i="1" dirty="0" smtClean="0"/>
              <a:t>x</a:t>
            </a:r>
            <a:r>
              <a:rPr lang="en-US" altLang="zh-TW" baseline="-25000" dirty="0" smtClean="0"/>
              <a:t>1</a:t>
            </a:r>
            <a:r>
              <a:rPr lang="en-US" altLang="zh-TW" dirty="0" smtClean="0"/>
              <a:t>,</a:t>
            </a:r>
            <a:r>
              <a:rPr lang="en-US" altLang="zh-TW" i="1" dirty="0" smtClean="0"/>
              <a:t>y</a:t>
            </a:r>
            <a:r>
              <a:rPr lang="en-US" altLang="zh-TW" baseline="-25000" dirty="0" smtClean="0"/>
              <a:t>1</a:t>
            </a:r>
            <a:r>
              <a:rPr lang="en-US" altLang="zh-TW" dirty="0" smtClean="0"/>
              <a:t>)</a:t>
            </a:r>
            <a:r>
              <a:rPr lang="zh-TW" altLang="en-US" dirty="0" smtClean="0"/>
              <a:t>與</a:t>
            </a:r>
            <a:r>
              <a:rPr lang="en-US" altLang="zh-TW" dirty="0" smtClean="0"/>
              <a:t>B</a:t>
            </a:r>
            <a:r>
              <a:rPr lang="zh-TW" altLang="en-US" dirty="0" smtClean="0"/>
              <a:t>點</a:t>
            </a:r>
            <a:r>
              <a:rPr lang="en-US" altLang="zh-TW" dirty="0" smtClean="0"/>
              <a:t>(</a:t>
            </a:r>
            <a:r>
              <a:rPr lang="en-US" altLang="zh-TW" i="1" dirty="0" smtClean="0"/>
              <a:t>x</a:t>
            </a:r>
            <a:r>
              <a:rPr lang="en-US" altLang="zh-TW" baseline="-25000" dirty="0" smtClean="0"/>
              <a:t>2</a:t>
            </a:r>
            <a:r>
              <a:rPr lang="en-US" altLang="zh-TW" dirty="0" smtClean="0"/>
              <a:t>,</a:t>
            </a:r>
            <a:r>
              <a:rPr lang="en-US" altLang="zh-TW" i="1" dirty="0" smtClean="0"/>
              <a:t>y</a:t>
            </a:r>
            <a:r>
              <a:rPr lang="en-US" altLang="zh-TW" baseline="-25000" dirty="0" smtClean="0"/>
              <a:t>2</a:t>
            </a:r>
            <a:r>
              <a:rPr lang="en-US" altLang="zh-TW" dirty="0" smtClean="0"/>
              <a:t>)</a:t>
            </a:r>
            <a:r>
              <a:rPr lang="zh-TW" altLang="en-US" dirty="0" smtClean="0"/>
              <a:t>之間</a:t>
            </a:r>
            <a:r>
              <a:rPr lang="zh-TW" altLang="en-US" dirty="0"/>
              <a:t>的歐氏距離</a:t>
            </a:r>
          </a:p>
        </p:txBody>
      </p:sp>
    </p:spTree>
    <p:extLst>
      <p:ext uri="{BB962C8B-B14F-4D97-AF65-F5344CB8AC3E}">
        <p14:creationId xmlns:p14="http://schemas.microsoft.com/office/powerpoint/2010/main" val="34430595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4</a:t>
            </a:fld>
            <a:endParaRPr lang="en-US" altLang="zh-TW"/>
          </a:p>
        </p:txBody>
      </p:sp>
      <p:sp>
        <p:nvSpPr>
          <p:cNvPr id="7" name="矩形 6"/>
          <p:cNvSpPr/>
          <p:nvPr/>
        </p:nvSpPr>
        <p:spPr>
          <a:xfrm>
            <a:off x="864096" y="836712"/>
            <a:ext cx="295465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一、聚類分析的定義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557" t="54526" r="25238" b="35129"/>
          <a:stretch/>
        </p:blipFill>
        <p:spPr bwMode="auto">
          <a:xfrm>
            <a:off x="961940" y="1592135"/>
            <a:ext cx="2758966" cy="756745"/>
          </a:xfrm>
          <a:prstGeom prst="rect">
            <a:avLst/>
          </a:prstGeom>
          <a:noFill/>
          <a:ln w="15875">
            <a:solidFill>
              <a:srgbClr val="FF33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9" name="矩形 8"/>
          <p:cNvSpPr/>
          <p:nvPr/>
        </p:nvSpPr>
        <p:spPr>
          <a:xfrm>
            <a:off x="897265" y="2607295"/>
            <a:ext cx="295465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二、聚類分析的應用</a:t>
            </a:r>
          </a:p>
        </p:txBody>
      </p:sp>
      <p:sp>
        <p:nvSpPr>
          <p:cNvPr id="11" name="矩形 10"/>
          <p:cNvSpPr/>
          <p:nvPr/>
        </p:nvSpPr>
        <p:spPr>
          <a:xfrm>
            <a:off x="1475656" y="3096542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顧客</a:t>
            </a:r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分群</a:t>
            </a:r>
          </a:p>
        </p:txBody>
      </p:sp>
      <p:sp>
        <p:nvSpPr>
          <p:cNvPr id="8" name="矩形 7"/>
          <p:cNvSpPr/>
          <p:nvPr/>
        </p:nvSpPr>
        <p:spPr>
          <a:xfrm>
            <a:off x="1043608" y="3996930"/>
            <a:ext cx="7737117" cy="523220"/>
          </a:xfrm>
          <a:prstGeom prst="rect">
            <a:avLst/>
          </a:prstGeom>
          <a:solidFill>
            <a:srgbClr val="0000FF"/>
          </a:solidFill>
        </p:spPr>
        <p:txBody>
          <a:bodyPr wrap="square">
            <a:spAutoFit/>
          </a:bodyPr>
          <a:lstStyle/>
          <a:p>
            <a:r>
              <a:rPr lang="zh-TW" altLang="en-US" sz="2800" dirty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找出現有顧客的群集特性以建立市場區隔的基礎</a:t>
            </a:r>
          </a:p>
        </p:txBody>
      </p:sp>
      <p:sp>
        <p:nvSpPr>
          <p:cNvPr id="2" name="矩形 1"/>
          <p:cNvSpPr/>
          <p:nvPr/>
        </p:nvSpPr>
        <p:spPr>
          <a:xfrm>
            <a:off x="1043608" y="4653136"/>
            <a:ext cx="7767645" cy="1723454"/>
          </a:xfrm>
          <a:prstGeom prst="rect">
            <a:avLst/>
          </a:prstGeom>
          <a:solidFill>
            <a:srgbClr val="66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dirty="0" smtClean="0"/>
              <a:t>從龐大的顧客資料中，依顧客屬性（性別</a:t>
            </a:r>
            <a:r>
              <a:rPr lang="zh-TW" altLang="en-US" sz="2400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sz="2400" dirty="0" smtClean="0"/>
              <a:t>年齡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sz="2400" dirty="0" smtClean="0"/>
              <a:t>居住地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sz="2400" dirty="0" smtClean="0"/>
              <a:t>收入職業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sz="2400" dirty="0" smtClean="0"/>
              <a:t>學歷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sz="2400" dirty="0" smtClean="0"/>
              <a:t>消費額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sz="2400" dirty="0" smtClean="0"/>
              <a:t>消費地點</a:t>
            </a:r>
            <a:r>
              <a:rPr lang="zh-TW" altLang="en-US" sz="2400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sz="2400" dirty="0" smtClean="0"/>
              <a:t>消費商品等</a:t>
            </a:r>
            <a:r>
              <a:rPr lang="en-US" altLang="zh-TW" sz="2400" dirty="0" smtClean="0"/>
              <a:t>)</a:t>
            </a:r>
          </a:p>
          <a:p>
            <a:pPr algn="ctr"/>
            <a:r>
              <a:rPr lang="zh-TW" altLang="en-US" sz="2400" dirty="0" smtClean="0">
                <a:solidFill>
                  <a:srgbClr val="FF0000"/>
                </a:solidFill>
              </a:rPr>
              <a:t>分成特定的群集，以供行銷人員擬定有效的行銷策略。</a:t>
            </a:r>
            <a:endParaRPr lang="zh-TW" altLang="en-US" sz="2400" dirty="0">
              <a:solidFill>
                <a:srgbClr val="FF0000"/>
              </a:solidFill>
            </a:endParaRP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1645" y="965918"/>
            <a:ext cx="5178003" cy="2247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8235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sz="28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四、聚類分析的</a:t>
            </a:r>
            <a:r>
              <a:rPr lang="zh-TW" altLang="en-US" sz="2800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方法</a:t>
            </a:r>
            <a:endParaRPr lang="zh-TW" altLang="en-US" sz="2800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27088" y="1628800"/>
            <a:ext cx="8137400" cy="4444975"/>
          </a:xfrm>
        </p:spPr>
        <p:txBody>
          <a:bodyPr/>
          <a:lstStyle/>
          <a:p>
            <a:r>
              <a:rPr lang="en-US" altLang="zh-TW" dirty="0" smtClean="0"/>
              <a:t>1.</a:t>
            </a:r>
            <a:r>
              <a:rPr lang="zh-TW" altLang="en-US" dirty="0" smtClean="0">
                <a:solidFill>
                  <a:srgbClr val="FF0000"/>
                </a:solidFill>
              </a:rPr>
              <a:t>分割法</a:t>
            </a:r>
            <a:r>
              <a:rPr lang="en-US" altLang="zh-TW" dirty="0" smtClean="0">
                <a:solidFill>
                  <a:srgbClr val="FF0000"/>
                </a:solidFill>
              </a:rPr>
              <a:t>(Partitioning Algorithms)</a:t>
            </a:r>
          </a:p>
          <a:p>
            <a:pPr lvl="1"/>
            <a:r>
              <a:rPr lang="zh-TW" altLang="en-US" dirty="0" smtClean="0"/>
              <a:t>產生</a:t>
            </a:r>
            <a:r>
              <a:rPr lang="zh-TW" altLang="en-US" dirty="0" smtClean="0">
                <a:solidFill>
                  <a:srgbClr val="0000FF"/>
                </a:solidFill>
              </a:rPr>
              <a:t>無層級結構</a:t>
            </a:r>
            <a:r>
              <a:rPr lang="zh-TW" altLang="en-US" dirty="0" smtClean="0"/>
              <a:t>的聚類，例如</a:t>
            </a:r>
            <a:r>
              <a:rPr lang="en-US" altLang="zh-TW" dirty="0" smtClean="0"/>
              <a:t>:</a:t>
            </a:r>
            <a:r>
              <a:rPr lang="zh-TW" altLang="en-US" dirty="0">
                <a:solidFill>
                  <a:srgbClr val="0000FF"/>
                </a:solidFill>
              </a:rPr>
              <a:t>均</a:t>
            </a:r>
            <a:r>
              <a:rPr lang="zh-TW" altLang="en-US" dirty="0" smtClean="0">
                <a:solidFill>
                  <a:srgbClr val="0000FF"/>
                </a:solidFill>
              </a:rPr>
              <a:t>值聚類分析</a:t>
            </a:r>
            <a:endParaRPr lang="en-US" altLang="zh-TW" dirty="0" smtClean="0">
              <a:solidFill>
                <a:srgbClr val="0000FF"/>
              </a:solidFill>
            </a:endParaRPr>
          </a:p>
          <a:p>
            <a:r>
              <a:rPr lang="en-US" altLang="zh-TW" dirty="0" smtClean="0"/>
              <a:t>2.</a:t>
            </a:r>
            <a:r>
              <a:rPr lang="zh-TW" altLang="en-US" dirty="0" smtClean="0"/>
              <a:t>階層法</a:t>
            </a:r>
            <a:r>
              <a:rPr lang="en-US" altLang="zh-TW" dirty="0" smtClean="0"/>
              <a:t>(Hierarchical Algorithms)</a:t>
            </a:r>
          </a:p>
          <a:p>
            <a:pPr lvl="1"/>
            <a:r>
              <a:rPr lang="zh-TW" altLang="en-US" dirty="0" smtClean="0"/>
              <a:t>產生</a:t>
            </a:r>
            <a:r>
              <a:rPr lang="zh-TW" altLang="en-US" dirty="0" smtClean="0">
                <a:solidFill>
                  <a:srgbClr val="0000FF"/>
                </a:solidFill>
              </a:rPr>
              <a:t>具層級</a:t>
            </a:r>
            <a:r>
              <a:rPr lang="zh-TW" altLang="en-US" dirty="0">
                <a:solidFill>
                  <a:srgbClr val="0000FF"/>
                </a:solidFill>
              </a:rPr>
              <a:t>結構</a:t>
            </a:r>
            <a:r>
              <a:rPr lang="zh-TW" altLang="en-US" dirty="0"/>
              <a:t>的聚</a:t>
            </a:r>
            <a:r>
              <a:rPr lang="zh-TW" altLang="en-US" dirty="0" smtClean="0"/>
              <a:t>類，又分成二小類</a:t>
            </a:r>
            <a:endParaRPr lang="en-US" altLang="zh-TW" dirty="0" smtClean="0"/>
          </a:p>
          <a:p>
            <a:pPr lvl="1"/>
            <a:r>
              <a:rPr lang="en-US" altLang="zh-TW" dirty="0" smtClean="0"/>
              <a:t>a.</a:t>
            </a:r>
            <a:r>
              <a:rPr lang="zh-TW" altLang="en-US" dirty="0" smtClean="0"/>
              <a:t>分裂法：</a:t>
            </a:r>
            <a:endParaRPr lang="en-US" altLang="zh-TW" dirty="0" smtClean="0"/>
          </a:p>
          <a:p>
            <a:pPr lvl="2"/>
            <a:r>
              <a:rPr lang="zh-TW" altLang="en-US" dirty="0" smtClean="0"/>
              <a:t>少用</a:t>
            </a:r>
            <a:endParaRPr lang="en-US" altLang="zh-TW" dirty="0" smtClean="0"/>
          </a:p>
          <a:p>
            <a:pPr lvl="1"/>
            <a:r>
              <a:rPr lang="en-US" altLang="zh-TW" dirty="0" smtClean="0"/>
              <a:t>b.</a:t>
            </a:r>
            <a:r>
              <a:rPr lang="zh-TW" altLang="en-US" dirty="0" smtClean="0"/>
              <a:t>結合法：</a:t>
            </a:r>
            <a:endParaRPr lang="en-US" altLang="zh-TW" dirty="0" smtClean="0"/>
          </a:p>
          <a:p>
            <a:pPr lvl="2"/>
            <a:r>
              <a:rPr lang="zh-TW" altLang="en-US" dirty="0" smtClean="0"/>
              <a:t>視每一樣本為一個小聚類，逐次組合為較大聚類，直到單一聚類，例如：</a:t>
            </a:r>
            <a:r>
              <a:rPr lang="zh-TW" altLang="en-US" dirty="0" smtClean="0">
                <a:solidFill>
                  <a:srgbClr val="FF0000"/>
                </a:solidFill>
              </a:rPr>
              <a:t>分層聚類分析</a:t>
            </a:r>
            <a:endParaRPr lang="en-US" altLang="zh-TW" dirty="0" smtClean="0">
              <a:solidFill>
                <a:srgbClr val="FF0000"/>
              </a:solidFill>
            </a:endParaRPr>
          </a:p>
          <a:p>
            <a:pPr lvl="1"/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5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31509883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6</a:t>
            </a:fld>
            <a:endParaRPr lang="en-US" altLang="zh-TW"/>
          </a:p>
        </p:txBody>
      </p:sp>
      <p:sp>
        <p:nvSpPr>
          <p:cNvPr id="7" name="矩形 6"/>
          <p:cNvSpPr/>
          <p:nvPr/>
        </p:nvSpPr>
        <p:spPr>
          <a:xfrm>
            <a:off x="864096" y="836712"/>
            <a:ext cx="5082289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r>
              <a:rPr lang="en-US" altLang="zh-TW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.</a:t>
            </a:r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階層法</a:t>
            </a:r>
            <a:r>
              <a:rPr lang="en-US" altLang="zh-TW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(Hierarchical Algorithms)</a:t>
            </a:r>
          </a:p>
          <a:p>
            <a:endParaRPr lang="zh-TW" altLang="en-US" sz="2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843" t="37716" r="29722" b="27586"/>
          <a:stretch/>
        </p:blipFill>
        <p:spPr bwMode="auto">
          <a:xfrm>
            <a:off x="1115616" y="2060848"/>
            <a:ext cx="7920000" cy="28914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矩形 1"/>
          <p:cNvSpPr/>
          <p:nvPr/>
        </p:nvSpPr>
        <p:spPr>
          <a:xfrm>
            <a:off x="755576" y="6300028"/>
            <a:ext cx="34163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5-2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階層法：</a:t>
            </a:r>
            <a:r>
              <a:rPr lang="zh-TW" altLang="en-US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分裂法與結合法</a:t>
            </a:r>
          </a:p>
        </p:txBody>
      </p:sp>
    </p:spTree>
    <p:extLst>
      <p:ext uri="{BB962C8B-B14F-4D97-AF65-F5344CB8AC3E}">
        <p14:creationId xmlns:p14="http://schemas.microsoft.com/office/powerpoint/2010/main" val="2383692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7</a:t>
            </a:fld>
            <a:endParaRPr lang="en-US" altLang="zh-TW"/>
          </a:p>
        </p:txBody>
      </p:sp>
      <p:sp>
        <p:nvSpPr>
          <p:cNvPr id="7" name="矩形 6"/>
          <p:cNvSpPr/>
          <p:nvPr/>
        </p:nvSpPr>
        <p:spPr>
          <a:xfrm>
            <a:off x="864096" y="836712"/>
            <a:ext cx="357020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五、聚類分析方法的要求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437010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表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5-1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理想的聚類分析方法</a:t>
            </a:r>
            <a:r>
              <a:rPr lang="zh-TW" altLang="en-US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應具備的性質</a:t>
            </a: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99" t="26724" r="39052" b="28017"/>
          <a:stretch/>
        </p:blipFill>
        <p:spPr bwMode="auto">
          <a:xfrm>
            <a:off x="973175" y="1700808"/>
            <a:ext cx="7920000" cy="39789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矩形 2"/>
          <p:cNvSpPr/>
          <p:nvPr/>
        </p:nvSpPr>
        <p:spPr>
          <a:xfrm>
            <a:off x="1547664" y="6300028"/>
            <a:ext cx="504056" cy="36933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589857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8</a:t>
            </a:fld>
            <a:endParaRPr lang="en-US" altLang="zh-TW"/>
          </a:p>
        </p:txBody>
      </p:sp>
      <p:sp>
        <p:nvSpPr>
          <p:cNvPr id="6" name="AutoShape 35">
            <a:hlinkClick r:id="rId2" action="ppaction://hlinksldjump" highlightClick="1"/>
          </p:cNvPr>
          <p:cNvSpPr>
            <a:spLocks noChangeArrowheads="1"/>
          </p:cNvSpPr>
          <p:nvPr/>
        </p:nvSpPr>
        <p:spPr bwMode="auto">
          <a:xfrm>
            <a:off x="8642350" y="6322786"/>
            <a:ext cx="501650" cy="431800"/>
          </a:xfrm>
          <a:prstGeom prst="actionButtonHome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TW" altLang="en-US" sz="1800">
              <a:ea typeface="新細明體" pitchFamily="18" charset="-12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735627" y="147837"/>
            <a:ext cx="357020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六、聚類分析的資料結構</a:t>
            </a:r>
          </a:p>
        </p:txBody>
      </p:sp>
      <p:sp>
        <p:nvSpPr>
          <p:cNvPr id="8" name="矩形 7"/>
          <p:cNvSpPr/>
          <p:nvPr/>
        </p:nvSpPr>
        <p:spPr>
          <a:xfrm>
            <a:off x="766725" y="808786"/>
            <a:ext cx="504817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1. </a:t>
            </a:r>
            <a:r>
              <a:rPr lang="zh-TW" altLang="en-US" sz="24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</a:t>
            </a:r>
            <a:r>
              <a:rPr lang="zh-TW" altLang="en-US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矩陣</a:t>
            </a:r>
            <a:r>
              <a:rPr lang="en-US" altLang="zh-TW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: </a:t>
            </a:r>
            <a:r>
              <a:rPr lang="zh-TW" altLang="en-US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直接以 </a:t>
            </a:r>
            <a:r>
              <a:rPr lang="en-US" altLang="zh-TW" sz="2400" b="1" dirty="0" smtClean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2400" b="1" dirty="0" smtClean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樣本數據</a:t>
            </a:r>
            <a:r>
              <a:rPr lang="en-US" altLang="zh-TW" sz="2400" b="1" dirty="0" smtClean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 </a:t>
            </a:r>
            <a:r>
              <a:rPr lang="zh-TW" altLang="en-US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呈現</a:t>
            </a:r>
            <a:endParaRPr lang="zh-TW" altLang="en-US" sz="2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矩形 8"/>
          <p:cNvSpPr/>
          <p:nvPr/>
        </p:nvSpPr>
        <p:spPr>
          <a:xfrm>
            <a:off x="786294" y="2836436"/>
            <a:ext cx="5048177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2. </a:t>
            </a:r>
            <a:r>
              <a:rPr lang="zh-TW" altLang="en-US" sz="24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距離</a:t>
            </a:r>
            <a:r>
              <a:rPr lang="zh-TW" altLang="en-US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矩陣</a:t>
            </a:r>
            <a:r>
              <a:rPr lang="en-US" altLang="zh-TW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: </a:t>
            </a:r>
            <a:r>
              <a:rPr lang="zh-TW" altLang="en-US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以樣本間的 </a:t>
            </a:r>
            <a:r>
              <a:rPr lang="en-US" altLang="zh-TW" sz="2400" b="1" dirty="0" smtClean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2400" b="1" dirty="0" smtClean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距離</a:t>
            </a:r>
            <a:r>
              <a:rPr lang="en-US" altLang="zh-TW" sz="2400" b="1" dirty="0" smtClean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 </a:t>
            </a:r>
            <a:r>
              <a:rPr lang="zh-TW" altLang="en-US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呈現</a:t>
            </a:r>
            <a:endParaRPr lang="zh-TW" altLang="en-US" sz="2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矩形 9"/>
          <p:cNvSpPr/>
          <p:nvPr/>
        </p:nvSpPr>
        <p:spPr>
          <a:xfrm>
            <a:off x="755576" y="4911551"/>
            <a:ext cx="5663730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3. </a:t>
            </a:r>
            <a:r>
              <a:rPr lang="zh-TW" altLang="en-US" sz="24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相關</a:t>
            </a:r>
            <a:r>
              <a:rPr lang="zh-TW" altLang="en-US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矩陣</a:t>
            </a:r>
            <a:r>
              <a:rPr lang="en-US" altLang="zh-TW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: </a:t>
            </a:r>
            <a:r>
              <a:rPr lang="zh-TW" altLang="en-US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以變數的 </a:t>
            </a:r>
            <a:r>
              <a:rPr lang="en-US" altLang="zh-TW" sz="2400" b="1" dirty="0" smtClean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2400" b="1" dirty="0" smtClean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相關係數</a:t>
            </a:r>
            <a:r>
              <a:rPr lang="en-US" altLang="zh-TW" sz="2400" b="1" dirty="0" smtClean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 </a:t>
            </a:r>
            <a:r>
              <a:rPr lang="zh-TW" altLang="en-US" sz="24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來呈現</a:t>
            </a:r>
            <a:endParaRPr lang="zh-TW" altLang="en-US" sz="2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5122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988" t="18195" r="49109" b="60905"/>
          <a:stretch/>
        </p:blipFill>
        <p:spPr bwMode="auto">
          <a:xfrm>
            <a:off x="2535435" y="1196752"/>
            <a:ext cx="2088000" cy="16461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3" name="Picture 3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22" t="45375" r="49152" b="33153"/>
          <a:stretch/>
        </p:blipFill>
        <p:spPr bwMode="auto">
          <a:xfrm>
            <a:off x="2463435" y="3212976"/>
            <a:ext cx="2160000" cy="16686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5124" name="Picture 4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222" t="56112" r="49152" b="24892"/>
          <a:stretch/>
        </p:blipFill>
        <p:spPr bwMode="auto">
          <a:xfrm>
            <a:off x="2486509" y="5337055"/>
            <a:ext cx="2160000" cy="14763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" name="矩形 1"/>
              <p:cNvSpPr/>
              <p:nvPr/>
            </p:nvSpPr>
            <p:spPr>
              <a:xfrm>
                <a:off x="5364088" y="1402767"/>
                <a:ext cx="3888432" cy="1122102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zh-TW" altLang="en-US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zh-TW" altLang="en-US">
                                    <a:latin typeface="Cambria Math" panose="02040503050406030204" pitchFamily="18" charset="0"/>
                                  </a:rPr>
                                  <m:t>性</m:t>
                                </m:r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別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年齡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年收入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年刷卡</m:t>
                                </m:r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$</m:t>
                                </m:r>
                              </m:e>
                            </m:mr>
                            <m:mr>
                              <m:e>
                                <m:r>
                                  <a:rPr lang="zh-TW" altLang="en-US" i="1">
                                    <a:latin typeface="Cambria Math" panose="02040503050406030204" pitchFamily="18" charset="0"/>
                                  </a:rPr>
                                  <m:t>𝐹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45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60000</m:t>
                                </m:r>
                              </m:e>
                            </m:mr>
                            <m:mr>
                              <m:e>
                                <m:r>
                                  <a:rPr lang="zh-TW" altLang="en-US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50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70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30000</m:t>
                                </m:r>
                              </m:e>
                            </m:mr>
                            <m:mr>
                              <m:e>
                                <m:r>
                                  <a:rPr lang="zh-TW" altLang="en-US" i="1">
                                    <a:latin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30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40</m:t>
                                </m:r>
                              </m:e>
                              <m:e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20000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TW" altLang="en-US" dirty="0"/>
              </a:p>
            </p:txBody>
          </p:sp>
        </mc:Choice>
        <mc:Fallback>
          <p:sp>
            <p:nvSpPr>
              <p:cNvPr id="2" name="矩形 1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64088" y="1402767"/>
                <a:ext cx="3888432" cy="112210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向右箭號 4"/>
          <p:cNvSpPr/>
          <p:nvPr/>
        </p:nvSpPr>
        <p:spPr>
          <a:xfrm>
            <a:off x="4646509" y="1652292"/>
            <a:ext cx="837128" cy="735093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/>
              <a:t>例如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349798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9</a:t>
            </a:fld>
            <a:endParaRPr lang="en-US" altLang="zh-TW"/>
          </a:p>
        </p:txBody>
      </p:sp>
      <p:pic>
        <p:nvPicPr>
          <p:cNvPr id="717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93" t="38246" r="65986" b="32787"/>
          <a:stretch/>
        </p:blipFill>
        <p:spPr bwMode="auto">
          <a:xfrm>
            <a:off x="1547664" y="3284984"/>
            <a:ext cx="2171678" cy="25224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780" t="32000" r="29588" b="27356"/>
          <a:stretch/>
        </p:blipFill>
        <p:spPr bwMode="auto">
          <a:xfrm>
            <a:off x="5050688" y="2675239"/>
            <a:ext cx="3532556" cy="356681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文字方塊 1"/>
          <p:cNvSpPr txBox="1">
            <a:spLocks noChangeArrowheads="1"/>
          </p:cNvSpPr>
          <p:nvPr/>
        </p:nvSpPr>
        <p:spPr bwMode="auto">
          <a:xfrm flipH="1">
            <a:off x="467544" y="960495"/>
            <a:ext cx="8355012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algn="ctr" eaLnBrk="1" hangingPunct="1">
              <a:lnSpc>
                <a:spcPct val="80000"/>
              </a:lnSpc>
              <a:spcAft>
                <a:spcPts val="2000"/>
              </a:spcAft>
              <a:buClrTx/>
              <a:buSzTx/>
              <a:buFontTx/>
              <a:buNone/>
            </a:pPr>
            <a:r>
              <a:rPr lang="zh-TW" altLang="en-US" sz="4000" b="1" dirty="0" smtClean="0">
                <a:solidFill>
                  <a:srgbClr val="0000FF"/>
                </a:solidFill>
                <a:latin typeface="標楷體" panose="03000509000000000000" pitchFamily="65" charset="-120"/>
              </a:rPr>
              <a:t>例題 </a:t>
            </a:r>
            <a:r>
              <a:rPr lang="en-US" altLang="zh-TW" sz="4000" b="1" dirty="0" smtClean="0">
                <a:solidFill>
                  <a:srgbClr val="0000FF"/>
                </a:solidFill>
                <a:latin typeface="標楷體" panose="03000509000000000000" pitchFamily="65" charset="-120"/>
              </a:rPr>
              <a:t>5-1 </a:t>
            </a:r>
            <a:r>
              <a:rPr lang="zh-TW" altLang="en-US" sz="4000" b="1" dirty="0">
                <a:solidFill>
                  <a:srgbClr val="0000FF"/>
                </a:solidFill>
                <a:latin typeface="標楷體" panose="03000509000000000000" pitchFamily="65" charset="-120"/>
              </a:rPr>
              <a:t>均</a:t>
            </a:r>
            <a:r>
              <a:rPr lang="zh-TW" altLang="en-US" sz="4000" b="1" dirty="0" smtClean="0">
                <a:solidFill>
                  <a:srgbClr val="0000FF"/>
                </a:solidFill>
                <a:latin typeface="標楷體" panose="03000509000000000000" pitchFamily="65" charset="-120"/>
              </a:rPr>
              <a:t>值聚類分析</a:t>
            </a:r>
            <a:endParaRPr lang="zh-TW" altLang="en-US" sz="4000" b="1" dirty="0">
              <a:solidFill>
                <a:srgbClr val="0000FF"/>
              </a:solidFill>
              <a:latin typeface="標楷體" panose="03000509000000000000" pitchFamily="65" charset="-120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1690130" y="1814873"/>
            <a:ext cx="6552728" cy="860366"/>
          </a:xfrm>
          <a:prstGeom prst="rect">
            <a:avLst/>
          </a:prstGeom>
          <a:solidFill>
            <a:srgbClr val="66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dirty="0" smtClean="0"/>
              <a:t>假設以下五個樣本，試以均值聚類分析聚類</a:t>
            </a:r>
            <a:r>
              <a:rPr lang="zh-TW" altLang="en-US" dirty="0" smtClean="0"/>
              <a:t>之</a:t>
            </a:r>
            <a:r>
              <a:rPr lang="zh-TW" altLang="en-US" dirty="0"/>
              <a:t>，</a:t>
            </a:r>
            <a:r>
              <a:rPr lang="zh-TW" altLang="en-US" dirty="0" smtClean="0">
                <a:solidFill>
                  <a:srgbClr val="0000FF"/>
                </a:solidFill>
              </a:rPr>
              <a:t>決定</a:t>
            </a:r>
            <a:r>
              <a:rPr lang="zh-TW" altLang="en-US" dirty="0">
                <a:solidFill>
                  <a:srgbClr val="0000FF"/>
                </a:solidFill>
              </a:rPr>
              <a:t>聚類的數目</a:t>
            </a:r>
            <a:r>
              <a:rPr lang="en-US" altLang="zh-TW" dirty="0">
                <a:solidFill>
                  <a:srgbClr val="0000FF"/>
                </a:solidFill>
              </a:rPr>
              <a:t>k=2</a:t>
            </a:r>
            <a:r>
              <a:rPr lang="en-US" altLang="zh-TW" dirty="0">
                <a:solidFill>
                  <a:srgbClr val="FF3300"/>
                </a:solidFill>
              </a:rPr>
              <a:t> </a:t>
            </a:r>
            <a:r>
              <a:rPr lang="zh-TW" altLang="en-US" dirty="0" smtClean="0"/>
              <a:t>。</a:t>
            </a:r>
            <a:endParaRPr lang="zh-TW" altLang="en-US" dirty="0"/>
          </a:p>
        </p:txBody>
      </p:sp>
      <p:sp>
        <p:nvSpPr>
          <p:cNvPr id="8" name="文字方塊 1"/>
          <p:cNvSpPr txBox="1">
            <a:spLocks noChangeArrowheads="1"/>
          </p:cNvSpPr>
          <p:nvPr/>
        </p:nvSpPr>
        <p:spPr bwMode="auto">
          <a:xfrm flipH="1">
            <a:off x="788988" y="179388"/>
            <a:ext cx="8355012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algn="ctr" eaLnBrk="1" hangingPunct="1">
              <a:lnSpc>
                <a:spcPct val="80000"/>
              </a:lnSpc>
              <a:spcAft>
                <a:spcPts val="2000"/>
              </a:spcAft>
              <a:buClrTx/>
              <a:buSzTx/>
              <a:buFontTx/>
              <a:buNone/>
            </a:pPr>
            <a:r>
              <a:rPr lang="en-US" altLang="zh-TW" sz="4000" b="1" dirty="0">
                <a:solidFill>
                  <a:srgbClr val="FF0000"/>
                </a:solidFill>
                <a:latin typeface="標楷體" panose="03000509000000000000" pitchFamily="65" charset="-120"/>
              </a:rPr>
              <a:t>5-2 </a:t>
            </a:r>
            <a:r>
              <a:rPr lang="zh-TW" altLang="en-US" sz="4000" b="1" dirty="0">
                <a:solidFill>
                  <a:srgbClr val="FF0000"/>
                </a:solidFill>
                <a:latin typeface="標楷體" panose="03000509000000000000" pitchFamily="65" charset="-120"/>
              </a:rPr>
              <a:t>模型建立</a:t>
            </a:r>
          </a:p>
        </p:txBody>
      </p:sp>
    </p:spTree>
    <p:extLst>
      <p:ext uri="{BB962C8B-B14F-4D97-AF65-F5344CB8AC3E}">
        <p14:creationId xmlns:p14="http://schemas.microsoft.com/office/powerpoint/2010/main" val="3394428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10</a:t>
            </a:fld>
            <a:endParaRPr lang="en-US" altLang="zh-TW"/>
          </a:p>
        </p:txBody>
      </p:sp>
      <p:pic>
        <p:nvPicPr>
          <p:cNvPr id="8194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95" t="42127" r="65950" b="29691"/>
          <a:stretch/>
        </p:blipFill>
        <p:spPr bwMode="auto">
          <a:xfrm>
            <a:off x="3112033" y="3212977"/>
            <a:ext cx="1675991" cy="2376263"/>
          </a:xfrm>
          <a:prstGeom prst="rect">
            <a:avLst/>
          </a:prstGeom>
          <a:noFill/>
          <a:ln w="381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pic>
        <p:nvPicPr>
          <p:cNvPr id="5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606" t="35894" r="29319" b="23617"/>
          <a:stretch/>
        </p:blipFill>
        <p:spPr bwMode="auto">
          <a:xfrm>
            <a:off x="5040052" y="2636912"/>
            <a:ext cx="3600000" cy="35515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矩形 5"/>
          <p:cNvSpPr/>
          <p:nvPr/>
        </p:nvSpPr>
        <p:spPr>
          <a:xfrm>
            <a:off x="868347" y="1124744"/>
            <a:ext cx="7664093" cy="1152128"/>
          </a:xfrm>
          <a:prstGeom prst="rect">
            <a:avLst/>
          </a:prstGeom>
          <a:solidFill>
            <a:srgbClr val="66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2400" dirty="0" smtClean="0"/>
              <a:t>步驟</a:t>
            </a:r>
            <a:r>
              <a:rPr lang="en-US" altLang="zh-TW" sz="2400" dirty="0" smtClean="0"/>
              <a:t>1.</a:t>
            </a:r>
          </a:p>
          <a:p>
            <a:r>
              <a:rPr lang="zh-TW" altLang="en-US" sz="2400" dirty="0" smtClean="0">
                <a:solidFill>
                  <a:srgbClr val="FF3300"/>
                </a:solidFill>
              </a:rPr>
              <a:t> </a:t>
            </a:r>
            <a:r>
              <a:rPr lang="zh-TW" altLang="en-US" sz="2400" dirty="0" smtClean="0"/>
              <a:t>以</a:t>
            </a:r>
            <a:r>
              <a:rPr lang="zh-TW" altLang="en-US" sz="2400" dirty="0" smtClean="0">
                <a:solidFill>
                  <a:srgbClr val="FF0000"/>
                </a:solidFill>
              </a:rPr>
              <a:t>隨機</a:t>
            </a:r>
            <a:r>
              <a:rPr lang="zh-TW" altLang="en-US" sz="2400" dirty="0" smtClean="0"/>
              <a:t>的方式將上述五個樣本分為二群</a:t>
            </a:r>
            <a:r>
              <a:rPr lang="en-US" altLang="zh-TW" sz="2400" dirty="0" smtClean="0"/>
              <a:t>:</a:t>
            </a:r>
            <a:r>
              <a:rPr lang="zh-TW" altLang="en-US" sz="2400" dirty="0" smtClean="0"/>
              <a:t>ＡＣＥ為</a:t>
            </a:r>
            <a:r>
              <a:rPr lang="zh-TW" altLang="en-US" sz="2400" dirty="0"/>
              <a:t>聚</a:t>
            </a:r>
            <a:r>
              <a:rPr lang="zh-TW" altLang="en-US" sz="2400" dirty="0" smtClean="0"/>
              <a:t>類</a:t>
            </a:r>
            <a:r>
              <a:rPr lang="en-US" altLang="zh-TW" sz="2400" dirty="0" smtClean="0"/>
              <a:t>1</a:t>
            </a:r>
            <a:r>
              <a:rPr lang="zh-TW" altLang="en-US" sz="2400" dirty="0" smtClean="0"/>
              <a:t>，ＢＤ為</a:t>
            </a:r>
            <a:r>
              <a:rPr lang="zh-TW" altLang="en-US" sz="2400" dirty="0"/>
              <a:t>聚</a:t>
            </a:r>
            <a:r>
              <a:rPr lang="zh-TW" altLang="en-US" sz="2400" dirty="0" smtClean="0"/>
              <a:t>類</a:t>
            </a:r>
            <a:r>
              <a:rPr lang="en-US" altLang="zh-TW" sz="2400" dirty="0" smtClean="0"/>
              <a:t>2</a:t>
            </a:r>
            <a:r>
              <a:rPr lang="zh-TW" altLang="en-US" sz="2400" dirty="0" smtClean="0"/>
              <a:t>，如下左表</a:t>
            </a:r>
            <a:r>
              <a:rPr lang="en-US" altLang="zh-TW" sz="2400" dirty="0" smtClean="0"/>
              <a:t>:</a:t>
            </a:r>
            <a:endParaRPr lang="zh-TW" altLang="en-US" sz="2400" dirty="0"/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93" t="38246" r="65986" b="32787"/>
          <a:stretch/>
        </p:blipFill>
        <p:spPr bwMode="auto">
          <a:xfrm>
            <a:off x="868347" y="3151454"/>
            <a:ext cx="2171678" cy="25224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350149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11</a:t>
            </a:fld>
            <a:endParaRPr lang="en-US" altLang="zh-TW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563" t="35335" r="29523" b="24562"/>
          <a:stretch/>
        </p:blipFill>
        <p:spPr bwMode="auto">
          <a:xfrm>
            <a:off x="5336310" y="961679"/>
            <a:ext cx="3600000" cy="35423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矩形 5"/>
          <p:cNvSpPr/>
          <p:nvPr/>
        </p:nvSpPr>
        <p:spPr>
          <a:xfrm>
            <a:off x="3702666" y="82401"/>
            <a:ext cx="4680520" cy="678929"/>
          </a:xfrm>
          <a:prstGeom prst="rect">
            <a:avLst/>
          </a:prstGeom>
          <a:solidFill>
            <a:srgbClr val="66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dirty="0"/>
              <a:t>步驟</a:t>
            </a:r>
            <a:r>
              <a:rPr lang="en-US" altLang="zh-TW" dirty="0" smtClean="0"/>
              <a:t>2.</a:t>
            </a:r>
          </a:p>
          <a:p>
            <a:r>
              <a:rPr lang="zh-TW" altLang="en-US" dirty="0" smtClean="0"/>
              <a:t>計算</a:t>
            </a:r>
            <a:r>
              <a:rPr lang="zh-TW" altLang="en-US" dirty="0" smtClean="0"/>
              <a:t>出各聚類</a:t>
            </a:r>
            <a:r>
              <a:rPr lang="zh-TW" altLang="en-US" dirty="0" smtClean="0">
                <a:solidFill>
                  <a:srgbClr val="0000FF"/>
                </a:solidFill>
              </a:rPr>
              <a:t>形心</a:t>
            </a:r>
            <a:r>
              <a:rPr lang="en-US" altLang="zh-TW" dirty="0">
                <a:solidFill>
                  <a:srgbClr val="FFC000"/>
                </a:solidFill>
              </a:rPr>
              <a:t>(</a:t>
            </a:r>
            <a:r>
              <a:rPr lang="zh-TW" altLang="en-US" dirty="0">
                <a:solidFill>
                  <a:srgbClr val="FFC000"/>
                </a:solidFill>
              </a:rPr>
              <a:t>初次計算</a:t>
            </a:r>
            <a:r>
              <a:rPr lang="en-US" altLang="zh-TW" dirty="0">
                <a:solidFill>
                  <a:srgbClr val="FFC000"/>
                </a:solidFill>
              </a:rPr>
              <a:t>)</a:t>
            </a:r>
            <a:r>
              <a:rPr lang="zh-TW" altLang="en-US" dirty="0" smtClean="0"/>
              <a:t>如下左表</a:t>
            </a:r>
            <a:r>
              <a:rPr lang="en-US" altLang="zh-TW" dirty="0" smtClean="0"/>
              <a:t>:</a:t>
            </a:r>
            <a:endParaRPr lang="zh-TW" altLang="en-US" dirty="0"/>
          </a:p>
        </p:txBody>
      </p:sp>
      <p:pic>
        <p:nvPicPr>
          <p:cNvPr id="8" name="Picture 2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495" t="42127" r="65950" b="29691"/>
          <a:stretch/>
        </p:blipFill>
        <p:spPr bwMode="auto">
          <a:xfrm>
            <a:off x="3112033" y="1042251"/>
            <a:ext cx="1675991" cy="2376263"/>
          </a:xfrm>
          <a:prstGeom prst="rect">
            <a:avLst/>
          </a:prstGeom>
          <a:noFill/>
          <a:ln w="38100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93" t="38246" r="65986" b="32787"/>
          <a:stretch/>
        </p:blipFill>
        <p:spPr bwMode="auto">
          <a:xfrm>
            <a:off x="742065" y="961679"/>
            <a:ext cx="2171678" cy="25224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1" name="群組 10"/>
          <p:cNvGrpSpPr/>
          <p:nvPr/>
        </p:nvGrpSpPr>
        <p:grpSpPr>
          <a:xfrm>
            <a:off x="868347" y="4694178"/>
            <a:ext cx="1919115" cy="1476343"/>
            <a:chOff x="868347" y="3699435"/>
            <a:chExt cx="1919115" cy="14763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矩形 1"/>
                <p:cNvSpPr/>
                <p:nvPr/>
              </p:nvSpPr>
              <p:spPr>
                <a:xfrm>
                  <a:off x="868347" y="3997250"/>
                  <a:ext cx="1919115" cy="1178528"/>
                </a:xfrm>
                <a:prstGeom prst="rect">
                  <a:avLst/>
                </a:prstGeom>
                <a:solidFill>
                  <a:srgbClr val="C00000"/>
                </a:solidFill>
                <a:ln w="34925">
                  <a:solidFill>
                    <a:srgbClr val="FFC000"/>
                  </a:solidFill>
                </a:ln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zh-TW" altLang="en-US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zh-TW" alt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TW" altLang="en-US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zh-TW" altLang="en-US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+2+4</m:t>
                                  </m:r>
                                </m:num>
                                <m:den>
                                  <m:r>
                                    <a:rPr lang="zh-TW" altLang="en-US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  <m:r>
                                <a:rPr lang="zh-TW" altLang="en-US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=2.33</m:t>
                              </m:r>
                            </m:e>
                          </m:mr>
                          <m:mr>
                            <m:e>
                              <m:f>
                                <m:fPr>
                                  <m:ctrlPr>
                                    <a:rPr lang="zh-TW" alt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TW" altLang="en-US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5+3+1</m:t>
                                  </m:r>
                                </m:num>
                                <m:den>
                                  <m:r>
                                    <a:rPr lang="zh-TW" altLang="en-US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  <m:r>
                                <a:rPr lang="zh-TW" altLang="en-US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=3</m:t>
                              </m:r>
                            </m:e>
                          </m:mr>
                        </m:m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2" name="矩形 1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347" y="3997250"/>
                  <a:ext cx="1919115" cy="1178528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  <a:ln w="34925">
                  <a:solidFill>
                    <a:srgbClr val="FFC000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矩形 6"/>
            <p:cNvSpPr/>
            <p:nvPr/>
          </p:nvSpPr>
          <p:spPr>
            <a:xfrm>
              <a:off x="868347" y="3699435"/>
              <a:ext cx="1919115" cy="297815"/>
            </a:xfrm>
            <a:prstGeom prst="rect">
              <a:avLst/>
            </a:prstGeom>
            <a:solidFill>
              <a:srgbClr val="C00000"/>
            </a:solidFill>
            <a:ln w="3492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 smtClean="0"/>
                <a:t>初始形心</a:t>
              </a:r>
              <a:r>
                <a:rPr lang="en-US" altLang="zh-TW" dirty="0" smtClean="0"/>
                <a:t>1</a:t>
              </a:r>
              <a:endParaRPr lang="zh-TW" altLang="en-US" dirty="0"/>
            </a:p>
          </p:txBody>
        </p:sp>
      </p:grpSp>
      <p:grpSp>
        <p:nvGrpSpPr>
          <p:cNvPr id="12" name="群組 11"/>
          <p:cNvGrpSpPr/>
          <p:nvPr/>
        </p:nvGrpSpPr>
        <p:grpSpPr>
          <a:xfrm>
            <a:off x="3132861" y="4694178"/>
            <a:ext cx="1386918" cy="1476343"/>
            <a:chOff x="3368427" y="3699435"/>
            <a:chExt cx="1386918" cy="1476343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矩形 2"/>
                <p:cNvSpPr/>
                <p:nvPr/>
              </p:nvSpPr>
              <p:spPr>
                <a:xfrm>
                  <a:off x="3368427" y="3995262"/>
                  <a:ext cx="1386918" cy="1180516"/>
                </a:xfrm>
                <a:prstGeom prst="rect">
                  <a:avLst/>
                </a:prstGeom>
                <a:solidFill>
                  <a:srgbClr val="92D050"/>
                </a:solidFill>
                <a:ln w="34925">
                  <a:solidFill>
                    <a:srgbClr val="FF66CC"/>
                  </a:solidFill>
                </a:ln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zh-TW" altLang="en-US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f>
                                <m:fPr>
                                  <m:ctrlPr>
                                    <a:rPr lang="zh-TW" alt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TW" altLang="en-US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zh-TW" altLang="en-US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+5</m:t>
                                  </m:r>
                                </m:num>
                                <m:den>
                                  <m:r>
                                    <a:rPr lang="zh-TW" altLang="en-US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zh-TW" altLang="en-US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=3.5</m:t>
                              </m:r>
                            </m:e>
                          </m:mr>
                          <m:mr>
                            <m:e>
                              <m:f>
                                <m:fPr>
                                  <m:ctrlPr>
                                    <a:rPr lang="zh-TW" altLang="en-US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zh-TW" altLang="en-US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5+2</m:t>
                                  </m:r>
                                </m:num>
                                <m:den>
                                  <m:r>
                                    <a:rPr lang="zh-TW" altLang="en-US" i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zh-TW" altLang="en-US" i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=3.5</m:t>
                              </m:r>
                            </m:e>
                          </m:mr>
                        </m:m>
                      </m:oMath>
                    </m:oMathPara>
                  </a14:m>
                  <a:endParaRPr lang="zh-TW" altLang="en-US" dirty="0"/>
                </a:p>
              </p:txBody>
            </p:sp>
          </mc:Choice>
          <mc:Fallback xmlns="">
            <p:sp>
              <p:nvSpPr>
                <p:cNvPr id="3" name="矩形 2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68427" y="3995262"/>
                  <a:ext cx="1386918" cy="1180516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34925">
                  <a:solidFill>
                    <a:srgbClr val="FF66CC"/>
                  </a:solidFill>
                </a:ln>
              </p:spPr>
              <p:txBody>
                <a:bodyPr/>
                <a:lstStyle/>
                <a:p>
                  <a:r>
                    <a:rPr lang="zh-TW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0" name="矩形 9"/>
            <p:cNvSpPr/>
            <p:nvPr/>
          </p:nvSpPr>
          <p:spPr>
            <a:xfrm>
              <a:off x="3368427" y="3699435"/>
              <a:ext cx="1386918" cy="295827"/>
            </a:xfrm>
            <a:prstGeom prst="rect">
              <a:avLst/>
            </a:prstGeom>
            <a:solidFill>
              <a:schemeClr val="accent2"/>
            </a:solidFill>
            <a:ln w="34925">
              <a:solidFill>
                <a:srgbClr val="FF66C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 smtClean="0"/>
                <a:t>初始形心</a:t>
              </a:r>
              <a:r>
                <a:rPr lang="en-US" altLang="zh-TW" dirty="0" smtClean="0"/>
                <a:t>2</a:t>
              </a:r>
              <a:endParaRPr lang="zh-TW" altLang="en-US" dirty="0"/>
            </a:p>
          </p:txBody>
        </p:sp>
      </p:grpSp>
      <p:grpSp>
        <p:nvGrpSpPr>
          <p:cNvPr id="13" name="群組 12"/>
          <p:cNvGrpSpPr/>
          <p:nvPr/>
        </p:nvGrpSpPr>
        <p:grpSpPr>
          <a:xfrm>
            <a:off x="5860044" y="4937258"/>
            <a:ext cx="2520000" cy="1738673"/>
            <a:chOff x="5860044" y="4937258"/>
            <a:chExt cx="2520000" cy="1738673"/>
          </a:xfrm>
        </p:grpSpPr>
        <p:pic>
          <p:nvPicPr>
            <p:cNvPr id="9218" name="Picture 2"/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469" t="47742" r="64969" b="37152"/>
            <a:stretch/>
          </p:blipFill>
          <p:spPr bwMode="auto">
            <a:xfrm>
              <a:off x="5860044" y="5300558"/>
              <a:ext cx="2520000" cy="137537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4" name="矩形 13"/>
            <p:cNvSpPr/>
            <p:nvPr/>
          </p:nvSpPr>
          <p:spPr>
            <a:xfrm>
              <a:off x="5868144" y="4937258"/>
              <a:ext cx="2456372" cy="363300"/>
            </a:xfrm>
            <a:prstGeom prst="rect">
              <a:avLst/>
            </a:prstGeom>
            <a:solidFill>
              <a:srgbClr val="0000FF"/>
            </a:solidFill>
            <a:ln w="3492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 smtClean="0"/>
                <a:t>初始形心 </a:t>
              </a:r>
              <a:r>
                <a:rPr lang="en-US" altLang="zh-TW" dirty="0" smtClean="0"/>
                <a:t>- </a:t>
              </a:r>
              <a:r>
                <a:rPr lang="zh-TW" altLang="en-US" dirty="0" smtClean="0"/>
                <a:t>座標</a:t>
              </a:r>
              <a:endParaRPr lang="zh-TW" altLang="en-US" dirty="0"/>
            </a:p>
          </p:txBody>
        </p:sp>
      </p:grpSp>
      <p:sp>
        <p:nvSpPr>
          <p:cNvPr id="15" name="向右箭號 14"/>
          <p:cNvSpPr/>
          <p:nvPr/>
        </p:nvSpPr>
        <p:spPr>
          <a:xfrm>
            <a:off x="4860032" y="5661248"/>
            <a:ext cx="792088" cy="3600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508760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12</a:t>
            </a:fld>
            <a:endParaRPr lang="en-US" altLang="zh-TW"/>
          </a:p>
        </p:txBody>
      </p:sp>
      <p:pic>
        <p:nvPicPr>
          <p:cNvPr id="10242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56" t="29672" r="59942" b="41182"/>
          <a:stretch/>
        </p:blipFill>
        <p:spPr bwMode="auto">
          <a:xfrm>
            <a:off x="2253587" y="920376"/>
            <a:ext cx="3326525" cy="21125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866" t="29347" r="29208" b="29616"/>
          <a:stretch/>
        </p:blipFill>
        <p:spPr bwMode="auto">
          <a:xfrm>
            <a:off x="5364088" y="814223"/>
            <a:ext cx="3600000" cy="36228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矩形 4"/>
          <p:cNvSpPr/>
          <p:nvPr/>
        </p:nvSpPr>
        <p:spPr>
          <a:xfrm>
            <a:off x="1547664" y="116632"/>
            <a:ext cx="6552728" cy="678929"/>
          </a:xfrm>
          <a:prstGeom prst="rect">
            <a:avLst/>
          </a:prstGeom>
          <a:solidFill>
            <a:srgbClr val="66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dirty="0"/>
              <a:t>步驟</a:t>
            </a:r>
            <a:r>
              <a:rPr lang="en-US" altLang="zh-TW" dirty="0" smtClean="0"/>
              <a:t>3.</a:t>
            </a:r>
          </a:p>
          <a:p>
            <a:r>
              <a:rPr lang="zh-TW" altLang="en-US" dirty="0" smtClean="0"/>
              <a:t>計算</a:t>
            </a:r>
            <a:r>
              <a:rPr lang="zh-TW" altLang="en-US" dirty="0" smtClean="0"/>
              <a:t>各樣本到各聚類</a:t>
            </a:r>
            <a:r>
              <a:rPr lang="zh-TW" altLang="en-US" dirty="0" smtClean="0">
                <a:solidFill>
                  <a:srgbClr val="0000FF"/>
                </a:solidFill>
              </a:rPr>
              <a:t>形心</a:t>
            </a:r>
            <a:r>
              <a:rPr lang="en-US" altLang="zh-TW" dirty="0">
                <a:solidFill>
                  <a:srgbClr val="FFC000"/>
                </a:solidFill>
              </a:rPr>
              <a:t>(</a:t>
            </a:r>
            <a:r>
              <a:rPr lang="zh-TW" altLang="en-US" dirty="0">
                <a:solidFill>
                  <a:srgbClr val="FFC000"/>
                </a:solidFill>
              </a:rPr>
              <a:t>初次計算</a:t>
            </a:r>
            <a:r>
              <a:rPr lang="en-US" altLang="zh-TW" dirty="0">
                <a:solidFill>
                  <a:srgbClr val="FFC000"/>
                </a:solidFill>
              </a:rPr>
              <a:t>)</a:t>
            </a:r>
            <a:r>
              <a:rPr lang="zh-TW" altLang="en-US" dirty="0" smtClean="0"/>
              <a:t>的</a:t>
            </a:r>
            <a:r>
              <a:rPr lang="zh-TW" altLang="en-US" dirty="0"/>
              <a:t>距離</a:t>
            </a:r>
            <a:r>
              <a:rPr lang="zh-TW" altLang="en-US" dirty="0" smtClean="0"/>
              <a:t>如下左表</a:t>
            </a:r>
            <a:r>
              <a:rPr lang="en-US" altLang="zh-TW" dirty="0" smtClean="0"/>
              <a:t>:</a:t>
            </a:r>
            <a:endParaRPr lang="zh-TW" altLang="en-US" dirty="0"/>
          </a:p>
        </p:txBody>
      </p:sp>
      <p:pic>
        <p:nvPicPr>
          <p:cNvPr id="9" name="圖片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3608" y="3422491"/>
            <a:ext cx="3059563" cy="2791163"/>
          </a:xfrm>
          <a:prstGeom prst="rect">
            <a:avLst/>
          </a:prstGeom>
        </p:spPr>
      </p:pic>
      <p:pic>
        <p:nvPicPr>
          <p:cNvPr id="10" name="圖片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94480" y="4437112"/>
            <a:ext cx="2636581" cy="2376264"/>
          </a:xfrm>
          <a:prstGeom prst="rect">
            <a:avLst/>
          </a:prstGeom>
        </p:spPr>
      </p:pic>
      <p:sp>
        <p:nvSpPr>
          <p:cNvPr id="2" name="矩形 1"/>
          <p:cNvSpPr/>
          <p:nvPr/>
        </p:nvSpPr>
        <p:spPr>
          <a:xfrm>
            <a:off x="866722" y="5416792"/>
            <a:ext cx="2087832" cy="1357784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3200" dirty="0">
                <a:latin typeface="+mn-ea"/>
              </a:rPr>
              <a:t>歐</a:t>
            </a:r>
            <a:r>
              <a:rPr lang="zh-TW" altLang="zh-TW" sz="3200" dirty="0" smtClean="0">
                <a:latin typeface="+mn-ea"/>
              </a:rPr>
              <a:t>幾</a:t>
            </a:r>
            <a:r>
              <a:rPr lang="zh-TW" altLang="zh-TW" sz="3200" dirty="0">
                <a:latin typeface="+mn-ea"/>
              </a:rPr>
              <a:t>里</a:t>
            </a:r>
            <a:r>
              <a:rPr lang="zh-TW" altLang="zh-TW" sz="3200" dirty="0" smtClean="0">
                <a:latin typeface="+mn-ea"/>
              </a:rPr>
              <a:t>得</a:t>
            </a:r>
            <a:endParaRPr lang="en-US" altLang="zh-TW" sz="3200" dirty="0" smtClean="0">
              <a:latin typeface="+mn-ea"/>
            </a:endParaRPr>
          </a:p>
          <a:p>
            <a:pPr algn="ctr"/>
            <a:r>
              <a:rPr lang="zh-TW" altLang="zh-TW" sz="3200" dirty="0" smtClean="0">
                <a:latin typeface="+mn-ea"/>
              </a:rPr>
              <a:t>距離</a:t>
            </a:r>
            <a:endParaRPr lang="zh-TW" altLang="zh-TW" sz="3200" dirty="0">
              <a:latin typeface="+mn-ea"/>
            </a:endParaRPr>
          </a:p>
        </p:txBody>
      </p:sp>
      <p:pic>
        <p:nvPicPr>
          <p:cNvPr id="12" name="Picture 2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469" t="47742" r="64969" b="37152"/>
          <a:stretch/>
        </p:blipFill>
        <p:spPr bwMode="auto">
          <a:xfrm>
            <a:off x="6531782" y="2554428"/>
            <a:ext cx="2520000" cy="1375373"/>
          </a:xfrm>
          <a:prstGeom prst="rect">
            <a:avLst/>
          </a:prstGeom>
          <a:noFill/>
          <a:ln w="34925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3" name="矩形 2"/>
          <p:cNvSpPr/>
          <p:nvPr/>
        </p:nvSpPr>
        <p:spPr>
          <a:xfrm>
            <a:off x="2843808" y="1367036"/>
            <a:ext cx="2520280" cy="333772"/>
          </a:xfrm>
          <a:prstGeom prst="rect">
            <a:avLst/>
          </a:prstGeom>
          <a:noFill/>
          <a:ln w="34925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7" name="圖片 6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9832" y="5384147"/>
            <a:ext cx="5950345" cy="1390429"/>
          </a:xfrm>
          <a:prstGeom prst="rect">
            <a:avLst/>
          </a:prstGeom>
          <a:ln w="34925">
            <a:solidFill>
              <a:srgbClr val="FF0000"/>
            </a:solidFill>
          </a:ln>
        </p:spPr>
      </p:pic>
      <p:pic>
        <p:nvPicPr>
          <p:cNvPr id="13" name="Picture 2"/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93" t="38246" r="65986" b="32787"/>
          <a:stretch/>
        </p:blipFill>
        <p:spPr bwMode="auto">
          <a:xfrm>
            <a:off x="-24968" y="920376"/>
            <a:ext cx="2171678" cy="21125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04085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13</a:t>
            </a:fld>
            <a:endParaRPr lang="en-US" altLang="zh-TW"/>
          </a:p>
        </p:txBody>
      </p:sp>
      <p:pic>
        <p:nvPicPr>
          <p:cNvPr id="1126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603" t="35446" r="66157" b="36031"/>
          <a:stretch/>
        </p:blipFill>
        <p:spPr bwMode="auto">
          <a:xfrm>
            <a:off x="5868144" y="873120"/>
            <a:ext cx="2160000" cy="2650953"/>
          </a:xfrm>
          <a:prstGeom prst="rect">
            <a:avLst/>
          </a:prstGeom>
          <a:noFill/>
          <a:ln w="381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5" name="矩形 4"/>
          <p:cNvSpPr/>
          <p:nvPr/>
        </p:nvSpPr>
        <p:spPr>
          <a:xfrm>
            <a:off x="3690970" y="1"/>
            <a:ext cx="4968552" cy="812994"/>
          </a:xfrm>
          <a:prstGeom prst="rect">
            <a:avLst/>
          </a:prstGeom>
          <a:solidFill>
            <a:srgbClr val="66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dirty="0"/>
              <a:t>步驟</a:t>
            </a:r>
            <a:r>
              <a:rPr lang="en-US" altLang="zh-TW" dirty="0" smtClean="0"/>
              <a:t>4.</a:t>
            </a:r>
          </a:p>
          <a:p>
            <a:r>
              <a:rPr lang="zh-TW" altLang="en-US" dirty="0" smtClean="0"/>
              <a:t>依據</a:t>
            </a:r>
            <a:r>
              <a:rPr lang="en-US" altLang="zh-TW" dirty="0"/>
              <a:t>-</a:t>
            </a:r>
            <a:r>
              <a:rPr lang="zh-TW" altLang="en-US" dirty="0" smtClean="0"/>
              <a:t>各樣本對各聚類中心的距離，以最短為原則，</a:t>
            </a:r>
            <a:r>
              <a:rPr lang="zh-TW" altLang="en-US" dirty="0" smtClean="0">
                <a:solidFill>
                  <a:srgbClr val="0000FF"/>
                </a:solidFill>
              </a:rPr>
              <a:t>將各樣本重新歸屬</a:t>
            </a:r>
            <a:r>
              <a:rPr lang="zh-TW" altLang="en-US" dirty="0">
                <a:solidFill>
                  <a:srgbClr val="0000FF"/>
                </a:solidFill>
              </a:rPr>
              <a:t>到</a:t>
            </a:r>
            <a:r>
              <a:rPr lang="zh-TW" altLang="en-US" dirty="0" smtClean="0">
                <a:solidFill>
                  <a:srgbClr val="0000FF"/>
                </a:solidFill>
              </a:rPr>
              <a:t>各聚類</a:t>
            </a:r>
            <a:r>
              <a:rPr lang="zh-TW" altLang="en-US" dirty="0" smtClean="0"/>
              <a:t>如下左表</a:t>
            </a:r>
            <a:r>
              <a:rPr lang="en-US" altLang="zh-TW" dirty="0" smtClean="0"/>
              <a:t>:</a:t>
            </a:r>
            <a:endParaRPr lang="zh-TW" altLang="en-US" dirty="0"/>
          </a:p>
        </p:txBody>
      </p:sp>
      <p:pic>
        <p:nvPicPr>
          <p:cNvPr id="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256" t="29672" r="59942" b="41182"/>
          <a:stretch/>
        </p:blipFill>
        <p:spPr bwMode="auto">
          <a:xfrm>
            <a:off x="1547664" y="873120"/>
            <a:ext cx="3326525" cy="2676809"/>
          </a:xfrm>
          <a:prstGeom prst="rect">
            <a:avLst/>
          </a:prstGeom>
          <a:noFill/>
          <a:ln w="34925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2" name="爆炸 1 1"/>
          <p:cNvSpPr/>
          <p:nvPr/>
        </p:nvSpPr>
        <p:spPr>
          <a:xfrm>
            <a:off x="5148064" y="3789040"/>
            <a:ext cx="3816424" cy="2808312"/>
          </a:xfrm>
          <a:prstGeom prst="irregularSeal1">
            <a:avLst/>
          </a:prstGeom>
          <a:ln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>
                <a:solidFill>
                  <a:srgbClr val="FF0000"/>
                </a:solidFill>
                <a:latin typeface="+mn-ea"/>
              </a:rPr>
              <a:t>產生新的聚類</a:t>
            </a:r>
            <a:r>
              <a:rPr lang="en-US" altLang="zh-TW" dirty="0" smtClean="0">
                <a:solidFill>
                  <a:srgbClr val="FF0000"/>
                </a:solidFill>
                <a:latin typeface="+mn-ea"/>
              </a:rPr>
              <a:t>(</a:t>
            </a:r>
            <a:r>
              <a:rPr lang="zh-TW" altLang="en-US" dirty="0" smtClean="0">
                <a:solidFill>
                  <a:srgbClr val="FF0000"/>
                </a:solidFill>
                <a:latin typeface="+mn-ea"/>
              </a:rPr>
              <a:t>形心</a:t>
            </a:r>
            <a:r>
              <a:rPr lang="en-US" altLang="zh-TW" dirty="0" smtClean="0">
                <a:solidFill>
                  <a:srgbClr val="FF0000"/>
                </a:solidFill>
                <a:latin typeface="+mn-ea"/>
              </a:rPr>
              <a:t>)</a:t>
            </a:r>
            <a:r>
              <a:rPr lang="zh-TW" altLang="en-US" dirty="0" smtClean="0">
                <a:solidFill>
                  <a:srgbClr val="FF0000"/>
                </a:solidFill>
                <a:latin typeface="+mn-ea"/>
              </a:rPr>
              <a:t>與原來的不同</a:t>
            </a:r>
            <a:r>
              <a:rPr lang="en-US" altLang="zh-TW" dirty="0" smtClean="0">
                <a:solidFill>
                  <a:srgbClr val="FF0000"/>
                </a:solidFill>
                <a:latin typeface="+mn-ea"/>
              </a:rPr>
              <a:t>-Resume</a:t>
            </a:r>
            <a:endParaRPr lang="zh-TW" altLang="en-US" dirty="0">
              <a:solidFill>
                <a:srgbClr val="FF0000"/>
              </a:solidFill>
              <a:latin typeface="+mn-ea"/>
            </a:endParaRPr>
          </a:p>
        </p:txBody>
      </p:sp>
      <p:pic>
        <p:nvPicPr>
          <p:cNvPr id="8" name="Picture 3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72" t="38685" r="28311" b="19140"/>
          <a:stretch/>
        </p:blipFill>
        <p:spPr bwMode="auto">
          <a:xfrm>
            <a:off x="1547664" y="3680157"/>
            <a:ext cx="3269474" cy="3098956"/>
          </a:xfrm>
          <a:prstGeom prst="rect">
            <a:avLst/>
          </a:prstGeom>
          <a:noFill/>
          <a:ln w="127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3" name="向右箭號 2"/>
          <p:cNvSpPr/>
          <p:nvPr/>
        </p:nvSpPr>
        <p:spPr>
          <a:xfrm>
            <a:off x="5148064" y="2060848"/>
            <a:ext cx="504056" cy="3600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9" name="向右箭號 8"/>
          <p:cNvSpPr/>
          <p:nvPr/>
        </p:nvSpPr>
        <p:spPr>
          <a:xfrm>
            <a:off x="827584" y="5193196"/>
            <a:ext cx="576064" cy="396044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37447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12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2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12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3500"/>
                            </p:stCondLst>
                            <p:childTnLst>
                              <p:par>
                                <p:cTn id="23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3" grpId="0" animBg="1"/>
      <p:bldP spid="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14</a:t>
            </a:fld>
            <a:endParaRPr lang="en-US" altLang="zh-TW"/>
          </a:p>
        </p:txBody>
      </p:sp>
      <p:pic>
        <p:nvPicPr>
          <p:cNvPr id="12291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72" t="38685" r="28311" b="19140"/>
          <a:stretch/>
        </p:blipFill>
        <p:spPr bwMode="auto">
          <a:xfrm>
            <a:off x="5436096" y="926088"/>
            <a:ext cx="3600000" cy="3412244"/>
          </a:xfrm>
          <a:prstGeom prst="rect">
            <a:avLst/>
          </a:prstGeom>
          <a:noFill/>
          <a:ln w="9525">
            <a:solidFill>
              <a:srgbClr val="C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5" name="矩形 4"/>
          <p:cNvSpPr/>
          <p:nvPr/>
        </p:nvSpPr>
        <p:spPr>
          <a:xfrm>
            <a:off x="3563888" y="119165"/>
            <a:ext cx="5040560" cy="678929"/>
          </a:xfrm>
          <a:prstGeom prst="rect">
            <a:avLst/>
          </a:prstGeom>
          <a:solidFill>
            <a:srgbClr val="66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dirty="0"/>
              <a:t>步驟</a:t>
            </a:r>
            <a:r>
              <a:rPr lang="en-US" altLang="zh-TW" dirty="0" smtClean="0"/>
              <a:t>5</a:t>
            </a:r>
            <a:r>
              <a:rPr lang="en-US" altLang="zh-TW" dirty="0" smtClean="0">
                <a:solidFill>
                  <a:schemeClr val="bg1"/>
                </a:solidFill>
              </a:rPr>
              <a:t>.</a:t>
            </a:r>
          </a:p>
          <a:p>
            <a:r>
              <a:rPr lang="en-US" altLang="zh-TW" dirty="0" smtClean="0">
                <a:solidFill>
                  <a:srgbClr val="0000FF"/>
                </a:solidFill>
              </a:rPr>
              <a:t>(</a:t>
            </a:r>
            <a:r>
              <a:rPr lang="zh-TW" altLang="en-US" dirty="0" smtClean="0">
                <a:solidFill>
                  <a:srgbClr val="0000FF"/>
                </a:solidFill>
              </a:rPr>
              <a:t>重覆動作</a:t>
            </a:r>
            <a:r>
              <a:rPr lang="en-US" altLang="zh-TW" dirty="0">
                <a:solidFill>
                  <a:srgbClr val="0000FF"/>
                </a:solidFill>
              </a:rPr>
              <a:t>2</a:t>
            </a:r>
            <a:r>
              <a:rPr lang="zh-TW" altLang="en-US" dirty="0" smtClean="0">
                <a:solidFill>
                  <a:srgbClr val="0000FF"/>
                </a:solidFill>
              </a:rPr>
              <a:t>到</a:t>
            </a:r>
            <a:r>
              <a:rPr lang="en-US" altLang="zh-TW" dirty="0" smtClean="0">
                <a:solidFill>
                  <a:srgbClr val="0000FF"/>
                </a:solidFill>
              </a:rPr>
              <a:t>4)</a:t>
            </a:r>
            <a:r>
              <a:rPr lang="zh-TW" altLang="en-US" dirty="0" smtClean="0"/>
              <a:t>重新計算出各聚類</a:t>
            </a:r>
            <a:r>
              <a:rPr lang="zh-TW" altLang="en-US" dirty="0" smtClean="0">
                <a:solidFill>
                  <a:srgbClr val="FF0000"/>
                </a:solidFill>
              </a:rPr>
              <a:t>形心</a:t>
            </a:r>
            <a:r>
              <a:rPr lang="zh-TW" altLang="en-US" dirty="0" smtClean="0"/>
              <a:t>如下左表</a:t>
            </a:r>
            <a:r>
              <a:rPr lang="en-US" altLang="zh-TW" dirty="0" smtClean="0"/>
              <a:t>: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矩形 5"/>
              <p:cNvSpPr/>
              <p:nvPr/>
            </p:nvSpPr>
            <p:spPr>
              <a:xfrm>
                <a:off x="929989" y="5063522"/>
                <a:ext cx="2303836" cy="1178528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f>
                              <m:fPr>
                                <m:ctrlPr>
                                  <a:rPr lang="zh-TW" alt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TW" altLang="en-US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+2+</m:t>
                                </m:r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num>
                              <m:den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zh-TW" b="0" i="1" smtClean="0">
                                <a:latin typeface="Cambria Math" panose="02040503050406030204" pitchFamily="18" charset="0"/>
                              </a:rPr>
                              <m:t>1.66666</m:t>
                            </m:r>
                          </m:e>
                        </m:mr>
                        <m:mr>
                          <m:e>
                            <m:f>
                              <m:fPr>
                                <m:ctrlPr>
                                  <a:rPr lang="zh-TW" alt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5+</m:t>
                                </m:r>
                                <m:r>
                                  <a:rPr lang="en-US" altLang="zh-TW" b="0" i="0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zh-TW" b="0" i="1" smtClean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num>
                              <m:den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den>
                            </m:f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zh-TW" b="0" i="0" smtClean="0">
                                <a:latin typeface="Cambria Math" panose="02040503050406030204" pitchFamily="18" charset="0"/>
                              </a:rPr>
                              <m:t>4.3333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mr>
                      </m:m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6" name="矩形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9989" y="5063522"/>
                <a:ext cx="2303836" cy="117852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矩形 6"/>
              <p:cNvSpPr/>
              <p:nvPr/>
            </p:nvSpPr>
            <p:spPr>
              <a:xfrm>
                <a:off x="3563888" y="4997662"/>
                <a:ext cx="1691030" cy="1174937"/>
              </a:xfrm>
              <a:prstGeom prst="rect">
                <a:avLst/>
              </a:prstGeom>
              <a:solidFill>
                <a:schemeClr val="bg2">
                  <a:lumMod val="20000"/>
                  <a:lumOff val="80000"/>
                </a:schemeClr>
              </a:solidFill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zh-TW" alt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f>
                              <m:fPr>
                                <m:ctrlPr>
                                  <a:rPr lang="zh-TW" altLang="en-US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b="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  <m:r>
                                  <a:rPr lang="zh-TW" altLang="en-US" i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zh-TW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num>
                              <m:den>
                                <m:r>
                                  <a:rPr lang="zh-TW" altLang="en-US" i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zh-TW" altLang="en-US" i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zh-TW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  <m:r>
                              <a:rPr lang="zh-TW" altLang="en-US" i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.5</m:t>
                            </m:r>
                          </m:e>
                        </m:mr>
                        <m:mr>
                          <m:e>
                            <m:f>
                              <m:fPr>
                                <m:ctrlPr>
                                  <a:rPr lang="zh-TW" altLang="en-US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en-US" altLang="zh-TW" b="0" i="0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zh-TW" altLang="en-US" i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zh-TW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num>
                              <m:den>
                                <m:r>
                                  <a:rPr lang="zh-TW" altLang="en-US" i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den>
                            </m:f>
                            <m:r>
                              <a:rPr lang="zh-TW" altLang="en-US" i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zh-TW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zh-TW" altLang="en-US" i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.5</m:t>
                            </m:r>
                          </m:e>
                        </m:mr>
                      </m:m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7" name="矩形 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63888" y="4997662"/>
                <a:ext cx="1691030" cy="117493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2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93" t="38246" r="65986" b="32787"/>
          <a:stretch/>
        </p:blipFill>
        <p:spPr bwMode="auto">
          <a:xfrm>
            <a:off x="742065" y="961679"/>
            <a:ext cx="2171678" cy="25224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2"/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603" t="35446" r="66157" b="36031"/>
          <a:stretch/>
        </p:blipFill>
        <p:spPr bwMode="auto">
          <a:xfrm>
            <a:off x="3094919" y="954574"/>
            <a:ext cx="2160000" cy="2650953"/>
          </a:xfrm>
          <a:prstGeom prst="rect">
            <a:avLst/>
          </a:prstGeom>
          <a:noFill/>
          <a:ln w="38100">
            <a:solidFill>
              <a:srgbClr val="0000FF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</p:pic>
      <p:sp>
        <p:nvSpPr>
          <p:cNvPr id="10" name="矩形 9"/>
          <p:cNvSpPr/>
          <p:nvPr/>
        </p:nvSpPr>
        <p:spPr>
          <a:xfrm>
            <a:off x="929989" y="4702273"/>
            <a:ext cx="2303836" cy="361249"/>
          </a:xfrm>
          <a:prstGeom prst="rect">
            <a:avLst/>
          </a:prstGeom>
          <a:solidFill>
            <a:srgbClr val="C00000"/>
          </a:solidFill>
          <a:ln w="3492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/>
              <a:t>第</a:t>
            </a:r>
            <a:r>
              <a:rPr lang="zh-TW" altLang="en-US" dirty="0"/>
              <a:t>二</a:t>
            </a:r>
            <a:r>
              <a:rPr lang="zh-TW" altLang="en-US" dirty="0" smtClean="0"/>
              <a:t>次</a:t>
            </a:r>
            <a:r>
              <a:rPr lang="zh-TW" altLang="en-US" dirty="0"/>
              <a:t>的</a:t>
            </a:r>
            <a:r>
              <a:rPr lang="zh-TW" altLang="en-US" dirty="0" smtClean="0"/>
              <a:t>形心</a:t>
            </a:r>
            <a:r>
              <a:rPr lang="en-US" altLang="zh-TW" dirty="0" smtClean="0"/>
              <a:t>1</a:t>
            </a:r>
            <a:endParaRPr lang="zh-TW" altLang="en-US" dirty="0"/>
          </a:p>
        </p:txBody>
      </p:sp>
      <p:sp>
        <p:nvSpPr>
          <p:cNvPr id="11" name="矩形 10"/>
          <p:cNvSpPr/>
          <p:nvPr/>
        </p:nvSpPr>
        <p:spPr>
          <a:xfrm>
            <a:off x="3563887" y="4702273"/>
            <a:ext cx="1691031" cy="295389"/>
          </a:xfrm>
          <a:prstGeom prst="rect">
            <a:avLst/>
          </a:prstGeom>
          <a:solidFill>
            <a:schemeClr val="accent2"/>
          </a:solidFill>
          <a:ln w="34925">
            <a:solidFill>
              <a:srgbClr val="FF6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>
                <a:latin typeface="+mn-ea"/>
              </a:rPr>
              <a:t>第二次</a:t>
            </a:r>
            <a:r>
              <a:rPr lang="zh-TW" altLang="en-US" dirty="0">
                <a:latin typeface="+mn-ea"/>
              </a:rPr>
              <a:t>的形</a:t>
            </a:r>
            <a:r>
              <a:rPr lang="zh-TW" altLang="en-US" dirty="0" smtClean="0">
                <a:latin typeface="+mn-ea"/>
              </a:rPr>
              <a:t>心</a:t>
            </a:r>
            <a:r>
              <a:rPr lang="en-US" altLang="zh-TW" dirty="0" smtClean="0">
                <a:latin typeface="+mn-ea"/>
              </a:rPr>
              <a:t>2</a:t>
            </a:r>
            <a:endParaRPr lang="zh-TW" altLang="en-US" dirty="0">
              <a:latin typeface="+mn-ea"/>
            </a:endParaRPr>
          </a:p>
        </p:txBody>
      </p:sp>
      <p:grpSp>
        <p:nvGrpSpPr>
          <p:cNvPr id="2" name="群組 1"/>
          <p:cNvGrpSpPr/>
          <p:nvPr/>
        </p:nvGrpSpPr>
        <p:grpSpPr>
          <a:xfrm>
            <a:off x="5976096" y="4632678"/>
            <a:ext cx="2520000" cy="2162194"/>
            <a:chOff x="5976096" y="4632678"/>
            <a:chExt cx="2520000" cy="2162194"/>
          </a:xfrm>
        </p:grpSpPr>
        <p:pic>
          <p:nvPicPr>
            <p:cNvPr id="12290" name="Picture 2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387" t="50000" r="64982" b="30172"/>
            <a:stretch/>
          </p:blipFill>
          <p:spPr bwMode="auto">
            <a:xfrm>
              <a:off x="5976096" y="4997662"/>
              <a:ext cx="2520000" cy="17972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2" name="矩形 11"/>
            <p:cNvSpPr/>
            <p:nvPr/>
          </p:nvSpPr>
          <p:spPr>
            <a:xfrm>
              <a:off x="5976096" y="4632678"/>
              <a:ext cx="2520000" cy="364984"/>
            </a:xfrm>
            <a:prstGeom prst="rect">
              <a:avLst/>
            </a:prstGeom>
            <a:solidFill>
              <a:srgbClr val="0000FF"/>
            </a:solidFill>
            <a:ln w="3492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 smtClean="0"/>
                <a:t>第</a:t>
              </a:r>
              <a:r>
                <a:rPr lang="zh-TW" altLang="en-US" dirty="0"/>
                <a:t>二</a:t>
              </a:r>
              <a:r>
                <a:rPr lang="zh-TW" altLang="en-US" dirty="0" smtClean="0"/>
                <a:t>次形心 </a:t>
              </a:r>
              <a:r>
                <a:rPr lang="en-US" altLang="zh-TW" dirty="0" smtClean="0"/>
                <a:t>- </a:t>
              </a:r>
              <a:r>
                <a:rPr lang="zh-TW" altLang="en-US" dirty="0" smtClean="0"/>
                <a:t>座標</a:t>
              </a:r>
              <a:endParaRPr lang="zh-TW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7648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15</a:t>
            </a:fld>
            <a:endParaRPr lang="en-US" altLang="zh-TW"/>
          </a:p>
        </p:txBody>
      </p:sp>
      <p:pic>
        <p:nvPicPr>
          <p:cNvPr id="13314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37" t="33250" r="61798" b="38180"/>
          <a:stretch/>
        </p:blipFill>
        <p:spPr bwMode="auto">
          <a:xfrm>
            <a:off x="1763688" y="4580943"/>
            <a:ext cx="2857915" cy="20898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315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486" t="26616" r="28311" b="32004"/>
          <a:stretch/>
        </p:blipFill>
        <p:spPr bwMode="auto">
          <a:xfrm>
            <a:off x="5556197" y="836712"/>
            <a:ext cx="3600000" cy="33230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矩形 4"/>
          <p:cNvSpPr/>
          <p:nvPr/>
        </p:nvSpPr>
        <p:spPr>
          <a:xfrm>
            <a:off x="2988604" y="86033"/>
            <a:ext cx="5904656" cy="678929"/>
          </a:xfrm>
          <a:prstGeom prst="rect">
            <a:avLst/>
          </a:prstGeom>
          <a:solidFill>
            <a:srgbClr val="66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dirty="0"/>
              <a:t>步驟</a:t>
            </a:r>
            <a:r>
              <a:rPr lang="en-US" altLang="zh-TW" dirty="0" smtClean="0"/>
              <a:t>6</a:t>
            </a:r>
            <a:r>
              <a:rPr lang="en-US" altLang="zh-TW" dirty="0" smtClean="0"/>
              <a:t>.</a:t>
            </a:r>
            <a:r>
              <a:rPr lang="en-US" altLang="zh-TW" dirty="0" smtClean="0">
                <a:solidFill>
                  <a:srgbClr val="0000FF"/>
                </a:solidFill>
              </a:rPr>
              <a:t> </a:t>
            </a:r>
            <a:endParaRPr lang="en-US" altLang="zh-TW" dirty="0" smtClean="0">
              <a:solidFill>
                <a:srgbClr val="0000FF"/>
              </a:solidFill>
            </a:endParaRPr>
          </a:p>
          <a:p>
            <a:r>
              <a:rPr lang="en-US" altLang="zh-TW" dirty="0" smtClean="0">
                <a:solidFill>
                  <a:srgbClr val="0000FF"/>
                </a:solidFill>
              </a:rPr>
              <a:t>(</a:t>
            </a:r>
            <a:r>
              <a:rPr lang="zh-TW" altLang="en-US" dirty="0">
                <a:solidFill>
                  <a:srgbClr val="0000FF"/>
                </a:solidFill>
              </a:rPr>
              <a:t>重覆</a:t>
            </a:r>
            <a:r>
              <a:rPr lang="zh-TW" altLang="en-US" dirty="0" smtClean="0">
                <a:solidFill>
                  <a:srgbClr val="0000FF"/>
                </a:solidFill>
              </a:rPr>
              <a:t>動作</a:t>
            </a:r>
            <a:r>
              <a:rPr lang="en-US" altLang="zh-TW" dirty="0" smtClean="0">
                <a:solidFill>
                  <a:srgbClr val="0000FF"/>
                </a:solidFill>
              </a:rPr>
              <a:t>3)</a:t>
            </a:r>
            <a:r>
              <a:rPr lang="zh-TW" altLang="en-US" dirty="0" smtClean="0"/>
              <a:t>計算各樣本到各聚類</a:t>
            </a:r>
            <a:r>
              <a:rPr lang="zh-TW" altLang="en-US" dirty="0" smtClean="0">
                <a:solidFill>
                  <a:schemeClr val="bg1"/>
                </a:solidFill>
              </a:rPr>
              <a:t>形心</a:t>
            </a:r>
            <a:r>
              <a:rPr lang="zh-TW" altLang="en-US" dirty="0">
                <a:solidFill>
                  <a:srgbClr val="FF0000"/>
                </a:solidFill>
              </a:rPr>
              <a:t>的距離</a:t>
            </a:r>
            <a:r>
              <a:rPr lang="zh-TW" altLang="en-US" dirty="0" smtClean="0"/>
              <a:t>如下左表</a:t>
            </a:r>
            <a:r>
              <a:rPr lang="en-US" altLang="zh-TW" dirty="0" smtClean="0"/>
              <a:t>:</a:t>
            </a:r>
            <a:endParaRPr lang="zh-TW" altLang="en-US" dirty="0"/>
          </a:p>
        </p:txBody>
      </p:sp>
      <p:pic>
        <p:nvPicPr>
          <p:cNvPr id="7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93" t="38246" r="65986" b="32787"/>
          <a:stretch/>
        </p:blipFill>
        <p:spPr bwMode="auto">
          <a:xfrm>
            <a:off x="923017" y="980728"/>
            <a:ext cx="2171678" cy="25224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8" name="群組 7"/>
          <p:cNvGrpSpPr/>
          <p:nvPr/>
        </p:nvGrpSpPr>
        <p:grpSpPr>
          <a:xfrm>
            <a:off x="3115217" y="1052736"/>
            <a:ext cx="2537665" cy="2183169"/>
            <a:chOff x="5976096" y="4611703"/>
            <a:chExt cx="2537665" cy="2183169"/>
          </a:xfrm>
        </p:grpSpPr>
        <p:pic>
          <p:nvPicPr>
            <p:cNvPr id="9" name="Picture 2"/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9387" t="50000" r="64982" b="30172"/>
            <a:stretch/>
          </p:blipFill>
          <p:spPr bwMode="auto">
            <a:xfrm>
              <a:off x="5976096" y="4997662"/>
              <a:ext cx="2520000" cy="17972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10" name="矩形 9"/>
            <p:cNvSpPr/>
            <p:nvPr/>
          </p:nvSpPr>
          <p:spPr>
            <a:xfrm>
              <a:off x="5993761" y="4611703"/>
              <a:ext cx="2520000" cy="364984"/>
            </a:xfrm>
            <a:prstGeom prst="rect">
              <a:avLst/>
            </a:prstGeom>
            <a:solidFill>
              <a:srgbClr val="0000FF"/>
            </a:solidFill>
            <a:ln w="3492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 smtClean="0"/>
                <a:t>第</a:t>
              </a:r>
              <a:r>
                <a:rPr lang="zh-TW" altLang="en-US" dirty="0"/>
                <a:t>二</a:t>
              </a:r>
              <a:r>
                <a:rPr lang="zh-TW" altLang="en-US" dirty="0" smtClean="0"/>
                <a:t>次形心 </a:t>
              </a:r>
              <a:r>
                <a:rPr lang="en-US" altLang="zh-TW" dirty="0" smtClean="0"/>
                <a:t>- </a:t>
              </a:r>
              <a:r>
                <a:rPr lang="zh-TW" altLang="en-US" dirty="0" smtClean="0"/>
                <a:t>座標</a:t>
              </a:r>
              <a:endParaRPr lang="zh-TW" altLang="en-US" dirty="0"/>
            </a:p>
          </p:txBody>
        </p:sp>
      </p:grpSp>
      <p:sp>
        <p:nvSpPr>
          <p:cNvPr id="2" name="向右箭號 1"/>
          <p:cNvSpPr/>
          <p:nvPr/>
        </p:nvSpPr>
        <p:spPr>
          <a:xfrm>
            <a:off x="935442" y="5445865"/>
            <a:ext cx="564318" cy="3600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向右箭號 12"/>
          <p:cNvSpPr/>
          <p:nvPr/>
        </p:nvSpPr>
        <p:spPr>
          <a:xfrm>
            <a:off x="5431619" y="5445865"/>
            <a:ext cx="564318" cy="36004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6" name="群組 5"/>
          <p:cNvGrpSpPr/>
          <p:nvPr/>
        </p:nvGrpSpPr>
        <p:grpSpPr>
          <a:xfrm>
            <a:off x="6276197" y="4588297"/>
            <a:ext cx="2160000" cy="2089884"/>
            <a:chOff x="6276197" y="4588297"/>
            <a:chExt cx="2160000" cy="2089884"/>
          </a:xfrm>
        </p:grpSpPr>
        <p:pic>
          <p:nvPicPr>
            <p:cNvPr id="12" name="Picture 2"/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57" t="38146" r="66072" b="32974"/>
            <a:stretch/>
          </p:blipFill>
          <p:spPr bwMode="auto">
            <a:xfrm>
              <a:off x="6276197" y="4588297"/>
              <a:ext cx="2160000" cy="2089884"/>
            </a:xfrm>
            <a:prstGeom prst="rect">
              <a:avLst/>
            </a:prstGeom>
            <a:noFill/>
            <a:ln w="25400">
              <a:solidFill>
                <a:srgbClr val="C00000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</p:pic>
        <p:sp>
          <p:nvSpPr>
            <p:cNvPr id="3" name="矩形 2"/>
            <p:cNvSpPr/>
            <p:nvPr/>
          </p:nvSpPr>
          <p:spPr>
            <a:xfrm>
              <a:off x="7356197" y="4653135"/>
              <a:ext cx="244987" cy="330787"/>
            </a:xfrm>
            <a:prstGeom prst="rect">
              <a:avLst/>
            </a:prstGeom>
            <a:solidFill>
              <a:srgbClr val="0000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/>
                <a:t>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557322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16</a:t>
            </a:fld>
            <a:endParaRPr lang="en-US" altLang="zh-TW"/>
          </a:p>
        </p:txBody>
      </p:sp>
      <p:pic>
        <p:nvPicPr>
          <p:cNvPr id="14339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971" t="32004" r="28553" b="26185"/>
          <a:stretch/>
        </p:blipFill>
        <p:spPr bwMode="auto">
          <a:xfrm>
            <a:off x="4716016" y="1628800"/>
            <a:ext cx="3600000" cy="34574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AutoShape 35">
            <a:hlinkClick r:id="rId3" action="ppaction://hlinksldjump" highlightClick="1"/>
          </p:cNvPr>
          <p:cNvSpPr>
            <a:spLocks noChangeArrowheads="1"/>
          </p:cNvSpPr>
          <p:nvPr/>
        </p:nvSpPr>
        <p:spPr bwMode="auto">
          <a:xfrm>
            <a:off x="8642350" y="6322786"/>
            <a:ext cx="501650" cy="431800"/>
          </a:xfrm>
          <a:prstGeom prst="actionButtonHome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TW" altLang="en-US" sz="1800">
              <a:ea typeface="新細明體" pitchFamily="18" charset="-120"/>
            </a:endParaRPr>
          </a:p>
        </p:txBody>
      </p:sp>
      <p:sp>
        <p:nvSpPr>
          <p:cNvPr id="6" name="矩形 5"/>
          <p:cNvSpPr/>
          <p:nvPr/>
        </p:nvSpPr>
        <p:spPr>
          <a:xfrm>
            <a:off x="3416488" y="116632"/>
            <a:ext cx="5472608" cy="1368152"/>
          </a:xfrm>
          <a:prstGeom prst="rect">
            <a:avLst/>
          </a:prstGeom>
          <a:solidFill>
            <a:srgbClr val="66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2000" dirty="0"/>
              <a:t>步驟</a:t>
            </a:r>
            <a:r>
              <a:rPr lang="en-US" altLang="zh-TW" sz="2000" dirty="0" smtClean="0"/>
              <a:t>7</a:t>
            </a:r>
            <a:r>
              <a:rPr lang="en-US" altLang="zh-TW" sz="2000" dirty="0" smtClean="0"/>
              <a:t>.</a:t>
            </a:r>
            <a:r>
              <a:rPr lang="en-US" altLang="zh-TW" sz="2000" dirty="0" smtClean="0">
                <a:solidFill>
                  <a:srgbClr val="0000FF"/>
                </a:solidFill>
              </a:rPr>
              <a:t> </a:t>
            </a:r>
            <a:endParaRPr lang="en-US" altLang="zh-TW" sz="2000" dirty="0" smtClean="0">
              <a:solidFill>
                <a:srgbClr val="0000FF"/>
              </a:solidFill>
            </a:endParaRPr>
          </a:p>
          <a:p>
            <a:r>
              <a:rPr lang="en-US" altLang="zh-TW" sz="2000" dirty="0" smtClean="0">
                <a:solidFill>
                  <a:srgbClr val="0000FF"/>
                </a:solidFill>
              </a:rPr>
              <a:t>(</a:t>
            </a:r>
            <a:r>
              <a:rPr lang="zh-TW" altLang="en-US" sz="2000" dirty="0">
                <a:solidFill>
                  <a:srgbClr val="0000FF"/>
                </a:solidFill>
              </a:rPr>
              <a:t>重覆</a:t>
            </a:r>
            <a:r>
              <a:rPr lang="zh-TW" altLang="en-US" sz="2000" dirty="0" smtClean="0">
                <a:solidFill>
                  <a:srgbClr val="0000FF"/>
                </a:solidFill>
              </a:rPr>
              <a:t>動作</a:t>
            </a:r>
            <a:r>
              <a:rPr lang="en-US" altLang="zh-TW" sz="2000" dirty="0" smtClean="0">
                <a:solidFill>
                  <a:srgbClr val="0000FF"/>
                </a:solidFill>
              </a:rPr>
              <a:t>4)</a:t>
            </a:r>
            <a:r>
              <a:rPr lang="zh-TW" altLang="en-US" sz="2000" dirty="0" smtClean="0"/>
              <a:t>依據</a:t>
            </a:r>
            <a:r>
              <a:rPr lang="en-US" altLang="zh-TW" sz="2000" dirty="0"/>
              <a:t>-</a:t>
            </a:r>
            <a:r>
              <a:rPr lang="zh-TW" altLang="en-US" sz="2000" dirty="0"/>
              <a:t>各樣本對各聚類中心的距離，</a:t>
            </a:r>
            <a:r>
              <a:rPr lang="zh-TW" altLang="en-US" sz="2000" dirty="0">
                <a:solidFill>
                  <a:schemeClr val="bg1"/>
                </a:solidFill>
              </a:rPr>
              <a:t>以最短為原則</a:t>
            </a:r>
            <a:r>
              <a:rPr lang="zh-TW" altLang="en-US" sz="2000" dirty="0"/>
              <a:t>，將各樣本</a:t>
            </a:r>
            <a:r>
              <a:rPr lang="zh-TW" altLang="en-US" sz="2000" dirty="0">
                <a:solidFill>
                  <a:srgbClr val="FF0000"/>
                </a:solidFill>
              </a:rPr>
              <a:t>重新歸屬</a:t>
            </a:r>
            <a:r>
              <a:rPr lang="zh-TW" altLang="en-US" sz="2000" dirty="0"/>
              <a:t>到各聚類如下左表</a:t>
            </a:r>
            <a:r>
              <a:rPr lang="en-US" altLang="zh-TW" sz="2000" dirty="0"/>
              <a:t>:</a:t>
            </a:r>
            <a:endParaRPr lang="zh-TW" altLang="en-US" sz="2000" dirty="0"/>
          </a:p>
        </p:txBody>
      </p:sp>
      <p:sp>
        <p:nvSpPr>
          <p:cNvPr id="8" name="矩形 7"/>
          <p:cNvSpPr/>
          <p:nvPr/>
        </p:nvSpPr>
        <p:spPr>
          <a:xfrm>
            <a:off x="1043608" y="5319267"/>
            <a:ext cx="7598742" cy="1411733"/>
          </a:xfrm>
          <a:prstGeom prst="rect">
            <a:avLst/>
          </a:prstGeom>
          <a:solidFill>
            <a:srgbClr val="6699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zh-TW" altLang="en-US" sz="2400" dirty="0"/>
              <a:t>步驟</a:t>
            </a:r>
            <a:r>
              <a:rPr lang="en-US" altLang="zh-TW" sz="2400" dirty="0" smtClean="0"/>
              <a:t>8</a:t>
            </a:r>
            <a:r>
              <a:rPr lang="en-US" altLang="zh-TW" sz="2400" dirty="0" smtClean="0"/>
              <a:t>.</a:t>
            </a:r>
            <a:r>
              <a:rPr lang="en-US" altLang="zh-TW" sz="2400" dirty="0" smtClean="0">
                <a:solidFill>
                  <a:srgbClr val="0000FF"/>
                </a:solidFill>
              </a:rPr>
              <a:t> </a:t>
            </a:r>
            <a:endParaRPr lang="en-US" altLang="zh-TW" sz="2400" dirty="0" smtClean="0">
              <a:solidFill>
                <a:srgbClr val="0000FF"/>
              </a:solidFill>
            </a:endParaRPr>
          </a:p>
          <a:p>
            <a:r>
              <a:rPr lang="zh-TW" altLang="en-US" sz="2400" dirty="0" smtClean="0">
                <a:solidFill>
                  <a:schemeClr val="bg1"/>
                </a:solidFill>
              </a:rPr>
              <a:t>因為</a:t>
            </a:r>
            <a:r>
              <a:rPr lang="zh-TW" altLang="en-US" sz="2400" dirty="0" smtClean="0">
                <a:solidFill>
                  <a:schemeClr val="bg1"/>
                </a:solidFill>
              </a:rPr>
              <a:t>此次</a:t>
            </a:r>
            <a:r>
              <a:rPr lang="en-US" altLang="zh-TW" sz="2400" dirty="0" smtClean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【</a:t>
            </a:r>
            <a:r>
              <a:rPr lang="zh-TW" altLang="en-US" sz="2400" dirty="0" smtClean="0">
                <a:solidFill>
                  <a:schemeClr val="bg1"/>
                </a:solidFill>
              </a:rPr>
              <a:t>所有的樣本的聚類歸屬均與前次相同</a:t>
            </a:r>
            <a:r>
              <a:rPr lang="en-US" altLang="zh-TW" sz="2400" dirty="0" smtClean="0">
                <a:solidFill>
                  <a:schemeClr val="bg1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】</a:t>
            </a:r>
            <a:r>
              <a:rPr lang="zh-TW" altLang="en-US" sz="2400" dirty="0" smtClean="0">
                <a:solidFill>
                  <a:schemeClr val="bg1"/>
                </a:solidFill>
              </a:rPr>
              <a:t> </a:t>
            </a:r>
            <a:r>
              <a:rPr lang="en-US" altLang="zh-TW" sz="2400" dirty="0" smtClean="0">
                <a:solidFill>
                  <a:schemeClr val="bg1"/>
                </a:solidFill>
              </a:rPr>
              <a:t>(</a:t>
            </a:r>
            <a:r>
              <a:rPr lang="zh-TW" altLang="en-US" sz="2400" dirty="0" smtClean="0">
                <a:solidFill>
                  <a:schemeClr val="bg1"/>
                </a:solidFill>
              </a:rPr>
              <a:t>皆無更動</a:t>
            </a:r>
            <a:r>
              <a:rPr lang="en-US" altLang="zh-TW" sz="2400" dirty="0" smtClean="0">
                <a:solidFill>
                  <a:schemeClr val="bg1"/>
                </a:solidFill>
              </a:rPr>
              <a:t>)</a:t>
            </a:r>
            <a:r>
              <a:rPr lang="zh-TW" altLang="en-US" sz="2400" dirty="0" smtClean="0">
                <a:solidFill>
                  <a:schemeClr val="bg1"/>
                </a:solidFill>
              </a:rPr>
              <a:t>，故結束。</a:t>
            </a:r>
            <a:r>
              <a:rPr lang="zh-TW" altLang="en-US" sz="2400" dirty="0" smtClean="0">
                <a:solidFill>
                  <a:srgbClr val="0000FF"/>
                </a:solidFill>
              </a:rPr>
              <a:t>目前</a:t>
            </a:r>
            <a:r>
              <a:rPr lang="zh-TW" altLang="en-US" sz="2400" dirty="0" smtClean="0">
                <a:solidFill>
                  <a:schemeClr val="accent5">
                    <a:lumMod val="90000"/>
                  </a:schemeClr>
                </a:solidFill>
              </a:rPr>
              <a:t>各聚類形心的座標</a:t>
            </a:r>
            <a:r>
              <a:rPr lang="zh-TW" altLang="en-US" sz="2400" dirty="0" smtClean="0">
                <a:solidFill>
                  <a:srgbClr val="0000FF"/>
                </a:solidFill>
              </a:rPr>
              <a:t>即為所求的解答</a:t>
            </a:r>
            <a:endParaRPr lang="zh-TW" altLang="en-US" sz="2400" dirty="0">
              <a:solidFill>
                <a:srgbClr val="0000FF"/>
              </a:solidFill>
            </a:endParaRPr>
          </a:p>
        </p:txBody>
      </p:sp>
      <p:grpSp>
        <p:nvGrpSpPr>
          <p:cNvPr id="2" name="群組 1"/>
          <p:cNvGrpSpPr/>
          <p:nvPr/>
        </p:nvGrpSpPr>
        <p:grpSpPr>
          <a:xfrm>
            <a:off x="2195736" y="1988840"/>
            <a:ext cx="2160000" cy="2584285"/>
            <a:chOff x="2195736" y="2204864"/>
            <a:chExt cx="2160000" cy="2584285"/>
          </a:xfrm>
        </p:grpSpPr>
        <p:pic>
          <p:nvPicPr>
            <p:cNvPr id="14338" name="Picture 2"/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57" t="38146" r="66072" b="32974"/>
            <a:stretch/>
          </p:blipFill>
          <p:spPr bwMode="auto">
            <a:xfrm>
              <a:off x="2195736" y="2204864"/>
              <a:ext cx="2160000" cy="258428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9" name="矩形 8"/>
            <p:cNvSpPr/>
            <p:nvPr/>
          </p:nvSpPr>
          <p:spPr>
            <a:xfrm>
              <a:off x="3297716" y="2348880"/>
              <a:ext cx="244987" cy="330787"/>
            </a:xfrm>
            <a:prstGeom prst="rect">
              <a:avLst/>
            </a:prstGeom>
            <a:solidFill>
              <a:srgbClr val="0000FF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TW" altLang="en-US" dirty="0"/>
                <a:t>三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79029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455735" y="188913"/>
            <a:ext cx="5220721" cy="719807"/>
          </a:xfrm>
        </p:spPr>
        <p:txBody>
          <a:bodyPr/>
          <a:lstStyle/>
          <a:p>
            <a:pPr algn="ctr"/>
            <a:r>
              <a:rPr lang="zh-TW" altLang="en-US" dirty="0" smtClean="0">
                <a:solidFill>
                  <a:srgbClr val="0000FF"/>
                </a:solidFill>
              </a:rPr>
              <a:t>產出</a:t>
            </a:r>
            <a:r>
              <a:rPr lang="en-US" altLang="zh-TW" dirty="0" smtClean="0">
                <a:solidFill>
                  <a:srgbClr val="0000FF"/>
                </a:solidFill>
              </a:rPr>
              <a:t>(4</a:t>
            </a:r>
            <a:r>
              <a:rPr lang="zh-TW" altLang="en-US" dirty="0">
                <a:solidFill>
                  <a:srgbClr val="0000FF"/>
                </a:solidFill>
              </a:rPr>
              <a:t>個</a:t>
            </a:r>
            <a:r>
              <a:rPr lang="en-US" altLang="zh-TW" dirty="0" smtClean="0">
                <a:solidFill>
                  <a:srgbClr val="0000FF"/>
                </a:solidFill>
              </a:rPr>
              <a:t>Outcome)</a:t>
            </a:r>
            <a:endParaRPr lang="zh-TW" altLang="en-US" dirty="0">
              <a:solidFill>
                <a:srgbClr val="0000FF"/>
              </a:solidFill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17</a:t>
            </a:fld>
            <a:endParaRPr lang="en-US" altLang="zh-TW"/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387" t="50000" r="64982" b="30172"/>
          <a:stretch/>
        </p:blipFill>
        <p:spPr bwMode="auto">
          <a:xfrm>
            <a:off x="665496" y="1221814"/>
            <a:ext cx="2520000" cy="17972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57" t="38146" r="66072" b="32974"/>
          <a:stretch/>
        </p:blipFill>
        <p:spPr bwMode="auto">
          <a:xfrm>
            <a:off x="3243235" y="1239263"/>
            <a:ext cx="2160000" cy="25842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971" t="32004" r="28553" b="26185"/>
          <a:stretch/>
        </p:blipFill>
        <p:spPr bwMode="auto">
          <a:xfrm>
            <a:off x="5403860" y="1290311"/>
            <a:ext cx="3600000" cy="34574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矩形 7"/>
          <p:cNvSpPr/>
          <p:nvPr/>
        </p:nvSpPr>
        <p:spPr>
          <a:xfrm>
            <a:off x="665496" y="933782"/>
            <a:ext cx="2448272" cy="28803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smtClean="0"/>
              <a:t>1.</a:t>
            </a:r>
            <a:r>
              <a:rPr lang="zh-TW" altLang="en-US" dirty="0" smtClean="0"/>
              <a:t>聚類的形心座標</a:t>
            </a:r>
            <a:endParaRPr lang="zh-TW" altLang="en-US" dirty="0"/>
          </a:p>
        </p:txBody>
      </p:sp>
      <p:sp>
        <p:nvSpPr>
          <p:cNvPr id="9" name="矩形 8"/>
          <p:cNvSpPr/>
          <p:nvPr/>
        </p:nvSpPr>
        <p:spPr>
          <a:xfrm>
            <a:off x="3275835" y="933782"/>
            <a:ext cx="2340161" cy="28803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1400" dirty="0" smtClean="0"/>
              <a:t>2.</a:t>
            </a:r>
            <a:r>
              <a:rPr lang="zh-TW" altLang="en-US" sz="1400" dirty="0" smtClean="0"/>
              <a:t>每一樣本最後所屬的聚類</a:t>
            </a:r>
            <a:endParaRPr lang="zh-TW" altLang="en-US" sz="1400" dirty="0"/>
          </a:p>
        </p:txBody>
      </p:sp>
      <p:sp>
        <p:nvSpPr>
          <p:cNvPr id="10" name="矩形 9"/>
          <p:cNvSpPr/>
          <p:nvPr/>
        </p:nvSpPr>
        <p:spPr>
          <a:xfrm>
            <a:off x="5940152" y="955299"/>
            <a:ext cx="2952328" cy="28803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smtClean="0"/>
              <a:t>3.</a:t>
            </a:r>
            <a:r>
              <a:rPr lang="zh-TW" altLang="en-US" dirty="0" smtClean="0"/>
              <a:t>以圖呈現</a:t>
            </a:r>
            <a:endParaRPr lang="zh-TW" altLang="en-US" dirty="0"/>
          </a:p>
        </p:txBody>
      </p:sp>
      <p:sp>
        <p:nvSpPr>
          <p:cNvPr id="11" name="矩形 10"/>
          <p:cNvSpPr/>
          <p:nvPr/>
        </p:nvSpPr>
        <p:spPr>
          <a:xfrm>
            <a:off x="3113768" y="5152632"/>
            <a:ext cx="2952328" cy="288032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smtClean="0"/>
              <a:t>4.</a:t>
            </a:r>
            <a:r>
              <a:rPr lang="zh-TW" altLang="en-US" dirty="0" smtClean="0"/>
              <a:t>你的分析所得</a:t>
            </a:r>
            <a:r>
              <a:rPr lang="en-US" altLang="zh-TW" dirty="0" smtClean="0"/>
              <a:t>(</a:t>
            </a:r>
            <a:r>
              <a:rPr lang="zh-TW" altLang="en-US" dirty="0" smtClean="0"/>
              <a:t>判讀結果</a:t>
            </a:r>
            <a:r>
              <a:rPr lang="en-US" altLang="zh-TW" dirty="0" smtClean="0"/>
              <a:t>)</a:t>
            </a:r>
            <a:endParaRPr lang="zh-TW" altLang="en-US" dirty="0"/>
          </a:p>
        </p:txBody>
      </p:sp>
      <p:sp>
        <p:nvSpPr>
          <p:cNvPr id="13" name="矩形 12"/>
          <p:cNvSpPr/>
          <p:nvPr/>
        </p:nvSpPr>
        <p:spPr>
          <a:xfrm>
            <a:off x="3113768" y="5469681"/>
            <a:ext cx="2952327" cy="9671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zh-TW" dirty="0">
                <a:solidFill>
                  <a:srgbClr val="0000FF"/>
                </a:solidFill>
                <a:latin typeface="+mn-ea"/>
              </a:rPr>
              <a:t>1.X1</a:t>
            </a:r>
            <a:r>
              <a:rPr lang="zh-TW" altLang="en-US" dirty="0">
                <a:solidFill>
                  <a:srgbClr val="0000FF"/>
                </a:solidFill>
                <a:latin typeface="+mn-ea"/>
              </a:rPr>
              <a:t>愈大、</a:t>
            </a:r>
            <a:r>
              <a:rPr lang="en-US" altLang="zh-TW" dirty="0">
                <a:solidFill>
                  <a:srgbClr val="0000FF"/>
                </a:solidFill>
                <a:latin typeface="+mn-ea"/>
              </a:rPr>
              <a:t>X2</a:t>
            </a:r>
            <a:r>
              <a:rPr lang="zh-TW" altLang="en-US" dirty="0">
                <a:solidFill>
                  <a:srgbClr val="0000FF"/>
                </a:solidFill>
                <a:latin typeface="+mn-ea"/>
              </a:rPr>
              <a:t>愈小</a:t>
            </a:r>
            <a:r>
              <a:rPr lang="en-US" altLang="zh-TW" dirty="0">
                <a:solidFill>
                  <a:srgbClr val="0000FF"/>
                </a:solidFill>
                <a:latin typeface="+mn-ea"/>
              </a:rPr>
              <a:t/>
            </a:r>
            <a:br>
              <a:rPr lang="en-US" altLang="zh-TW" dirty="0">
                <a:solidFill>
                  <a:srgbClr val="0000FF"/>
                </a:solidFill>
                <a:latin typeface="+mn-ea"/>
              </a:rPr>
            </a:br>
            <a:r>
              <a:rPr lang="en-US" altLang="zh-TW" dirty="0">
                <a:solidFill>
                  <a:srgbClr val="0000FF"/>
                </a:solidFill>
                <a:latin typeface="+mn-ea"/>
              </a:rPr>
              <a:t>2.X1</a:t>
            </a:r>
            <a:r>
              <a:rPr lang="zh-TW" altLang="en-US" dirty="0">
                <a:solidFill>
                  <a:srgbClr val="0000FF"/>
                </a:solidFill>
                <a:latin typeface="+mn-ea"/>
              </a:rPr>
              <a:t>愈小、</a:t>
            </a:r>
            <a:r>
              <a:rPr lang="en-US" altLang="zh-TW" dirty="0">
                <a:solidFill>
                  <a:srgbClr val="0000FF"/>
                </a:solidFill>
                <a:latin typeface="+mn-ea"/>
              </a:rPr>
              <a:t> X2</a:t>
            </a:r>
            <a:r>
              <a:rPr lang="zh-TW" altLang="en-US" dirty="0">
                <a:solidFill>
                  <a:srgbClr val="0000FF"/>
                </a:solidFill>
                <a:latin typeface="+mn-ea"/>
              </a:rPr>
              <a:t>愈大</a:t>
            </a:r>
            <a:r>
              <a:rPr lang="en-US" altLang="zh-TW" dirty="0">
                <a:solidFill>
                  <a:srgbClr val="0000FF"/>
                </a:solidFill>
                <a:latin typeface="+mn-ea"/>
              </a:rPr>
              <a:t/>
            </a:r>
            <a:br>
              <a:rPr lang="en-US" altLang="zh-TW" dirty="0">
                <a:solidFill>
                  <a:srgbClr val="0000FF"/>
                </a:solidFill>
                <a:latin typeface="+mn-ea"/>
              </a:rPr>
            </a:br>
            <a:r>
              <a:rPr lang="en-US" altLang="zh-TW" dirty="0">
                <a:solidFill>
                  <a:srgbClr val="0000FF"/>
                </a:solidFill>
                <a:latin typeface="+mn-ea"/>
              </a:rPr>
              <a:t>3.X1</a:t>
            </a:r>
            <a:r>
              <a:rPr lang="zh-TW" altLang="en-US" dirty="0">
                <a:solidFill>
                  <a:srgbClr val="0000FF"/>
                </a:solidFill>
                <a:latin typeface="+mn-ea"/>
              </a:rPr>
              <a:t>與</a:t>
            </a:r>
            <a:r>
              <a:rPr lang="en-US" altLang="zh-TW" dirty="0">
                <a:solidFill>
                  <a:srgbClr val="0000FF"/>
                </a:solidFill>
                <a:latin typeface="+mn-ea"/>
              </a:rPr>
              <a:t>X2</a:t>
            </a:r>
            <a:r>
              <a:rPr lang="zh-TW" altLang="en-US" dirty="0">
                <a:solidFill>
                  <a:srgbClr val="0000FF"/>
                </a:solidFill>
                <a:latin typeface="+mn-ea"/>
              </a:rPr>
              <a:t>呈現負</a:t>
            </a:r>
            <a:r>
              <a:rPr lang="zh-TW" altLang="en-US" dirty="0" smtClean="0">
                <a:solidFill>
                  <a:srgbClr val="0000FF"/>
                </a:solidFill>
                <a:latin typeface="+mn-ea"/>
              </a:rPr>
              <a:t>相關</a:t>
            </a:r>
            <a:endParaRPr lang="zh-TW" altLang="en-US" dirty="0">
              <a:solidFill>
                <a:srgbClr val="0000FF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0358465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3061380" y="87323"/>
            <a:ext cx="6048672" cy="791815"/>
          </a:xfrm>
        </p:spPr>
        <p:txBody>
          <a:bodyPr/>
          <a:lstStyle/>
          <a:p>
            <a:r>
              <a:rPr lang="en-US" altLang="zh-TW" dirty="0" smtClean="0">
                <a:solidFill>
                  <a:srgbClr val="FF0000"/>
                </a:solidFill>
              </a:rPr>
              <a:t>K-means</a:t>
            </a:r>
            <a:r>
              <a:rPr lang="en-US" altLang="zh-TW" dirty="0" smtClean="0"/>
              <a:t> sub summary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18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2641868" y="1093814"/>
            <a:ext cx="4415720" cy="720080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/>
              <a:t>作業一命題</a:t>
            </a:r>
            <a:r>
              <a:rPr lang="zh-TW" altLang="en-US" dirty="0"/>
              <a:t>：</a:t>
            </a:r>
            <a:r>
              <a:rPr lang="en-US" altLang="zh-TW" dirty="0" smtClean="0"/>
              <a:t>5</a:t>
            </a:r>
            <a:r>
              <a:rPr lang="zh-TW" altLang="en-US" dirty="0" smtClean="0"/>
              <a:t>個樣本分屬</a:t>
            </a:r>
            <a:r>
              <a:rPr lang="en-US" altLang="zh-TW" dirty="0" smtClean="0"/>
              <a:t>3</a:t>
            </a:r>
            <a:r>
              <a:rPr lang="zh-TW" altLang="en-US" dirty="0" smtClean="0"/>
              <a:t>個聚類</a:t>
            </a:r>
            <a:endParaRPr lang="zh-TW" altLang="en-US" dirty="0"/>
          </a:p>
        </p:txBody>
      </p:sp>
      <p:sp>
        <p:nvSpPr>
          <p:cNvPr id="6" name="矩形 5"/>
          <p:cNvSpPr/>
          <p:nvPr/>
        </p:nvSpPr>
        <p:spPr>
          <a:xfrm>
            <a:off x="2627784" y="2121612"/>
            <a:ext cx="4397856" cy="792088"/>
          </a:xfrm>
          <a:prstGeom prst="rect">
            <a:avLst/>
          </a:prstGeom>
          <a:solidFill>
            <a:schemeClr val="bg2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/>
              <a:t>算出</a:t>
            </a:r>
            <a:r>
              <a:rPr lang="en-US" altLang="zh-TW" dirty="0"/>
              <a:t>3</a:t>
            </a:r>
            <a:r>
              <a:rPr lang="zh-TW" altLang="en-US" dirty="0"/>
              <a:t>個聚</a:t>
            </a:r>
            <a:r>
              <a:rPr lang="zh-TW" altLang="en-US" dirty="0" smtClean="0"/>
              <a:t>類的形</a:t>
            </a:r>
            <a:r>
              <a:rPr lang="zh-TW" altLang="en-US" dirty="0"/>
              <a:t>心</a:t>
            </a:r>
          </a:p>
        </p:txBody>
      </p:sp>
      <p:sp>
        <p:nvSpPr>
          <p:cNvPr id="7" name="矩形 6"/>
          <p:cNvSpPr/>
          <p:nvPr/>
        </p:nvSpPr>
        <p:spPr>
          <a:xfrm>
            <a:off x="2627784" y="3207354"/>
            <a:ext cx="4415720" cy="797710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/>
              <a:t>算出每一個樣本跟每一個聚類形心的距離</a:t>
            </a:r>
            <a:endParaRPr lang="zh-TW" altLang="en-US" dirty="0"/>
          </a:p>
        </p:txBody>
      </p:sp>
      <p:sp>
        <p:nvSpPr>
          <p:cNvPr id="8" name="矩形 7"/>
          <p:cNvSpPr/>
          <p:nvPr/>
        </p:nvSpPr>
        <p:spPr>
          <a:xfrm>
            <a:off x="2627784" y="4342615"/>
            <a:ext cx="4415720" cy="767328"/>
          </a:xfrm>
          <a:prstGeom prst="rect">
            <a:avLst/>
          </a:prstGeom>
          <a:solidFill>
            <a:srgbClr val="8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/>
              <a:t>重新標記每一樣本歸屬的聚類</a:t>
            </a:r>
            <a:endParaRPr lang="en-US" altLang="zh-TW" dirty="0" smtClean="0"/>
          </a:p>
          <a:p>
            <a:pPr algn="ctr"/>
            <a:r>
              <a:rPr lang="en-US" altLang="zh-TW" dirty="0" smtClean="0"/>
              <a:t>(</a:t>
            </a:r>
            <a:r>
              <a:rPr lang="zh-TW" altLang="en-US" dirty="0" smtClean="0"/>
              <a:t>取距形心距離最短者</a:t>
            </a:r>
            <a:r>
              <a:rPr lang="en-US" altLang="zh-TW" dirty="0" smtClean="0"/>
              <a:t>)</a:t>
            </a:r>
            <a:endParaRPr lang="zh-TW" altLang="en-US" dirty="0"/>
          </a:p>
        </p:txBody>
      </p:sp>
      <p:sp>
        <p:nvSpPr>
          <p:cNvPr id="9" name="流程圖: 決策 8"/>
          <p:cNvSpPr/>
          <p:nvPr/>
        </p:nvSpPr>
        <p:spPr>
          <a:xfrm>
            <a:off x="3583232" y="5447494"/>
            <a:ext cx="2304256" cy="1357784"/>
          </a:xfrm>
          <a:prstGeom prst="flowChartDecision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>
                <a:solidFill>
                  <a:srgbClr val="FF0000"/>
                </a:solidFill>
              </a:rPr>
              <a:t>樣本歸屬</a:t>
            </a:r>
            <a:r>
              <a:rPr lang="zh-TW" altLang="en-US" dirty="0">
                <a:solidFill>
                  <a:srgbClr val="FF0000"/>
                </a:solidFill>
              </a:rPr>
              <a:t>的聚</a:t>
            </a:r>
            <a:r>
              <a:rPr lang="zh-TW" altLang="en-US" dirty="0" smtClean="0">
                <a:solidFill>
                  <a:srgbClr val="FF0000"/>
                </a:solidFill>
              </a:rPr>
              <a:t>類</a:t>
            </a:r>
            <a:endParaRPr lang="en-US" altLang="zh-TW" dirty="0" smtClean="0">
              <a:solidFill>
                <a:srgbClr val="FF0000"/>
              </a:solidFill>
            </a:endParaRPr>
          </a:p>
          <a:p>
            <a:pPr algn="ctr"/>
            <a:r>
              <a:rPr lang="zh-TW" altLang="en-US" dirty="0" smtClean="0">
                <a:solidFill>
                  <a:srgbClr val="FF0000"/>
                </a:solidFill>
              </a:rPr>
              <a:t>有被調整</a:t>
            </a:r>
            <a:r>
              <a:rPr lang="en-US" altLang="zh-TW" dirty="0" smtClean="0">
                <a:solidFill>
                  <a:srgbClr val="FF0000"/>
                </a:solidFill>
              </a:rPr>
              <a:t>?</a:t>
            </a:r>
            <a:endParaRPr lang="en-US" altLang="zh-TW" dirty="0">
              <a:solidFill>
                <a:srgbClr val="FF0000"/>
              </a:solidFill>
            </a:endParaRPr>
          </a:p>
        </p:txBody>
      </p:sp>
      <p:cxnSp>
        <p:nvCxnSpPr>
          <p:cNvPr id="11" name="直線單箭頭接點 10"/>
          <p:cNvCxnSpPr>
            <a:stCxn id="9" idx="3"/>
          </p:cNvCxnSpPr>
          <p:nvPr/>
        </p:nvCxnSpPr>
        <p:spPr>
          <a:xfrm>
            <a:off x="5887488" y="6126386"/>
            <a:ext cx="1420816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接點 12"/>
          <p:cNvCxnSpPr>
            <a:stCxn id="9" idx="1"/>
          </p:cNvCxnSpPr>
          <p:nvPr/>
        </p:nvCxnSpPr>
        <p:spPr>
          <a:xfrm flipH="1">
            <a:off x="1115616" y="6126386"/>
            <a:ext cx="2467616" cy="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接點 19"/>
          <p:cNvCxnSpPr/>
          <p:nvPr/>
        </p:nvCxnSpPr>
        <p:spPr>
          <a:xfrm flipV="1">
            <a:off x="1115616" y="2517656"/>
            <a:ext cx="0" cy="3608730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線單箭頭接點 21"/>
          <p:cNvCxnSpPr>
            <a:endCxn id="6" idx="1"/>
          </p:cNvCxnSpPr>
          <p:nvPr/>
        </p:nvCxnSpPr>
        <p:spPr>
          <a:xfrm>
            <a:off x="1115616" y="2517656"/>
            <a:ext cx="1512168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文字方塊 22"/>
          <p:cNvSpPr txBox="1"/>
          <p:nvPr/>
        </p:nvSpPr>
        <p:spPr>
          <a:xfrm>
            <a:off x="2512784" y="5374121"/>
            <a:ext cx="720080" cy="646331"/>
          </a:xfrm>
          <a:prstGeom prst="rect">
            <a:avLst/>
          </a:prstGeom>
          <a:noFill/>
          <a:ln w="25400">
            <a:solidFill>
              <a:srgbClr val="0000FF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en-US" dirty="0" smtClean="0">
                <a:solidFill>
                  <a:srgbClr val="FF0000"/>
                </a:solidFill>
              </a:rPr>
              <a:t>有被調整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24" name="文字方塊 23"/>
          <p:cNvSpPr txBox="1"/>
          <p:nvPr/>
        </p:nvSpPr>
        <p:spPr>
          <a:xfrm>
            <a:off x="6185192" y="5374120"/>
            <a:ext cx="720080" cy="646331"/>
          </a:xfrm>
          <a:prstGeom prst="rect">
            <a:avLst/>
          </a:prstGeom>
          <a:noFill/>
          <a:ln w="25400">
            <a:solidFill>
              <a:srgbClr val="0000FF"/>
            </a:solidFill>
          </a:ln>
        </p:spPr>
        <p:txBody>
          <a:bodyPr wrap="square" rtlCol="0">
            <a:spAutoFit/>
          </a:bodyPr>
          <a:lstStyle/>
          <a:p>
            <a:r>
              <a:rPr lang="zh-TW" altLang="en-US" dirty="0" smtClean="0">
                <a:solidFill>
                  <a:srgbClr val="FF0000"/>
                </a:solidFill>
              </a:rPr>
              <a:t>沒有調整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25" name="橢圓 24"/>
          <p:cNvSpPr/>
          <p:nvPr/>
        </p:nvSpPr>
        <p:spPr>
          <a:xfrm>
            <a:off x="7308304" y="5067917"/>
            <a:ext cx="1656183" cy="177835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>
                <a:solidFill>
                  <a:srgbClr val="0000FF"/>
                </a:solidFill>
              </a:rPr>
              <a:t>最後一次的形心座標</a:t>
            </a:r>
            <a:r>
              <a:rPr lang="zh-TW" altLang="en-US" dirty="0" smtClean="0">
                <a:solidFill>
                  <a:srgbClr val="FF0000"/>
                </a:solidFill>
              </a:rPr>
              <a:t>即為所求結束作業</a:t>
            </a:r>
            <a:endParaRPr lang="zh-TW" altLang="en-US" dirty="0">
              <a:solidFill>
                <a:srgbClr val="FF0000"/>
              </a:solidFill>
            </a:endParaRPr>
          </a:p>
        </p:txBody>
      </p:sp>
      <p:sp>
        <p:nvSpPr>
          <p:cNvPr id="29" name="向下箭號 28"/>
          <p:cNvSpPr/>
          <p:nvPr/>
        </p:nvSpPr>
        <p:spPr>
          <a:xfrm>
            <a:off x="4610688" y="1813894"/>
            <a:ext cx="249344" cy="293654"/>
          </a:xfrm>
          <a:prstGeom prst="downArrow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向下箭號 29"/>
          <p:cNvSpPr/>
          <p:nvPr/>
        </p:nvSpPr>
        <p:spPr>
          <a:xfrm>
            <a:off x="4610688" y="2898794"/>
            <a:ext cx="249344" cy="293654"/>
          </a:xfrm>
          <a:prstGeom prst="downArrow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1" name="向下箭號 30"/>
          <p:cNvSpPr/>
          <p:nvPr/>
        </p:nvSpPr>
        <p:spPr>
          <a:xfrm>
            <a:off x="4611276" y="4007199"/>
            <a:ext cx="249344" cy="293654"/>
          </a:xfrm>
          <a:prstGeom prst="downArrow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2" name="向下箭號 31"/>
          <p:cNvSpPr/>
          <p:nvPr/>
        </p:nvSpPr>
        <p:spPr>
          <a:xfrm>
            <a:off x="4610688" y="5135877"/>
            <a:ext cx="249344" cy="293654"/>
          </a:xfrm>
          <a:prstGeom prst="downArrow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950224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79512" y="188913"/>
            <a:ext cx="8928992" cy="1143000"/>
          </a:xfrm>
        </p:spPr>
        <p:txBody>
          <a:bodyPr/>
          <a:lstStyle/>
          <a:p>
            <a:pPr algn="ctr"/>
            <a:r>
              <a:rPr lang="en-US" altLang="zh-TW" dirty="0" smtClean="0">
                <a:latin typeface="微軟正黑體" pitchFamily="34" charset="-120"/>
                <a:ea typeface="微軟正黑體" pitchFamily="34" charset="-120"/>
              </a:rPr>
              <a:t>5-3</a:t>
            </a:r>
            <a:r>
              <a:rPr lang="en-US" altLang="zh-TW" dirty="0" smtClean="0"/>
              <a:t>【</a:t>
            </a:r>
            <a:r>
              <a:rPr lang="zh-TW" altLang="en-US" dirty="0" smtClean="0"/>
              <a:t>資料科學</a:t>
            </a:r>
            <a:r>
              <a:rPr lang="en-US" altLang="zh-TW" dirty="0" smtClean="0"/>
              <a:t>】 </a:t>
            </a:r>
            <a:br>
              <a:rPr lang="en-US" altLang="zh-TW" dirty="0" smtClean="0"/>
            </a:br>
            <a:r>
              <a:rPr lang="zh-TW" altLang="en-US" dirty="0" smtClean="0"/>
              <a:t>資料的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「</a:t>
            </a:r>
            <a:r>
              <a:rPr lang="zh-TW" altLang="en-US" dirty="0"/>
              <a:t>標準化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」</a:t>
            </a:r>
            <a:r>
              <a:rPr lang="zh-TW" altLang="en-US" dirty="0" smtClean="0"/>
              <a:t>與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「</a:t>
            </a:r>
            <a:r>
              <a:rPr lang="zh-TW" altLang="en-US" dirty="0"/>
              <a:t>正規化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」</a:t>
            </a:r>
            <a:r>
              <a:rPr lang="en-US" altLang="zh-TW" dirty="0" smtClean="0">
                <a:solidFill>
                  <a:srgbClr val="0000FF"/>
                </a:solidFill>
              </a:rPr>
              <a:t>Why?</a:t>
            </a:r>
            <a:endParaRPr lang="zh-TW" altLang="en-US" dirty="0">
              <a:solidFill>
                <a:srgbClr val="0000FF"/>
              </a:solidFill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19</a:t>
            </a:fld>
            <a:endParaRPr lang="en-US" altLang="zh-TW"/>
          </a:p>
        </p:txBody>
      </p:sp>
      <p:sp>
        <p:nvSpPr>
          <p:cNvPr id="5" name="矩形 4">
            <a:hlinkClick r:id="rId2"/>
          </p:cNvPr>
          <p:cNvSpPr/>
          <p:nvPr/>
        </p:nvSpPr>
        <p:spPr>
          <a:xfrm>
            <a:off x="971600" y="6204028"/>
            <a:ext cx="7848352" cy="432048"/>
          </a:xfrm>
          <a:prstGeom prst="rect">
            <a:avLst/>
          </a:prstGeom>
          <a:solidFill>
            <a:srgbClr val="8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資料的標準化</a:t>
            </a:r>
            <a:r>
              <a:rPr lang="en-US" altLang="zh-TW" dirty="0"/>
              <a:t>(</a:t>
            </a:r>
            <a:r>
              <a:rPr lang="en-US" altLang="zh-TW" b="1" dirty="0"/>
              <a:t>Standardization</a:t>
            </a:r>
            <a:r>
              <a:rPr lang="en-US" altLang="zh-TW" b="1" dirty="0" smtClean="0"/>
              <a:t>)</a:t>
            </a:r>
            <a:r>
              <a:rPr lang="zh-TW" altLang="en-US" dirty="0" smtClean="0"/>
              <a:t>與</a:t>
            </a:r>
            <a:r>
              <a:rPr lang="zh-TW" altLang="en-US" dirty="0"/>
              <a:t>正規</a:t>
            </a:r>
            <a:r>
              <a:rPr lang="zh-TW" altLang="en-US" dirty="0" smtClean="0"/>
              <a:t>化</a:t>
            </a:r>
            <a:r>
              <a:rPr lang="en-US" altLang="zh-TW" dirty="0" smtClean="0"/>
              <a:t>(</a:t>
            </a:r>
            <a:r>
              <a:rPr lang="en-US" altLang="zh-TW" b="1" dirty="0" smtClean="0"/>
              <a:t>Normalization)</a:t>
            </a:r>
            <a:endParaRPr lang="zh-TW" altLang="en-US" dirty="0"/>
          </a:p>
        </p:txBody>
      </p:sp>
      <p:pic>
        <p:nvPicPr>
          <p:cNvPr id="10" name="內容版面配置區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006557" y="2039399"/>
            <a:ext cx="7285714" cy="34571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11" name="橢圓 10"/>
          <p:cNvSpPr/>
          <p:nvPr/>
        </p:nvSpPr>
        <p:spPr>
          <a:xfrm>
            <a:off x="6990083" y="2580248"/>
            <a:ext cx="1008112" cy="1008112"/>
          </a:xfrm>
          <a:prstGeom prst="ellipse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2" name="橢圓 11"/>
          <p:cNvSpPr/>
          <p:nvPr/>
        </p:nvSpPr>
        <p:spPr>
          <a:xfrm>
            <a:off x="5045867" y="2580248"/>
            <a:ext cx="1008112" cy="1008112"/>
          </a:xfrm>
          <a:prstGeom prst="ellipse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13" name="橢圓 12"/>
          <p:cNvSpPr/>
          <p:nvPr/>
        </p:nvSpPr>
        <p:spPr>
          <a:xfrm>
            <a:off x="4218034" y="3625153"/>
            <a:ext cx="1008112" cy="1008112"/>
          </a:xfrm>
          <a:prstGeom prst="ellipse">
            <a:avLst/>
          </a:prstGeom>
          <a:noFill/>
          <a:ln>
            <a:solidFill>
              <a:srgbClr val="FF33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20673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000"/>
                            </p:stCondLst>
                            <p:childTnLst>
                              <p:par>
                                <p:cTn id="1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99592" y="1124744"/>
            <a:ext cx="7693025" cy="4374370"/>
          </a:xfrm>
        </p:spPr>
        <p:txBody>
          <a:bodyPr/>
          <a:lstStyle/>
          <a:p>
            <a:r>
              <a:rPr lang="zh-TW" altLang="en-US" dirty="0" smtClean="0"/>
              <a:t>是</a:t>
            </a:r>
            <a:r>
              <a:rPr lang="zh-TW" altLang="en-US" dirty="0"/>
              <a:t>將原始資料的數據</a:t>
            </a:r>
            <a:r>
              <a:rPr lang="zh-TW" altLang="en-US" dirty="0">
                <a:solidFill>
                  <a:srgbClr val="FF0000"/>
                </a:solidFill>
              </a:rPr>
              <a:t>按比例縮放於 </a:t>
            </a:r>
            <a:r>
              <a:rPr lang="en-US" altLang="zh-TW" dirty="0"/>
              <a:t>[0, 1</a:t>
            </a:r>
            <a:r>
              <a:rPr lang="en-US" altLang="zh-TW" dirty="0" smtClean="0"/>
              <a:t>]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dirty="0"/>
              <a:t> </a:t>
            </a:r>
            <a:r>
              <a:rPr lang="en-US" altLang="zh-TW" dirty="0" smtClean="0"/>
              <a:t>[-1, </a:t>
            </a:r>
            <a:r>
              <a:rPr lang="en-US" altLang="zh-TW" dirty="0"/>
              <a:t>1] </a:t>
            </a:r>
            <a:r>
              <a:rPr lang="zh-TW" altLang="en-US" dirty="0"/>
              <a:t>區間中，且不改變其原本分佈。</a:t>
            </a:r>
          </a:p>
          <a:p>
            <a:r>
              <a:rPr lang="zh-TW" altLang="en-US" dirty="0" smtClean="0"/>
              <a:t>兩</a:t>
            </a:r>
            <a:r>
              <a:rPr lang="zh-TW" altLang="en-US" dirty="0"/>
              <a:t>組資料將同時轉換成</a:t>
            </a:r>
            <a:r>
              <a:rPr lang="zh-TW" altLang="en-US" dirty="0">
                <a:solidFill>
                  <a:srgbClr val="0000FF"/>
                </a:solidFill>
              </a:rPr>
              <a:t>純量</a:t>
            </a:r>
            <a:r>
              <a:rPr lang="zh-TW" altLang="en-US" dirty="0"/>
              <a:t>縮放於 </a:t>
            </a:r>
            <a:r>
              <a:rPr lang="en-US" altLang="zh-TW" dirty="0"/>
              <a:t>[0,1] 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en-US" altLang="zh-TW" dirty="0"/>
              <a:t> [-1, 1]</a:t>
            </a:r>
            <a:r>
              <a:rPr lang="zh-TW" altLang="en-US" dirty="0" smtClean="0"/>
              <a:t>區間</a:t>
            </a:r>
            <a:r>
              <a:rPr lang="zh-TW" altLang="en-US" dirty="0"/>
              <a:t>中，</a:t>
            </a:r>
            <a:r>
              <a:rPr lang="zh-TW" altLang="en-US" dirty="0">
                <a:solidFill>
                  <a:srgbClr val="FF0000"/>
                </a:solidFill>
              </a:rPr>
              <a:t>能排除資料單位的限制</a:t>
            </a:r>
            <a:r>
              <a:rPr lang="zh-TW" altLang="en-US" dirty="0"/>
              <a:t>，提供我們一個相同的基準來進行後續比較分析</a:t>
            </a:r>
            <a:r>
              <a:rPr lang="zh-TW" altLang="en-US" dirty="0" smtClean="0"/>
              <a:t>。</a:t>
            </a:r>
            <a:endParaRPr lang="en-US" altLang="zh-TW" dirty="0" smtClean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20</a:t>
            </a:fld>
            <a:endParaRPr lang="en-US" altLang="zh-TW"/>
          </a:p>
        </p:txBody>
      </p:sp>
      <p:graphicFrame>
        <p:nvGraphicFramePr>
          <p:cNvPr id="5" name="物件 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19921201"/>
              </p:ext>
            </p:extLst>
          </p:nvPr>
        </p:nvGraphicFramePr>
        <p:xfrm>
          <a:off x="4927600" y="2794000"/>
          <a:ext cx="914400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69" name="Equation" r:id="rId3" imgW="914400" imgH="306720" progId="Equation.DSMT4">
                  <p:embed/>
                </p:oleObj>
              </mc:Choice>
              <mc:Fallback>
                <p:oleObj name="Equation" r:id="rId3" imgW="914400" imgH="30672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927600" y="2794000"/>
                        <a:ext cx="914400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標題 1"/>
          <p:cNvSpPr>
            <a:spLocks noGrp="1"/>
          </p:cNvSpPr>
          <p:nvPr>
            <p:ph type="title"/>
          </p:nvPr>
        </p:nvSpPr>
        <p:spPr>
          <a:xfrm>
            <a:off x="3204366" y="48349"/>
            <a:ext cx="5726751" cy="834238"/>
          </a:xfrm>
          <a:ln w="31750">
            <a:solidFill>
              <a:srgbClr val="FFC000"/>
            </a:solidFill>
          </a:ln>
        </p:spPr>
        <p:txBody>
          <a:bodyPr anchor="ctr"/>
          <a:lstStyle/>
          <a:p>
            <a:pPr>
              <a:lnSpc>
                <a:spcPct val="100000"/>
              </a:lnSpc>
            </a:pPr>
            <a:r>
              <a:rPr lang="zh-TW" altLang="en-US" dirty="0" smtClean="0"/>
              <a:t>標準化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dirty="0" smtClean="0"/>
              <a:t>正規化的目的</a:t>
            </a:r>
            <a:endParaRPr lang="zh-TW" altLang="en-US" dirty="0"/>
          </a:p>
        </p:txBody>
      </p:sp>
      <p:pic>
        <p:nvPicPr>
          <p:cNvPr id="11" name="圖片 10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0400" y="3789040"/>
            <a:ext cx="7474399" cy="2801961"/>
          </a:xfrm>
          <a:prstGeom prst="rect">
            <a:avLst/>
          </a:prstGeom>
          <a:ln>
            <a:solidFill>
              <a:srgbClr val="FF0000"/>
            </a:solidFill>
          </a:ln>
        </p:spPr>
      </p:pic>
    </p:spTree>
    <p:extLst>
      <p:ext uri="{BB962C8B-B14F-4D97-AF65-F5344CB8AC3E}">
        <p14:creationId xmlns:p14="http://schemas.microsoft.com/office/powerpoint/2010/main" val="7265267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標題 1"/>
              <p:cNvSpPr>
                <a:spLocks noGrp="1"/>
              </p:cNvSpPr>
              <p:nvPr>
                <p:ph type="title"/>
              </p:nvPr>
            </p:nvSpPr>
            <p:spPr>
              <a:xfrm>
                <a:off x="1398097" y="896335"/>
                <a:ext cx="6985000" cy="926976"/>
              </a:xfrm>
            </p:spPr>
            <p:txBody>
              <a:bodyPr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TW" altLang="en-US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變</m:t>
                      </m:r>
                      <m:r>
                        <a:rPr lang="zh-TW" altLang="en-US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數採用</m:t>
                      </m:r>
                      <m:r>
                        <a:rPr lang="zh-TW" altLang="en-US" i="1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資料「標準</m:t>
                      </m:r>
                      <m:r>
                        <a:rPr lang="zh-TW" altLang="en-US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化</m:t>
                      </m:r>
                      <m:r>
                        <a:rPr lang="zh-TW" altLang="en-US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」</m:t>
                      </m:r>
                      <m:r>
                        <a:rPr lang="zh-TW" altLang="en-US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變換</m:t>
                      </m:r>
                    </m:oMath>
                  </m:oMathPara>
                </a14:m>
                <a:endParaRPr lang="zh-TW" alt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2" name="標題 1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1398097" y="896335"/>
                <a:ext cx="6985000" cy="926976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21</a:t>
            </a:fld>
            <a:endParaRPr lang="en-US" altLang="zh-TW"/>
          </a:p>
        </p:txBody>
      </p:sp>
      <p:sp>
        <p:nvSpPr>
          <p:cNvPr id="6" name="矩形 5">
            <a:hlinkClick r:id="rId3"/>
          </p:cNvPr>
          <p:cNvSpPr/>
          <p:nvPr/>
        </p:nvSpPr>
        <p:spPr>
          <a:xfrm>
            <a:off x="1128712" y="6309320"/>
            <a:ext cx="7704856" cy="43954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zh-TW" sz="1600" b="1" dirty="0" smtClean="0">
              <a:solidFill>
                <a:srgbClr val="0000FF"/>
              </a:solidFill>
            </a:endParaRPr>
          </a:p>
          <a:p>
            <a:pPr algn="ctr"/>
            <a:r>
              <a:rPr lang="zh-TW" altLang="en-US" sz="1600" b="1" dirty="0" smtClean="0">
                <a:solidFill>
                  <a:srgbClr val="0000FF"/>
                </a:solidFill>
              </a:rPr>
              <a:t>機器學習中為什麼資料</a:t>
            </a:r>
            <a:r>
              <a:rPr lang="zh-TW" altLang="en-US" sz="1600" b="1" dirty="0">
                <a:solidFill>
                  <a:srgbClr val="0000FF"/>
                </a:solidFill>
              </a:rPr>
              <a:t>常</a:t>
            </a:r>
            <a:r>
              <a:rPr lang="zh-TW" altLang="en-US" sz="1600" b="1" dirty="0" smtClean="0">
                <a:solidFill>
                  <a:srgbClr val="0000FF"/>
                </a:solidFill>
              </a:rPr>
              <a:t>要作規範化</a:t>
            </a:r>
            <a:r>
              <a:rPr lang="en-US" altLang="zh-TW" sz="1600" b="1" dirty="0" smtClean="0">
                <a:solidFill>
                  <a:srgbClr val="0000FF"/>
                </a:solidFill>
              </a:rPr>
              <a:t>: </a:t>
            </a:r>
            <a:r>
              <a:rPr lang="zh-TW" altLang="en-US" sz="1600" b="1" dirty="0" smtClean="0">
                <a:solidFill>
                  <a:srgbClr val="0000FF"/>
                </a:solidFill>
              </a:rPr>
              <a:t>中心化</a:t>
            </a:r>
            <a:r>
              <a:rPr lang="zh-TW" altLang="en-US" sz="1600" b="1" dirty="0" smtClean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sz="1600" b="1" dirty="0" smtClean="0">
                <a:solidFill>
                  <a:srgbClr val="0000FF"/>
                </a:solidFill>
              </a:rPr>
              <a:t>標準化</a:t>
            </a:r>
            <a:r>
              <a:rPr lang="zh-TW" altLang="en-US" sz="1600" b="1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sz="1600" b="1" dirty="0" smtClean="0">
                <a:solidFill>
                  <a:srgbClr val="0000FF"/>
                </a:solidFill>
              </a:rPr>
              <a:t>歸</a:t>
            </a:r>
            <a:r>
              <a:rPr lang="zh-TW" altLang="en-US" sz="1600" b="1" dirty="0">
                <a:solidFill>
                  <a:srgbClr val="0000FF"/>
                </a:solidFill>
              </a:rPr>
              <a:t>一</a:t>
            </a:r>
            <a:r>
              <a:rPr lang="zh-TW" altLang="en-US" sz="1600" b="1" dirty="0" smtClean="0">
                <a:solidFill>
                  <a:srgbClr val="0000FF"/>
                </a:solidFill>
              </a:rPr>
              <a:t>化</a:t>
            </a:r>
            <a:r>
              <a:rPr lang="zh-TW" altLang="en-US" sz="1600" b="1" dirty="0">
                <a:solidFill>
                  <a:srgbClr val="0000FF"/>
                </a:solidFill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sz="1600" b="1" dirty="0" smtClean="0">
                <a:solidFill>
                  <a:srgbClr val="0000FF"/>
                </a:solidFill>
              </a:rPr>
              <a:t>正規化</a:t>
            </a:r>
            <a:endParaRPr lang="zh-TW" altLang="en-US" sz="1600" b="1" dirty="0">
              <a:solidFill>
                <a:srgbClr val="0000FF"/>
              </a:solidFill>
            </a:endParaRPr>
          </a:p>
          <a:p>
            <a:pPr algn="ctr"/>
            <a:endParaRPr lang="zh-TW" altLang="en-US" dirty="0"/>
          </a:p>
        </p:txBody>
      </p:sp>
      <p:sp>
        <p:nvSpPr>
          <p:cNvPr id="7" name="文字方塊 1"/>
          <p:cNvSpPr txBox="1">
            <a:spLocks noChangeArrowheads="1"/>
          </p:cNvSpPr>
          <p:nvPr/>
        </p:nvSpPr>
        <p:spPr bwMode="auto">
          <a:xfrm flipH="1">
            <a:off x="788988" y="179388"/>
            <a:ext cx="8355012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lnSpc>
                <a:spcPct val="80000"/>
              </a:lnSpc>
              <a:spcAft>
                <a:spcPts val="2000"/>
              </a:spcAft>
              <a:buClrTx/>
              <a:buSzTx/>
              <a:buFontTx/>
              <a:buNone/>
            </a:pPr>
            <a:r>
              <a:rPr lang="en-US" altLang="zh-TW" sz="4000" b="1" dirty="0">
                <a:latin typeface="微軟正黑體" pitchFamily="34" charset="-120"/>
                <a:ea typeface="微軟正黑體" pitchFamily="34" charset="-120"/>
              </a:rPr>
              <a:t>5-3 </a:t>
            </a:r>
            <a:r>
              <a:rPr lang="zh-TW" altLang="en-US" sz="4000" b="1" dirty="0">
                <a:latin typeface="微軟正黑體" pitchFamily="34" charset="-120"/>
                <a:ea typeface="微軟正黑體" pitchFamily="34" charset="-120"/>
              </a:rPr>
              <a:t>實例一：旅行社個案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矩形 7"/>
              <p:cNvSpPr/>
              <p:nvPr/>
            </p:nvSpPr>
            <p:spPr>
              <a:xfrm>
                <a:off x="2965589" y="4941168"/>
                <a:ext cx="3349827" cy="1183786"/>
              </a:xfrm>
              <a:prstGeom prst="rect">
                <a:avLst/>
              </a:prstGeom>
              <a:ln w="12700">
                <a:solidFill>
                  <a:srgbClr val="FF0000"/>
                </a:solidFill>
              </a:ln>
            </p:spPr>
            <p:txBody>
              <a:bodyPr wrap="none">
                <a:spAutoFit/>
              </a:bodyPr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zh-TW" altLang="en-US" i="1" smtClean="0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eqArr>
                              <m:eqArrPr>
                                <m:ctrlPr>
                                  <a:rPr lang="zh-TW" altLang="en-US" i="1">
                                    <a:latin typeface="Cambria Math" panose="02040503050406030204" pitchFamily="18" charset="0"/>
                                  </a:rPr>
                                </m:ctrlPr>
                              </m:eqArrPr>
                              <m:e>
                                <m:r>
                                  <a:rPr lang="zh-TW" altLang="en-US">
                                    <a:latin typeface="Cambria Math" panose="02040503050406030204" pitchFamily="18" charset="0"/>
                                  </a:rPr>
                                  <m:t>變</m:t>
                                </m:r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數採用</m:t>
                                </m:r>
                                <m:r>
                                  <a:rPr lang="zh-TW" altLang="en-US" i="1">
                                    <a:latin typeface="Cambria Math" panose="02040503050406030204" pitchFamily="18" charset="0"/>
                                  </a:rPr>
                                  <m:t>資料標準</m:t>
                                </m:r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化</m:t>
                                </m:r>
                                <m:r>
                                  <a:rPr lang="zh-TW" altLang="en-US" i="0" smtClean="0">
                                    <a:solidFill>
                                      <a:srgbClr val="FFC000"/>
                                    </a:solidFill>
                                    <a:latin typeface="Cambria Math" panose="02040503050406030204" pitchFamily="18" charset="0"/>
                                  </a:rPr>
                                  <m:t>變換</m:t>
                                </m:r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:</m:t>
                                </m:r>
                              </m:e>
                              <m:e>
                                <m:r>
                                  <a:rPr lang="zh-TW" altLang="en-US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zh-TW" altLang="en-US" i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′=(</m:t>
                                </m:r>
                                <m:r>
                                  <a:rPr lang="zh-TW" altLang="en-US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zh-TW" altLang="en-US" i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zh-TW" altLang="en-US" i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平均值</m:t>
                                </m:r>
                                <m:f>
                                  <m:fPr>
                                    <m:type m:val="lin"/>
                                    <m:ctrlPr>
                                      <a:rPr lang="zh-TW" altLang="en-US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zh-TW" altLang="en-US" i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num>
                                  <m:den>
                                    <m:r>
                                      <a:rPr lang="zh-TW" altLang="en-US" i="0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標</m:t>
                                    </m:r>
                                  </m:den>
                                </m:f>
                                <m:r>
                                  <a:rPr lang="zh-TW" altLang="en-US" i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準差</m:t>
                                </m:r>
                              </m:e>
                              <m:e>
                                <m:r>
                                  <a:rPr lang="zh-TW" altLang="en-US" b="1">
                                    <a:solidFill>
                                      <a:srgbClr val="FFC000"/>
                                    </a:solidFill>
                                    <a:latin typeface="Cambria Math" panose="02040503050406030204" pitchFamily="18" charset="0"/>
                                  </a:rPr>
                                  <m:t>還原</m:t>
                                </m:r>
                                <m:r>
                                  <a:rPr lang="zh-TW" altLang="en-US">
                                    <a:latin typeface="Cambria Math" panose="02040503050406030204" pitchFamily="18" charset="0"/>
                                  </a:rPr>
                                  <m:t>:</m:t>
                                </m:r>
                                <m:r>
                                  <a:rPr lang="zh-TW" altLang="en-US" i="1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zh-TW" altLang="en-US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zh-TW" altLang="en-US" i="1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  <m:r>
                                  <a:rPr lang="zh-TW" altLang="en-US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</a:rPr>
                                  <m:t>′∗</m:t>
                                </m:r>
                                <m:r>
                                  <a:rPr lang="zh-TW" altLang="en-US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</a:rPr>
                                  <m:t>標準差</m:t>
                                </m:r>
                                <m:r>
                                  <a:rPr lang="zh-TW" altLang="en-US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zh-TW" altLang="en-US">
                                    <a:solidFill>
                                      <a:srgbClr val="0000FF"/>
                                    </a:solidFill>
                                    <a:latin typeface="Cambria Math" panose="02040503050406030204" pitchFamily="18" charset="0"/>
                                  </a:rPr>
                                  <m:t>平均值</m:t>
                                </m:r>
                              </m:e>
                            </m:eqArr>
                          </m:e>
                        </m:mr>
                        <m:mr>
                          <m:e/>
                        </m:mr>
                      </m:m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8" name="矩形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65589" y="4941168"/>
                <a:ext cx="3349827" cy="118378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圖片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38" y="2204864"/>
            <a:ext cx="8975354" cy="2302272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091637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91680" y="202489"/>
            <a:ext cx="7026696" cy="834238"/>
          </a:xfrm>
          <a:ln w="31750">
            <a:solidFill>
              <a:srgbClr val="FFC000"/>
            </a:solidFill>
          </a:ln>
        </p:spPr>
        <p:txBody>
          <a:bodyPr anchor="ctr"/>
          <a:lstStyle/>
          <a:p>
            <a:pPr>
              <a:lnSpc>
                <a:spcPct val="100000"/>
              </a:lnSpc>
            </a:pPr>
            <a:r>
              <a:rPr lang="zh-TW" altLang="en-US" dirty="0"/>
              <a:t>資料</a:t>
            </a:r>
            <a:r>
              <a:rPr lang="zh-TW" altLang="en-US" dirty="0" smtClean="0"/>
              <a:t>前處理</a:t>
            </a:r>
            <a:r>
              <a:rPr lang="zh-TW" altLang="en-US" dirty="0" smtClean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dirty="0" smtClean="0"/>
              <a:t>標準化</a:t>
            </a:r>
            <a:r>
              <a:rPr lang="zh-TW" altLang="en-US" dirty="0">
                <a:latin typeface="標楷體" panose="03000509000000000000" pitchFamily="65" charset="-120"/>
                <a:ea typeface="標楷體" panose="03000509000000000000" pitchFamily="65" charset="-120"/>
              </a:rPr>
              <a:t>、</a:t>
            </a:r>
            <a:r>
              <a:rPr lang="zh-TW" altLang="en-US" dirty="0" smtClean="0"/>
              <a:t>正規化</a:t>
            </a:r>
            <a:endParaRPr lang="zh-TW" altLang="en-US" dirty="0"/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827584" y="1218123"/>
            <a:ext cx="7693025" cy="4536504"/>
          </a:xfrm>
        </p:spPr>
        <p:txBody>
          <a:bodyPr/>
          <a:lstStyle/>
          <a:p>
            <a:r>
              <a:rPr lang="en-US" altLang="zh-TW" dirty="0">
                <a:solidFill>
                  <a:srgbClr val="FF0000"/>
                </a:solidFill>
              </a:rPr>
              <a:t>Standardization(</a:t>
            </a:r>
            <a:r>
              <a:rPr lang="zh-TW" altLang="en-US" dirty="0">
                <a:solidFill>
                  <a:srgbClr val="FF0000"/>
                </a:solidFill>
              </a:rPr>
              <a:t>標準化</a:t>
            </a:r>
            <a:r>
              <a:rPr lang="en-US" altLang="zh-TW" dirty="0" smtClean="0">
                <a:solidFill>
                  <a:srgbClr val="FF0000"/>
                </a:solidFill>
              </a:rPr>
              <a:t>)</a:t>
            </a:r>
          </a:p>
          <a:p>
            <a:pPr lvl="1"/>
            <a:endParaRPr lang="en-US" altLang="zh-TW" dirty="0" smtClean="0"/>
          </a:p>
          <a:p>
            <a:pPr lvl="1"/>
            <a:endParaRPr lang="en-US" altLang="zh-TW" dirty="0"/>
          </a:p>
          <a:p>
            <a:pPr lvl="1"/>
            <a:r>
              <a:rPr lang="zh-TW" altLang="en-US" dirty="0" smtClean="0"/>
              <a:t>經過標準化的資料</a:t>
            </a:r>
            <a:r>
              <a:rPr lang="zh-TW" altLang="en-US" dirty="0"/>
              <a:t>的平均值會變為</a:t>
            </a:r>
            <a:r>
              <a:rPr lang="en-US" altLang="zh-TW" dirty="0"/>
              <a:t>0, </a:t>
            </a:r>
            <a:r>
              <a:rPr lang="zh-TW" altLang="en-US" dirty="0"/>
              <a:t>標準差變為</a:t>
            </a:r>
            <a:r>
              <a:rPr lang="en-US" altLang="zh-TW" dirty="0" smtClean="0"/>
              <a:t>1</a:t>
            </a:r>
          </a:p>
          <a:p>
            <a:r>
              <a:rPr lang="en-US" altLang="zh-TW" dirty="0">
                <a:solidFill>
                  <a:srgbClr val="FF0000"/>
                </a:solidFill>
              </a:rPr>
              <a:t>Normalization(</a:t>
            </a:r>
            <a:r>
              <a:rPr lang="zh-TW" altLang="en-US" dirty="0">
                <a:solidFill>
                  <a:srgbClr val="FF0000"/>
                </a:solidFill>
              </a:rPr>
              <a:t>正規化</a:t>
            </a:r>
            <a:r>
              <a:rPr lang="en-US" altLang="zh-TW" dirty="0" smtClean="0">
                <a:solidFill>
                  <a:srgbClr val="FF0000"/>
                </a:solidFill>
              </a:rPr>
              <a:t>)</a:t>
            </a:r>
          </a:p>
          <a:p>
            <a:pPr lvl="1"/>
            <a:r>
              <a:rPr lang="zh-TW" altLang="en-US" b="1" dirty="0"/>
              <a:t>最小值最大值正規化</a:t>
            </a:r>
            <a:endParaRPr lang="en-US" altLang="zh-TW" b="1" dirty="0"/>
          </a:p>
          <a:p>
            <a:pPr lvl="2"/>
            <a:r>
              <a:rPr lang="zh-TW" altLang="en-US" dirty="0"/>
              <a:t>將資料等比例縮放到 </a:t>
            </a:r>
            <a:r>
              <a:rPr lang="en-US" altLang="zh-TW" dirty="0">
                <a:solidFill>
                  <a:srgbClr val="0000FF"/>
                </a:solidFill>
              </a:rPr>
              <a:t>[0, 1</a:t>
            </a:r>
            <a:r>
              <a:rPr lang="en-US" altLang="zh-TW" dirty="0" smtClean="0">
                <a:solidFill>
                  <a:srgbClr val="0000FF"/>
                </a:solidFill>
              </a:rPr>
              <a:t>]</a:t>
            </a:r>
            <a:r>
              <a:rPr lang="zh-TW" altLang="en-US" dirty="0" smtClean="0">
                <a:solidFill>
                  <a:srgbClr val="0000FF"/>
                </a:solidFill>
                <a:latin typeface="PMingLiU" panose="02020500000000000000" pitchFamily="18" charset="-120"/>
                <a:ea typeface="PMingLiU" panose="02020500000000000000" pitchFamily="18" charset="-120"/>
              </a:rPr>
              <a:t>、</a:t>
            </a:r>
            <a:r>
              <a:rPr lang="zh-TW" altLang="en-US" dirty="0" smtClean="0">
                <a:solidFill>
                  <a:srgbClr val="0000FF"/>
                </a:solidFill>
              </a:rPr>
              <a:t> </a:t>
            </a:r>
            <a:r>
              <a:rPr lang="en-US" altLang="zh-TW" dirty="0" smtClean="0">
                <a:solidFill>
                  <a:srgbClr val="0000FF"/>
                </a:solidFill>
              </a:rPr>
              <a:t>[-1, </a:t>
            </a:r>
            <a:r>
              <a:rPr lang="en-US" altLang="zh-TW" dirty="0">
                <a:solidFill>
                  <a:srgbClr val="0000FF"/>
                </a:solidFill>
              </a:rPr>
              <a:t>1]</a:t>
            </a:r>
            <a:r>
              <a:rPr lang="zh-TW" altLang="en-US" dirty="0" smtClean="0"/>
              <a:t>區間</a:t>
            </a:r>
            <a:r>
              <a:rPr lang="zh-TW" altLang="en-US" dirty="0"/>
              <a:t>中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22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899592" y="6453336"/>
            <a:ext cx="7467323" cy="3307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>
                <a:solidFill>
                  <a:srgbClr val="FF0000"/>
                </a:solidFill>
                <a:hlinkClick r:id="rId2"/>
              </a:rPr>
              <a:t>資料</a:t>
            </a:r>
            <a:r>
              <a:rPr lang="zh-TW" altLang="en-US" dirty="0" smtClean="0">
                <a:solidFill>
                  <a:srgbClr val="FF0000"/>
                </a:solidFill>
                <a:hlinkClick r:id="rId2"/>
              </a:rPr>
              <a:t>前處理</a:t>
            </a:r>
            <a:r>
              <a:rPr lang="en-US" altLang="zh-TW" dirty="0">
                <a:hlinkClick r:id="rId2"/>
              </a:rPr>
              <a:t>(Missing data</a:t>
            </a:r>
            <a:r>
              <a:rPr lang="en-US" altLang="zh-TW" dirty="0" smtClean="0">
                <a:hlinkClick r:id="rId2"/>
              </a:rPr>
              <a:t>)</a:t>
            </a:r>
            <a:r>
              <a:rPr lang="zh-TW" altLang="en-US" dirty="0" smtClean="0">
                <a:solidFill>
                  <a:srgbClr val="FF0000"/>
                </a:solidFill>
                <a:hlinkClick r:id="rId2"/>
              </a:rPr>
              <a:t>、</a:t>
            </a:r>
            <a:r>
              <a:rPr lang="zh-TW" altLang="en-US" dirty="0">
                <a:solidFill>
                  <a:srgbClr val="FF0000"/>
                </a:solidFill>
                <a:hlinkClick r:id="rId2"/>
              </a:rPr>
              <a:t>正規化、</a:t>
            </a:r>
            <a:r>
              <a:rPr lang="zh-TW" altLang="en-US" dirty="0" smtClean="0">
                <a:solidFill>
                  <a:srgbClr val="FF0000"/>
                </a:solidFill>
                <a:hlinkClick r:id="rId2"/>
              </a:rPr>
              <a:t>標準化  </a:t>
            </a:r>
            <a:r>
              <a:rPr lang="en-US" altLang="zh-TW" dirty="0" smtClean="0"/>
              <a:t>https</a:t>
            </a:r>
            <a:r>
              <a:rPr lang="en-US" altLang="zh-TW" dirty="0"/>
              <a:t>://reurl.cc/8pKvYj</a:t>
            </a:r>
            <a:endParaRPr lang="zh-TW" altLang="en-US" dirty="0"/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872" y="1740876"/>
            <a:ext cx="2765060" cy="932996"/>
          </a:xfrm>
          <a:prstGeom prst="rect">
            <a:avLst/>
          </a:prstGeom>
          <a:ln>
            <a:solidFill>
              <a:srgbClr val="FF0000"/>
            </a:solidFill>
          </a:ln>
        </p:spPr>
      </p:pic>
      <p:pic>
        <p:nvPicPr>
          <p:cNvPr id="7" name="圖片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6018" y="5361994"/>
            <a:ext cx="3096344" cy="864396"/>
          </a:xfrm>
          <a:prstGeom prst="rect">
            <a:avLst/>
          </a:prstGeom>
          <a:ln>
            <a:solidFill>
              <a:srgbClr val="0000FF"/>
            </a:solidFill>
          </a:ln>
        </p:spPr>
      </p:pic>
      <p:pic>
        <p:nvPicPr>
          <p:cNvPr id="8" name="圖片 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7741" y="5377655"/>
            <a:ext cx="3639175" cy="864395"/>
          </a:xfrm>
          <a:prstGeom prst="rect">
            <a:avLst/>
          </a:prstGeom>
          <a:ln>
            <a:solidFill>
              <a:srgbClr val="0000FF"/>
            </a:solidFill>
          </a:ln>
        </p:spPr>
      </p:pic>
    </p:spTree>
    <p:extLst>
      <p:ext uri="{BB962C8B-B14F-4D97-AF65-F5344CB8AC3E}">
        <p14:creationId xmlns:p14="http://schemas.microsoft.com/office/powerpoint/2010/main" val="14641246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zh-TW" altLang="en-US" dirty="0" smtClean="0">
                <a:solidFill>
                  <a:srgbClr val="0000FF"/>
                </a:solidFill>
              </a:rPr>
              <a:t>相關連結</a:t>
            </a:r>
            <a:endParaRPr lang="zh-TW" altLang="en-US" dirty="0">
              <a:solidFill>
                <a:srgbClr val="0000FF"/>
              </a:solidFill>
            </a:endParaRP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755576" y="1988840"/>
            <a:ext cx="8316912" cy="3724275"/>
          </a:xfrm>
        </p:spPr>
        <p:txBody>
          <a:bodyPr/>
          <a:lstStyle/>
          <a:p>
            <a:r>
              <a:rPr lang="zh-TW" altLang="en-US" dirty="0" smtClean="0">
                <a:solidFill>
                  <a:srgbClr val="FF0000"/>
                </a:solidFill>
              </a:rPr>
              <a:t>算術平均數</a:t>
            </a:r>
            <a:endParaRPr lang="en-US" altLang="zh-TW" dirty="0" smtClean="0">
              <a:solidFill>
                <a:srgbClr val="FF0000"/>
              </a:solidFill>
            </a:endParaRPr>
          </a:p>
          <a:p>
            <a:pPr lvl="1"/>
            <a:r>
              <a:rPr lang="en-US" altLang="zh-TW" dirty="0"/>
              <a:t>https://reurl.cc/QblAGO</a:t>
            </a:r>
          </a:p>
          <a:p>
            <a:r>
              <a:rPr lang="zh-TW" altLang="en-US" dirty="0" smtClean="0">
                <a:solidFill>
                  <a:srgbClr val="FF0000"/>
                </a:solidFill>
              </a:rPr>
              <a:t>標準差</a:t>
            </a:r>
            <a:r>
              <a:rPr lang="zh-TW" altLang="en-US" dirty="0" smtClean="0"/>
              <a:t> </a:t>
            </a:r>
            <a:r>
              <a:rPr lang="en-US" altLang="zh-TW" dirty="0" smtClean="0">
                <a:hlinkClick r:id="rId2"/>
              </a:rPr>
              <a:t>https://reurl.cc/V1ZOjR</a:t>
            </a:r>
            <a:endParaRPr lang="en-US" altLang="zh-TW" dirty="0" smtClean="0"/>
          </a:p>
          <a:p>
            <a:pPr lvl="1"/>
            <a:r>
              <a:rPr lang="zh-TW" altLang="en-US" dirty="0"/>
              <a:t>作為測量一組數值的離散程度 </a:t>
            </a:r>
            <a:endParaRPr lang="en-US" altLang="zh-TW" dirty="0"/>
          </a:p>
          <a:p>
            <a:r>
              <a:rPr lang="zh-TW" altLang="en-US" dirty="0" smtClean="0">
                <a:solidFill>
                  <a:srgbClr val="FF0000"/>
                </a:solidFill>
              </a:rPr>
              <a:t>資料</a:t>
            </a:r>
            <a:r>
              <a:rPr lang="zh-TW" altLang="en-US" dirty="0">
                <a:solidFill>
                  <a:srgbClr val="FF0000"/>
                </a:solidFill>
              </a:rPr>
              <a:t>正規化及</a:t>
            </a:r>
            <a:r>
              <a:rPr lang="zh-TW" altLang="en-US" dirty="0" smtClean="0">
                <a:solidFill>
                  <a:srgbClr val="FF0000"/>
                </a:solidFill>
              </a:rPr>
              <a:t>標準化</a:t>
            </a:r>
            <a:r>
              <a:rPr lang="en-US" altLang="zh-TW" dirty="0" smtClean="0">
                <a:solidFill>
                  <a:srgbClr val="FF0000"/>
                </a:solidFill>
                <a:hlinkClick r:id="rId3"/>
              </a:rPr>
              <a:t> </a:t>
            </a:r>
            <a:r>
              <a:rPr lang="en-US" altLang="zh-TW" dirty="0">
                <a:solidFill>
                  <a:srgbClr val="FF0000"/>
                </a:solidFill>
                <a:hlinkClick r:id="rId3"/>
              </a:rPr>
              <a:t>	</a:t>
            </a:r>
            <a:r>
              <a:rPr lang="en-US" altLang="zh-TW" dirty="0" smtClean="0">
                <a:hlinkClick r:id="rId3"/>
              </a:rPr>
              <a:t>https://reurl.cc/xQbMvN</a:t>
            </a:r>
            <a:r>
              <a:rPr lang="en-US" altLang="zh-TW" dirty="0" smtClean="0"/>
              <a:t/>
            </a:r>
            <a:br>
              <a:rPr lang="en-US" altLang="zh-TW" dirty="0" smtClean="0"/>
            </a:br>
            <a:r>
              <a:rPr lang="en-US" altLang="zh-TW" dirty="0" smtClean="0">
                <a:solidFill>
                  <a:srgbClr val="0000FF"/>
                </a:solidFill>
              </a:rPr>
              <a:t>【</a:t>
            </a:r>
            <a:r>
              <a:rPr lang="zh-TW" altLang="en-US" dirty="0">
                <a:solidFill>
                  <a:srgbClr val="0000FF"/>
                </a:solidFill>
              </a:rPr>
              <a:t>資料科學</a:t>
            </a:r>
            <a:r>
              <a:rPr lang="en-US" altLang="zh-TW" dirty="0" smtClean="0">
                <a:solidFill>
                  <a:srgbClr val="0000FF"/>
                </a:solidFill>
              </a:rPr>
              <a:t>】</a:t>
            </a:r>
            <a:r>
              <a:rPr lang="en-US" altLang="zh-TW" dirty="0" smtClean="0">
                <a:solidFill>
                  <a:srgbClr val="0000FF"/>
                </a:solidFill>
                <a:hlinkClick r:id="rId4"/>
              </a:rPr>
              <a:t>https://reurl.cc/NR8dKx</a:t>
            </a:r>
            <a:endParaRPr lang="en-US" altLang="zh-TW" dirty="0" smtClean="0">
              <a:solidFill>
                <a:srgbClr val="0000FF"/>
              </a:solidFill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23</a:t>
            </a:fld>
            <a:endParaRPr lang="en-US" altLang="zh-TW"/>
          </a:p>
        </p:txBody>
      </p:sp>
    </p:spTree>
    <p:extLst>
      <p:ext uri="{BB962C8B-B14F-4D97-AF65-F5344CB8AC3E}">
        <p14:creationId xmlns:p14="http://schemas.microsoft.com/office/powerpoint/2010/main" val="29770413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24</a:t>
            </a:fld>
            <a:endParaRPr lang="en-US" altLang="zh-TW"/>
          </a:p>
        </p:txBody>
      </p:sp>
      <p:sp>
        <p:nvSpPr>
          <p:cNvPr id="5" name="文字方塊 1"/>
          <p:cNvSpPr txBox="1">
            <a:spLocks noChangeArrowheads="1"/>
          </p:cNvSpPr>
          <p:nvPr/>
        </p:nvSpPr>
        <p:spPr bwMode="auto">
          <a:xfrm flipH="1">
            <a:off x="788988" y="179388"/>
            <a:ext cx="8355012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lnSpc>
                <a:spcPct val="80000"/>
              </a:lnSpc>
              <a:spcAft>
                <a:spcPts val="2000"/>
              </a:spcAft>
              <a:buClrTx/>
              <a:buSzTx/>
              <a:buFontTx/>
              <a:buNone/>
            </a:pPr>
            <a:r>
              <a:rPr lang="en-US" altLang="zh-TW" sz="4000" b="1" dirty="0">
                <a:latin typeface="微軟正黑體" pitchFamily="34" charset="-120"/>
                <a:ea typeface="微軟正黑體" pitchFamily="34" charset="-120"/>
              </a:rPr>
              <a:t>5-3 </a:t>
            </a:r>
            <a:r>
              <a:rPr lang="zh-TW" altLang="en-US" sz="4000" b="1" dirty="0">
                <a:latin typeface="微軟正黑體" pitchFamily="34" charset="-120"/>
                <a:ea typeface="微軟正黑體" pitchFamily="34" charset="-120"/>
              </a:rPr>
              <a:t>實例一：旅行社個案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662136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5-3 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實例一之數據分布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（圖中的</a:t>
            </a:r>
            <a:r>
              <a:rPr lang="en-US" altLang="zh-TW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Age 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</a:t>
            </a:r>
            <a:r>
              <a:rPr lang="en-US" altLang="zh-TW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Income 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為</a:t>
            </a:r>
            <a:r>
              <a:rPr lang="zh-TW" altLang="en-US" b="1" dirty="0" smtClean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原始尺度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5362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70" t="30604" r="37114" b="17673"/>
          <a:stretch/>
        </p:blipFill>
        <p:spPr bwMode="auto">
          <a:xfrm>
            <a:off x="1691680" y="1196752"/>
            <a:ext cx="6480000" cy="482981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矩形 2"/>
          <p:cNvSpPr/>
          <p:nvPr/>
        </p:nvSpPr>
        <p:spPr>
          <a:xfrm>
            <a:off x="2267744" y="908720"/>
            <a:ext cx="5400600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>
                <a:solidFill>
                  <a:srgbClr val="0000FF"/>
                </a:solidFill>
              </a:rPr>
              <a:t>配合</a:t>
            </a:r>
            <a:r>
              <a:rPr lang="en-US" altLang="zh-TW" dirty="0" smtClean="0">
                <a:solidFill>
                  <a:srgbClr val="0000FF"/>
                </a:solidFill>
              </a:rPr>
              <a:t>Excel</a:t>
            </a:r>
            <a:r>
              <a:rPr lang="zh-TW" altLang="en-US" dirty="0" smtClean="0">
                <a:solidFill>
                  <a:srgbClr val="0000FF"/>
                </a:solidFill>
              </a:rPr>
              <a:t>檔案一起參考</a:t>
            </a:r>
            <a:r>
              <a:rPr lang="en-US" altLang="zh-TW" dirty="0" smtClean="0">
                <a:solidFill>
                  <a:srgbClr val="0000FF"/>
                </a:solidFill>
              </a:rPr>
              <a:t>(</a:t>
            </a:r>
            <a:r>
              <a:rPr lang="zh-TW" altLang="en-US" dirty="0" smtClean="0">
                <a:solidFill>
                  <a:srgbClr val="0000FF"/>
                </a:solidFill>
              </a:rPr>
              <a:t>看</a:t>
            </a:r>
            <a:r>
              <a:rPr lang="en-US" altLang="zh-TW" dirty="0" smtClean="0">
                <a:solidFill>
                  <a:srgbClr val="0000FF"/>
                </a:solidFill>
              </a:rPr>
              <a:t>)</a:t>
            </a:r>
            <a:endParaRPr lang="zh-TW" altLang="en-US" dirty="0">
              <a:solidFill>
                <a:srgbClr val="0000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036709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25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817174" y="5776957"/>
            <a:ext cx="6563138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5-4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實例一之聚類</a:t>
            </a:r>
            <a:r>
              <a:rPr lang="zh-TW" altLang="en-US" sz="16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結果</a:t>
            </a:r>
            <a:endParaRPr lang="en-US" altLang="zh-TW" sz="1600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sz="16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圖中的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Age 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與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Income </a:t>
            </a:r>
            <a:r>
              <a:rPr lang="zh-TW" altLang="en-US" sz="16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已經採用標準正規化變換</a:t>
            </a:r>
            <a:r>
              <a:rPr lang="zh-TW" altLang="en-US" sz="16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/>
            </a:r>
            <a:b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</a:br>
            <a:r>
              <a:rPr lang="en-US" altLang="zh-TW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data (min) (</a:t>
            </a:r>
            <a:r>
              <a:rPr lang="zh-TW" altLang="en-US" sz="16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優化後</a:t>
            </a:r>
            <a:r>
              <a:rPr lang="en-US" altLang="zh-TW" sz="16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en-US" sz="1600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</a:t>
            </a:r>
            <a:r>
              <a:rPr lang="zh-TW" altLang="en-US" sz="1600" b="1" dirty="0" smtClean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最後結果 如右表</a:t>
            </a:r>
            <a:endParaRPr lang="zh-TW" altLang="en-US" sz="1600" b="1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638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628" t="24785" r="37113" b="24138"/>
          <a:stretch/>
        </p:blipFill>
        <p:spPr bwMode="auto">
          <a:xfrm>
            <a:off x="1619672" y="905476"/>
            <a:ext cx="6480000" cy="4740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矩形 4"/>
          <p:cNvSpPr/>
          <p:nvPr/>
        </p:nvSpPr>
        <p:spPr>
          <a:xfrm>
            <a:off x="3275856" y="260648"/>
            <a:ext cx="5544616" cy="28803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 smtClean="0">
                <a:solidFill>
                  <a:srgbClr val="0000FF"/>
                </a:solidFill>
              </a:rPr>
              <a:t>變數均採用標準正規化 </a:t>
            </a:r>
            <a:r>
              <a:rPr lang="en-US" altLang="zh-TW" dirty="0" smtClean="0">
                <a:solidFill>
                  <a:srgbClr val="0000FF"/>
                </a:solidFill>
              </a:rPr>
              <a:t>(</a:t>
            </a:r>
            <a:r>
              <a:rPr lang="zh-TW" altLang="en-US" dirty="0" smtClean="0">
                <a:solidFill>
                  <a:srgbClr val="0000FF"/>
                </a:solidFill>
              </a:rPr>
              <a:t>方法請參考</a:t>
            </a:r>
            <a:r>
              <a:rPr lang="zh-TW" altLang="en-US" dirty="0">
                <a:solidFill>
                  <a:srgbClr val="0000FF"/>
                </a:solidFill>
              </a:rPr>
              <a:t>配合</a:t>
            </a:r>
            <a:r>
              <a:rPr lang="en-US" altLang="zh-TW" dirty="0">
                <a:solidFill>
                  <a:srgbClr val="0000FF"/>
                </a:solidFill>
              </a:rPr>
              <a:t>Excel</a:t>
            </a:r>
            <a:r>
              <a:rPr lang="zh-TW" altLang="en-US" dirty="0" smtClean="0">
                <a:solidFill>
                  <a:srgbClr val="0000FF"/>
                </a:solidFill>
              </a:rPr>
              <a:t>檔案</a:t>
            </a:r>
            <a:r>
              <a:rPr lang="en-US" altLang="zh-TW" dirty="0" smtClean="0">
                <a:solidFill>
                  <a:srgbClr val="0000FF"/>
                </a:solidFill>
              </a:rPr>
              <a:t>)</a:t>
            </a:r>
            <a:endParaRPr lang="zh-TW" altLang="en-US" dirty="0">
              <a:solidFill>
                <a:srgbClr val="0000FF"/>
              </a:solidFill>
            </a:endParaRP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2120" y="5740524"/>
            <a:ext cx="3266667" cy="990476"/>
          </a:xfrm>
          <a:prstGeom prst="rect">
            <a:avLst/>
          </a:prstGeom>
          <a:ln w="12700">
            <a:solidFill>
              <a:srgbClr val="0000FF"/>
            </a:solidFill>
          </a:ln>
        </p:spPr>
      </p:pic>
    </p:spTree>
    <p:extLst>
      <p:ext uri="{BB962C8B-B14F-4D97-AF65-F5344CB8AC3E}">
        <p14:creationId xmlns:p14="http://schemas.microsoft.com/office/powerpoint/2010/main" val="476156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26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3744416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表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5-3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各聚類的意義</a:t>
            </a:r>
          </a:p>
        </p:txBody>
      </p:sp>
      <p:pic>
        <p:nvPicPr>
          <p:cNvPr id="1741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542" t="42241" r="51896" b="33405"/>
          <a:stretch/>
        </p:blipFill>
        <p:spPr bwMode="auto">
          <a:xfrm>
            <a:off x="4114906" y="1289906"/>
            <a:ext cx="4536504" cy="16536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AutoShape 35">
            <a:hlinkClick r:id="rId3" action="ppaction://hlinksldjump" highlightClick="1"/>
          </p:cNvPr>
          <p:cNvSpPr>
            <a:spLocks noChangeArrowheads="1"/>
          </p:cNvSpPr>
          <p:nvPr/>
        </p:nvSpPr>
        <p:spPr bwMode="auto">
          <a:xfrm>
            <a:off x="8642350" y="6322786"/>
            <a:ext cx="501650" cy="431800"/>
          </a:xfrm>
          <a:prstGeom prst="actionButtonHome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TW" altLang="en-US" sz="1800">
              <a:ea typeface="新細明體" pitchFamily="18" charset="-12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矩形 2"/>
              <p:cNvSpPr/>
              <p:nvPr/>
            </p:nvSpPr>
            <p:spPr>
              <a:xfrm>
                <a:off x="3275856" y="188640"/>
                <a:ext cx="5609613" cy="642676"/>
              </a:xfrm>
              <a:prstGeom prst="rect">
                <a:avLst/>
              </a:prstGeom>
              <a:ln w="12700">
                <a:solidFill>
                  <a:srgbClr val="FF0000"/>
                </a:solidFill>
              </a:ln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m>
                        <m:mPr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zh-TW" altLang="en-US" i="1"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a:rPr lang="zh-TW" altLang="en-US">
                                <a:latin typeface="Cambria Math" panose="02040503050406030204" pitchFamily="18" charset="0"/>
                              </a:rPr>
                              <m:t>變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數採用標準正規化變換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:</m:t>
                            </m:r>
                            <m:r>
                              <a:rPr lang="zh-TW" alt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′=(</m:t>
                            </m:r>
                            <m:r>
                              <a:rPr lang="zh-TW" alt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平均值</m:t>
                            </m:r>
                            <m:f>
                              <m:fPr>
                                <m:type m:val="lin"/>
                                <m:ctrlPr>
                                  <a:rPr lang="zh-TW" altLang="en-US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r>
                                  <a:rPr lang="zh-TW" altLang="en-US" i="0">
                                    <a:latin typeface="Cambria Math" panose="02040503050406030204" pitchFamily="18" charset="0"/>
                                  </a:rPr>
                                  <m:t>標</m:t>
                                </m:r>
                              </m:den>
                            </m:f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準差</m:t>
                            </m:r>
                          </m:e>
                        </m:mr>
                        <m:mr>
                          <m:e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還原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:</m:t>
                            </m:r>
                            <m:r>
                              <a:rPr lang="zh-TW" alt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zh-TW" altLang="en-US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′∗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標準差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zh-TW" altLang="en-US" i="0">
                                <a:latin typeface="Cambria Math" panose="02040503050406030204" pitchFamily="18" charset="0"/>
                              </a:rPr>
                              <m:t>平均值</m:t>
                            </m:r>
                          </m:e>
                        </m:mr>
                      </m:m>
                    </m:oMath>
                  </m:oMathPara>
                </a14:m>
                <a:endParaRPr lang="zh-TW" altLang="en-US" dirty="0"/>
              </a:p>
            </p:txBody>
          </p:sp>
        </mc:Choice>
        <mc:Fallback xmlns="">
          <p:sp>
            <p:nvSpPr>
              <p:cNvPr id="3" name="矩形 2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75856" y="188640"/>
                <a:ext cx="5609613" cy="64267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127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2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70" t="30604" r="37114" b="17673"/>
          <a:stretch/>
        </p:blipFill>
        <p:spPr bwMode="auto">
          <a:xfrm>
            <a:off x="4114906" y="3049039"/>
            <a:ext cx="4971608" cy="370554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矩形 6"/>
          <p:cNvSpPr/>
          <p:nvPr/>
        </p:nvSpPr>
        <p:spPr>
          <a:xfrm>
            <a:off x="899592" y="1351340"/>
            <a:ext cx="2520280" cy="153076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400" b="1" dirty="0" smtClean="0">
                <a:solidFill>
                  <a:srgbClr val="FF0000"/>
                </a:solidFill>
                <a:latin typeface="+mn-ea"/>
              </a:rPr>
              <a:t>最後的</a:t>
            </a:r>
            <a:r>
              <a:rPr lang="en-US" altLang="zh-TW" sz="2400" b="1" dirty="0" smtClean="0">
                <a:solidFill>
                  <a:srgbClr val="FF0000"/>
                </a:solidFill>
                <a:latin typeface="+mn-ea"/>
              </a:rPr>
              <a:t>Outcome</a:t>
            </a:r>
            <a:endParaRPr lang="zh-TW" altLang="en-US" sz="2400" b="1" dirty="0">
              <a:solidFill>
                <a:srgbClr val="FF0000"/>
              </a:solidFill>
              <a:latin typeface="+mn-ea"/>
            </a:endParaRPr>
          </a:p>
        </p:txBody>
      </p:sp>
      <p:sp>
        <p:nvSpPr>
          <p:cNvPr id="10" name="等腰三角形 9"/>
          <p:cNvSpPr/>
          <p:nvPr/>
        </p:nvSpPr>
        <p:spPr>
          <a:xfrm>
            <a:off x="6312678" y="5161260"/>
            <a:ext cx="275546" cy="211544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900" dirty="0" smtClean="0">
                <a:solidFill>
                  <a:srgbClr val="FF0000"/>
                </a:solidFill>
              </a:rPr>
              <a:t>1</a:t>
            </a:r>
            <a:endParaRPr lang="zh-TW" altLang="en-US" sz="900" dirty="0">
              <a:solidFill>
                <a:srgbClr val="FF0000"/>
              </a:solidFill>
            </a:endParaRPr>
          </a:p>
        </p:txBody>
      </p:sp>
      <p:sp>
        <p:nvSpPr>
          <p:cNvPr id="12" name="等腰三角形 11"/>
          <p:cNvSpPr/>
          <p:nvPr/>
        </p:nvSpPr>
        <p:spPr>
          <a:xfrm>
            <a:off x="7884368" y="5299268"/>
            <a:ext cx="279648" cy="296416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900" dirty="0" smtClean="0">
                <a:solidFill>
                  <a:srgbClr val="FF0000"/>
                </a:solidFill>
              </a:rPr>
              <a:t>3</a:t>
            </a:r>
            <a:endParaRPr lang="zh-TW" altLang="en-US" sz="900" dirty="0">
              <a:solidFill>
                <a:srgbClr val="FF0000"/>
              </a:solidFill>
            </a:endParaRPr>
          </a:p>
        </p:txBody>
      </p:sp>
      <p:sp>
        <p:nvSpPr>
          <p:cNvPr id="13" name="等腰三角形 12"/>
          <p:cNvSpPr/>
          <p:nvPr/>
        </p:nvSpPr>
        <p:spPr>
          <a:xfrm>
            <a:off x="7380312" y="4492352"/>
            <a:ext cx="271264" cy="232792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sz="900" dirty="0" smtClean="0">
                <a:solidFill>
                  <a:srgbClr val="FF0000"/>
                </a:solidFill>
              </a:rPr>
              <a:t>2</a:t>
            </a:r>
            <a:endParaRPr lang="zh-TW" altLang="en-US" sz="900" dirty="0">
              <a:solidFill>
                <a:srgbClr val="FF0000"/>
              </a:solidFill>
            </a:endParaRPr>
          </a:p>
        </p:txBody>
      </p:sp>
      <p:sp>
        <p:nvSpPr>
          <p:cNvPr id="11" name="向右箭號 10"/>
          <p:cNvSpPr/>
          <p:nvPr/>
        </p:nvSpPr>
        <p:spPr>
          <a:xfrm>
            <a:off x="3491880" y="2092220"/>
            <a:ext cx="551018" cy="216024"/>
          </a:xfrm>
          <a:prstGeom prst="rightArrow">
            <a:avLst/>
          </a:prstGeom>
          <a:solidFill>
            <a:srgbClr val="0000FF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45826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27</a:t>
            </a:fld>
            <a:endParaRPr lang="en-US" altLang="zh-TW"/>
          </a:p>
        </p:txBody>
      </p:sp>
      <p:sp>
        <p:nvSpPr>
          <p:cNvPr id="5" name="文字方塊 1"/>
          <p:cNvSpPr txBox="1">
            <a:spLocks noChangeArrowheads="1"/>
          </p:cNvSpPr>
          <p:nvPr/>
        </p:nvSpPr>
        <p:spPr bwMode="auto">
          <a:xfrm flipH="1">
            <a:off x="788988" y="179388"/>
            <a:ext cx="8355012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lnSpc>
                <a:spcPct val="80000"/>
              </a:lnSpc>
              <a:spcAft>
                <a:spcPts val="2000"/>
              </a:spcAft>
              <a:buClrTx/>
              <a:buSzTx/>
              <a:buFontTx/>
              <a:buNone/>
            </a:pPr>
            <a:r>
              <a:rPr lang="en-US" altLang="zh-TW" sz="4000" b="1" dirty="0">
                <a:latin typeface="微軟正黑體" pitchFamily="34" charset="-120"/>
                <a:ea typeface="微軟正黑體" pitchFamily="34" charset="-120"/>
              </a:rPr>
              <a:t>5-4 </a:t>
            </a:r>
            <a:r>
              <a:rPr lang="zh-TW" altLang="en-US" sz="4000" b="1" dirty="0">
                <a:latin typeface="微軟正黑體" pitchFamily="34" charset="-120"/>
                <a:ea typeface="微軟正黑體" pitchFamily="34" charset="-120"/>
              </a:rPr>
              <a:t>實例二：書局行銷個案</a:t>
            </a:r>
          </a:p>
        </p:txBody>
      </p:sp>
      <p:pic>
        <p:nvPicPr>
          <p:cNvPr id="18434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99" t="18535" r="39052" b="8836"/>
          <a:stretch/>
        </p:blipFill>
        <p:spPr bwMode="auto">
          <a:xfrm>
            <a:off x="1691680" y="924332"/>
            <a:ext cx="6589987" cy="53129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422026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28</a:t>
            </a:fld>
            <a:endParaRPr lang="en-US" altLang="zh-TW"/>
          </a:p>
        </p:txBody>
      </p:sp>
      <p:pic>
        <p:nvPicPr>
          <p:cNvPr id="19458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99" t="18535" r="36386" b="9698"/>
          <a:stretch/>
        </p:blipFill>
        <p:spPr bwMode="auto">
          <a:xfrm>
            <a:off x="1512244" y="908720"/>
            <a:ext cx="6936829" cy="52499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086961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29</a:t>
            </a:fld>
            <a:endParaRPr lang="en-US" altLang="zh-TW"/>
          </a:p>
        </p:txBody>
      </p:sp>
      <p:pic>
        <p:nvPicPr>
          <p:cNvPr id="20482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5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2900" t="18858" r="36005" b="7973"/>
          <a:stretch/>
        </p:blipFill>
        <p:spPr bwMode="auto">
          <a:xfrm>
            <a:off x="1979713" y="882868"/>
            <a:ext cx="5346918" cy="53524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矩形 1"/>
          <p:cNvSpPr/>
          <p:nvPr/>
        </p:nvSpPr>
        <p:spPr>
          <a:xfrm>
            <a:off x="755576" y="6211669"/>
            <a:ext cx="5544616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5-5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聚類特徵圖（雷達圖）（圖中的變數已經採用標準正規化變換</a:t>
            </a:r>
            <a:r>
              <a:rPr lang="zh-TW" altLang="en-US" dirty="0"/>
              <a:t>）</a:t>
            </a:r>
          </a:p>
        </p:txBody>
      </p:sp>
      <p:sp>
        <p:nvSpPr>
          <p:cNvPr id="6" name="AutoShape 35">
            <a:hlinkClick r:id="rId4" action="ppaction://hlinksldjump" highlightClick="1"/>
          </p:cNvPr>
          <p:cNvSpPr>
            <a:spLocks noChangeArrowheads="1"/>
          </p:cNvSpPr>
          <p:nvPr/>
        </p:nvSpPr>
        <p:spPr bwMode="auto">
          <a:xfrm>
            <a:off x="8642350" y="6322786"/>
            <a:ext cx="501650" cy="431800"/>
          </a:xfrm>
          <a:prstGeom prst="actionButtonHome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TW" altLang="en-US" sz="1800">
              <a:ea typeface="新細明體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5940398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30</a:t>
            </a:fld>
            <a:endParaRPr lang="en-US" altLang="zh-TW"/>
          </a:p>
        </p:txBody>
      </p:sp>
      <p:sp>
        <p:nvSpPr>
          <p:cNvPr id="5" name="文字方塊 1"/>
          <p:cNvSpPr txBox="1">
            <a:spLocks noChangeArrowheads="1"/>
          </p:cNvSpPr>
          <p:nvPr/>
        </p:nvSpPr>
        <p:spPr bwMode="auto">
          <a:xfrm flipH="1">
            <a:off x="788988" y="179388"/>
            <a:ext cx="8355012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lnSpc>
                <a:spcPct val="80000"/>
              </a:lnSpc>
              <a:spcAft>
                <a:spcPts val="2000"/>
              </a:spcAft>
              <a:buClrTx/>
              <a:buSzTx/>
              <a:buFontTx/>
              <a:buNone/>
            </a:pPr>
            <a:r>
              <a:rPr lang="en-US" altLang="zh-TW" sz="4000" b="1" dirty="0">
                <a:latin typeface="微軟正黑體" pitchFamily="34" charset="-120"/>
                <a:ea typeface="微軟正黑體" pitchFamily="34" charset="-120"/>
              </a:rPr>
              <a:t>5-5 </a:t>
            </a:r>
            <a:r>
              <a:rPr lang="zh-TW" altLang="en-US" sz="4000" b="1" dirty="0">
                <a:latin typeface="微軟正黑體" pitchFamily="34" charset="-120"/>
                <a:ea typeface="微軟正黑體" pitchFamily="34" charset="-120"/>
              </a:rPr>
              <a:t>實例三：公民意見分析個案</a:t>
            </a:r>
          </a:p>
        </p:txBody>
      </p:sp>
      <p:pic>
        <p:nvPicPr>
          <p:cNvPr id="2150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238" t="17027" r="45595" b="6250"/>
          <a:stretch/>
        </p:blipFill>
        <p:spPr bwMode="auto">
          <a:xfrm>
            <a:off x="3072914" y="832326"/>
            <a:ext cx="5278653" cy="54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矩形 1"/>
          <p:cNvSpPr/>
          <p:nvPr/>
        </p:nvSpPr>
        <p:spPr>
          <a:xfrm>
            <a:off x="971600" y="1196752"/>
            <a:ext cx="183095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表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5-4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問卷題目</a:t>
            </a:r>
          </a:p>
        </p:txBody>
      </p:sp>
      <p:sp>
        <p:nvSpPr>
          <p:cNvPr id="3" name="矩形 2"/>
          <p:cNvSpPr/>
          <p:nvPr/>
        </p:nvSpPr>
        <p:spPr>
          <a:xfrm>
            <a:off x="2051638" y="6377458"/>
            <a:ext cx="6264696" cy="288032"/>
          </a:xfrm>
          <a:prstGeom prst="rect">
            <a:avLst/>
          </a:prstGeom>
          <a:solidFill>
            <a:srgbClr val="8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smtClean="0"/>
              <a:t>Excel-</a:t>
            </a:r>
            <a:r>
              <a:rPr lang="en-US" altLang="zh-TW" dirty="0"/>
              <a:t>SUMXMY2 </a:t>
            </a:r>
            <a:r>
              <a:rPr lang="zh-TW" altLang="en-US" dirty="0" smtClean="0"/>
              <a:t>函數</a:t>
            </a:r>
            <a:r>
              <a:rPr lang="en-US" altLang="zh-TW" dirty="0" smtClean="0"/>
              <a:t>: </a:t>
            </a:r>
            <a:r>
              <a:rPr lang="zh-TW" altLang="en-US" dirty="0" smtClean="0"/>
              <a:t>傳回</a:t>
            </a:r>
            <a:r>
              <a:rPr lang="zh-TW" altLang="en-US" dirty="0"/>
              <a:t>兩個陣列</a:t>
            </a:r>
            <a:r>
              <a:rPr lang="zh-TW" altLang="en-US" dirty="0">
                <a:hlinkClick r:id="rId3"/>
              </a:rPr>
              <a:t>中</a:t>
            </a:r>
            <a:r>
              <a:rPr lang="zh-TW" altLang="en-US" dirty="0"/>
              <a:t>對應數值差的平方和</a:t>
            </a:r>
          </a:p>
        </p:txBody>
      </p:sp>
      <p:sp>
        <p:nvSpPr>
          <p:cNvPr id="6" name="矩形 5"/>
          <p:cNvSpPr/>
          <p:nvPr/>
        </p:nvSpPr>
        <p:spPr>
          <a:xfrm>
            <a:off x="971600" y="2132856"/>
            <a:ext cx="1800200" cy="288032"/>
          </a:xfrm>
          <a:prstGeom prst="rect">
            <a:avLst/>
          </a:prstGeom>
          <a:solidFill>
            <a:schemeClr val="accent3">
              <a:lumMod val="6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TW" dirty="0" smtClean="0"/>
              <a:t>340</a:t>
            </a:r>
            <a:r>
              <a:rPr lang="zh-TW" altLang="en-US" dirty="0" smtClean="0"/>
              <a:t>筆問卷資料</a:t>
            </a:r>
            <a:endParaRPr lang="zh-TW" altLang="en-US" dirty="0"/>
          </a:p>
        </p:txBody>
      </p:sp>
      <p:sp>
        <p:nvSpPr>
          <p:cNvPr id="7" name="矩形 6"/>
          <p:cNvSpPr/>
          <p:nvPr/>
        </p:nvSpPr>
        <p:spPr>
          <a:xfrm>
            <a:off x="971600" y="2996952"/>
            <a:ext cx="1830950" cy="1152128"/>
          </a:xfrm>
          <a:prstGeom prst="rect">
            <a:avLst/>
          </a:prstGeom>
          <a:solidFill>
            <a:srgbClr val="7030A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dirty="0"/>
              <a:t>均值</a:t>
            </a:r>
            <a:r>
              <a:rPr lang="en-US" altLang="zh-TW" dirty="0"/>
              <a:t>(K-means)</a:t>
            </a:r>
            <a:r>
              <a:rPr lang="zh-TW" altLang="en-US" dirty="0"/>
              <a:t>聚類</a:t>
            </a:r>
            <a:r>
              <a:rPr lang="zh-TW" altLang="en-US" dirty="0" smtClean="0"/>
              <a:t>分析</a:t>
            </a:r>
            <a:r>
              <a:rPr lang="en-US" altLang="zh-TW" dirty="0" smtClean="0"/>
              <a:t> </a:t>
            </a:r>
          </a:p>
          <a:p>
            <a:pPr algn="ctr"/>
            <a:r>
              <a:rPr lang="zh-TW" altLang="en-US" dirty="0" smtClean="0"/>
              <a:t>以</a:t>
            </a:r>
            <a:r>
              <a:rPr lang="zh-TW" altLang="en-US" dirty="0"/>
              <a:t>雷達圖表現</a:t>
            </a:r>
          </a:p>
        </p:txBody>
      </p:sp>
    </p:spTree>
    <p:extLst>
      <p:ext uri="{BB962C8B-B14F-4D97-AF65-F5344CB8AC3E}">
        <p14:creationId xmlns:p14="http://schemas.microsoft.com/office/powerpoint/2010/main" val="14375988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31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899592" y="836712"/>
            <a:ext cx="39084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表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5-5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均值聚類分析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</a:t>
            </a:r>
            <a:r>
              <a:rPr lang="zh-TW" altLang="en-US" b="1" dirty="0" smtClean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最終</a:t>
            </a:r>
            <a:r>
              <a:rPr lang="zh-TW" altLang="en-US" b="1" dirty="0" smtClean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四</a:t>
            </a:r>
            <a:r>
              <a:rPr lang="zh-TW" altLang="en-US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個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聚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類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22530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782" t="16763" r="34447" b="6250"/>
          <a:stretch/>
        </p:blipFill>
        <p:spPr bwMode="auto">
          <a:xfrm>
            <a:off x="1835696" y="1241590"/>
            <a:ext cx="6333893" cy="54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9489527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32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437010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5-6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四聚類分析的聚類的特徵之</a:t>
            </a:r>
            <a:r>
              <a:rPr lang="zh-TW" altLang="en-US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雷達</a:t>
            </a:r>
            <a:r>
              <a:rPr lang="zh-TW" altLang="en-US" b="1" dirty="0" smtClean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圖</a:t>
            </a:r>
            <a:endParaRPr lang="en-US" altLang="zh-TW" b="1" dirty="0" smtClean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圖中的變數為原始尺度）</a:t>
            </a:r>
          </a:p>
        </p:txBody>
      </p:sp>
      <p:pic>
        <p:nvPicPr>
          <p:cNvPr id="23554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43" t="28017" r="22452" b="17242"/>
          <a:stretch/>
        </p:blipFill>
        <p:spPr bwMode="auto">
          <a:xfrm>
            <a:off x="971600" y="1556792"/>
            <a:ext cx="7920000" cy="37671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739816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33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437010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5-6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四聚類分析的聚類的特徵之雷達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圖中的變數為原始尺度）</a:t>
            </a:r>
          </a:p>
        </p:txBody>
      </p:sp>
      <p:pic>
        <p:nvPicPr>
          <p:cNvPr id="24578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43" t="33406" r="22452" b="14008"/>
          <a:stretch/>
        </p:blipFill>
        <p:spPr bwMode="auto">
          <a:xfrm>
            <a:off x="971600" y="1772816"/>
            <a:ext cx="7920000" cy="36188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79142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34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971600" y="764704"/>
            <a:ext cx="390844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表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5-6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均值聚類分析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，</a:t>
            </a:r>
            <a:r>
              <a:rPr lang="zh-TW" altLang="en-US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最終</a:t>
            </a:r>
            <a:r>
              <a:rPr lang="zh-TW" altLang="en-US" b="1" dirty="0" smtClean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六</a:t>
            </a:r>
            <a:r>
              <a:rPr lang="zh-TW" altLang="en-US" b="1" dirty="0">
                <a:solidFill>
                  <a:srgbClr val="0000F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個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聚類</a:t>
            </a:r>
          </a:p>
        </p:txBody>
      </p:sp>
      <p:pic>
        <p:nvPicPr>
          <p:cNvPr id="25602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53" t="18319" r="26934" b="6884"/>
          <a:stretch/>
        </p:blipFill>
        <p:spPr bwMode="auto">
          <a:xfrm>
            <a:off x="1331640" y="1285336"/>
            <a:ext cx="7359554" cy="54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2446932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35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437010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5-7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六聚類分析的聚類的特徵之雷達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圖中的變數為原始尺度）</a:t>
            </a:r>
          </a:p>
        </p:txBody>
      </p:sp>
      <p:pic>
        <p:nvPicPr>
          <p:cNvPr id="2662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09" t="33190" r="19302" b="16164"/>
          <a:stretch/>
        </p:blipFill>
        <p:spPr bwMode="auto">
          <a:xfrm>
            <a:off x="1043608" y="1769721"/>
            <a:ext cx="7920000" cy="34594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145642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36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437010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5-7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六聚類分析的聚類的特徵之雷達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圖中的變數為原始尺度）</a:t>
            </a:r>
          </a:p>
        </p:txBody>
      </p:sp>
      <p:pic>
        <p:nvPicPr>
          <p:cNvPr id="27650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267" t="26940" r="19665" b="23491"/>
          <a:stretch/>
        </p:blipFill>
        <p:spPr bwMode="auto">
          <a:xfrm>
            <a:off x="971600" y="1837022"/>
            <a:ext cx="7920000" cy="33921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47651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37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437010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5-7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六聚類分析的聚類的特徵之雷達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圖中的變數為原始尺度）</a:t>
            </a:r>
          </a:p>
        </p:txBody>
      </p:sp>
      <p:pic>
        <p:nvPicPr>
          <p:cNvPr id="28674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509" t="26124" r="19544" b="24353"/>
          <a:stretch/>
        </p:blipFill>
        <p:spPr bwMode="auto">
          <a:xfrm>
            <a:off x="971600" y="1946623"/>
            <a:ext cx="7920000" cy="33953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034344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38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41392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5-8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四聚類分析與六聚類分析的比較</a:t>
            </a:r>
          </a:p>
        </p:txBody>
      </p:sp>
      <p:pic>
        <p:nvPicPr>
          <p:cNvPr id="29698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752" t="20689" r="19180" b="24569"/>
          <a:stretch/>
        </p:blipFill>
        <p:spPr bwMode="auto">
          <a:xfrm>
            <a:off x="972480" y="1700808"/>
            <a:ext cx="7920000" cy="37461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711558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39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41392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5-8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四聚類分析與六聚類分析的比較</a:t>
            </a:r>
          </a:p>
        </p:txBody>
      </p:sp>
      <p:pic>
        <p:nvPicPr>
          <p:cNvPr id="30722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5" t="27371" r="19422" b="25000"/>
          <a:stretch/>
        </p:blipFill>
        <p:spPr bwMode="auto">
          <a:xfrm>
            <a:off x="1044488" y="2025869"/>
            <a:ext cx="7920000" cy="32900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463317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40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41392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5-8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四聚類分析與六聚類分析的比較</a:t>
            </a:r>
          </a:p>
        </p:txBody>
      </p:sp>
      <p:pic>
        <p:nvPicPr>
          <p:cNvPr id="31746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116" t="26077" r="19180" b="25216"/>
          <a:stretch/>
        </p:blipFill>
        <p:spPr bwMode="auto">
          <a:xfrm>
            <a:off x="1044488" y="1949299"/>
            <a:ext cx="7920000" cy="33519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038764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41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413927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5-8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四聚類分析與六聚類分析的比較</a:t>
            </a:r>
          </a:p>
        </p:txBody>
      </p:sp>
      <p:pic>
        <p:nvPicPr>
          <p:cNvPr id="32770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89" t="24354" r="19301" b="23922"/>
          <a:stretch/>
        </p:blipFill>
        <p:spPr bwMode="auto">
          <a:xfrm>
            <a:off x="972480" y="1794079"/>
            <a:ext cx="7920000" cy="35265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AutoShape 35">
            <a:hlinkClick r:id="rId4" action="ppaction://hlinksldjump" highlightClick="1"/>
          </p:cNvPr>
          <p:cNvSpPr>
            <a:spLocks noChangeArrowheads="1"/>
          </p:cNvSpPr>
          <p:nvPr/>
        </p:nvSpPr>
        <p:spPr bwMode="auto">
          <a:xfrm>
            <a:off x="8642350" y="6322786"/>
            <a:ext cx="501650" cy="431800"/>
          </a:xfrm>
          <a:prstGeom prst="actionButtonHome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TW" altLang="en-US" sz="1800">
              <a:ea typeface="新細明體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688151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42</a:t>
            </a:fld>
            <a:endParaRPr lang="en-US" altLang="zh-TW"/>
          </a:p>
        </p:txBody>
      </p:sp>
      <p:sp>
        <p:nvSpPr>
          <p:cNvPr id="5" name="文字方塊 1"/>
          <p:cNvSpPr txBox="1">
            <a:spLocks noChangeArrowheads="1"/>
          </p:cNvSpPr>
          <p:nvPr/>
        </p:nvSpPr>
        <p:spPr bwMode="auto">
          <a:xfrm flipH="1">
            <a:off x="788988" y="179388"/>
            <a:ext cx="8355012" cy="107721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lnSpc>
                <a:spcPct val="80000"/>
              </a:lnSpc>
              <a:spcAft>
                <a:spcPts val="2000"/>
              </a:spcAft>
              <a:buClrTx/>
              <a:buSzTx/>
              <a:buFontTx/>
              <a:buNone/>
            </a:pPr>
            <a:r>
              <a:rPr lang="zh-TW" altLang="en-US" sz="4000" b="1" dirty="0">
                <a:latin typeface="微軟正黑體" pitchFamily="34" charset="-120"/>
                <a:ea typeface="微軟正黑體" pitchFamily="34" charset="-120"/>
              </a:rPr>
              <a:t>實作單元 </a:t>
            </a:r>
            <a:r>
              <a:rPr lang="en-US" altLang="zh-TW" sz="4000" b="1" dirty="0">
                <a:latin typeface="微軟正黑體" pitchFamily="34" charset="-120"/>
                <a:ea typeface="微軟正黑體" pitchFamily="34" charset="-120"/>
              </a:rPr>
              <a:t>A</a:t>
            </a:r>
            <a:r>
              <a:rPr lang="zh-TW" altLang="en-US" sz="4000" b="1" dirty="0">
                <a:latin typeface="微軟正黑體" pitchFamily="34" charset="-120"/>
                <a:ea typeface="微軟正黑體" pitchFamily="34" charset="-120"/>
              </a:rPr>
              <a:t>：</a:t>
            </a:r>
            <a:r>
              <a:rPr lang="en-US" altLang="zh-TW" sz="4000" b="1" dirty="0">
                <a:latin typeface="微軟正黑體" pitchFamily="34" charset="-120"/>
                <a:ea typeface="微軟正黑體" pitchFamily="34" charset="-120"/>
              </a:rPr>
              <a:t>Excel </a:t>
            </a:r>
            <a:r>
              <a:rPr lang="zh-TW" altLang="en-US" sz="4000" b="1" dirty="0">
                <a:latin typeface="微軟正黑體" pitchFamily="34" charset="-120"/>
                <a:ea typeface="微軟正黑體" pitchFamily="34" charset="-120"/>
              </a:rPr>
              <a:t>資料探勘系統──均值聚類分析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547906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A-1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以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Excel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的規劃求解執行均值聚類分析的原理</a:t>
            </a:r>
          </a:p>
        </p:txBody>
      </p:sp>
      <p:sp>
        <p:nvSpPr>
          <p:cNvPr id="6" name="矩形 5"/>
          <p:cNvSpPr/>
          <p:nvPr/>
        </p:nvSpPr>
        <p:spPr>
          <a:xfrm>
            <a:off x="755576" y="1331048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一、原理</a:t>
            </a:r>
          </a:p>
        </p:txBody>
      </p:sp>
      <p:pic>
        <p:nvPicPr>
          <p:cNvPr id="33794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585" t="65948" r="22694" b="21983"/>
          <a:stretch/>
        </p:blipFill>
        <p:spPr bwMode="auto">
          <a:xfrm>
            <a:off x="2560129" y="1561880"/>
            <a:ext cx="2175642" cy="8828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矩形 7"/>
          <p:cNvSpPr/>
          <p:nvPr/>
        </p:nvSpPr>
        <p:spPr>
          <a:xfrm>
            <a:off x="755576" y="2636912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二、方法</a:t>
            </a:r>
          </a:p>
        </p:txBody>
      </p:sp>
      <p:pic>
        <p:nvPicPr>
          <p:cNvPr id="33795" name="Picture 3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886" t="27632" r="31340" b="23168"/>
          <a:stretch/>
        </p:blipFill>
        <p:spPr bwMode="auto">
          <a:xfrm>
            <a:off x="2772280" y="3003027"/>
            <a:ext cx="4320000" cy="30819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05049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43</a:t>
            </a:fld>
            <a:endParaRPr lang="en-US" altLang="zh-TW"/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409406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A-2 Excel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提供了三種規劃求解方法</a:t>
            </a:r>
          </a:p>
        </p:txBody>
      </p:sp>
      <p:pic>
        <p:nvPicPr>
          <p:cNvPr id="34819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45" t="16487" r="27463" b="5704"/>
          <a:stretch/>
        </p:blipFill>
        <p:spPr bwMode="auto">
          <a:xfrm>
            <a:off x="2023996" y="837312"/>
            <a:ext cx="5788364" cy="540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681985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44</a:t>
            </a:fld>
            <a:endParaRPr lang="en-US" altLang="zh-TW"/>
          </a:p>
        </p:txBody>
      </p:sp>
      <p:pic>
        <p:nvPicPr>
          <p:cNvPr id="35843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80" t="51509" r="24269" b="24245"/>
          <a:stretch/>
        </p:blipFill>
        <p:spPr bwMode="auto">
          <a:xfrm>
            <a:off x="1043608" y="3212976"/>
            <a:ext cx="7920000" cy="20389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5844" name="Picture 4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365" t="47047" r="9166" b="39017"/>
          <a:stretch/>
        </p:blipFill>
        <p:spPr bwMode="auto">
          <a:xfrm>
            <a:off x="1956672" y="1556792"/>
            <a:ext cx="5785946" cy="10194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944880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45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三、實作</a:t>
            </a:r>
          </a:p>
        </p:txBody>
      </p:sp>
      <p:pic>
        <p:nvPicPr>
          <p:cNvPr id="3686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266" t="37500" r="62559" b="12069"/>
          <a:stretch/>
        </p:blipFill>
        <p:spPr bwMode="auto">
          <a:xfrm>
            <a:off x="1463462" y="1988840"/>
            <a:ext cx="2364829" cy="3689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6867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790" t="34159" r="22010" b="12186"/>
          <a:stretch/>
        </p:blipFill>
        <p:spPr bwMode="auto">
          <a:xfrm>
            <a:off x="4512309" y="1846950"/>
            <a:ext cx="4319751" cy="392492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矩形 1"/>
          <p:cNvSpPr/>
          <p:nvPr/>
        </p:nvSpPr>
        <p:spPr>
          <a:xfrm>
            <a:off x="755576" y="6300028"/>
            <a:ext cx="413286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A-3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一個人為假設的「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3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聚類」例題</a:t>
            </a:r>
          </a:p>
        </p:txBody>
      </p:sp>
    </p:spTree>
    <p:extLst>
      <p:ext uri="{BB962C8B-B14F-4D97-AF65-F5344CB8AC3E}">
        <p14:creationId xmlns:p14="http://schemas.microsoft.com/office/powerpoint/2010/main" val="8918501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46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32624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四、實作一：新建系統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462979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A-4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均值聚類分析試算表的各區功能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概述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3789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4961" t="17182" r="26272" b="10546"/>
          <a:stretch/>
        </p:blipFill>
        <p:spPr bwMode="auto">
          <a:xfrm>
            <a:off x="1979511" y="1196752"/>
            <a:ext cx="6048873" cy="504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3414704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47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五、結果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4923143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A-5(a)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將存放資料的試算表中的樣本編號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en-US" altLang="zh-TW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X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Y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值分別貼到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A~C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欄</a:t>
            </a:r>
          </a:p>
        </p:txBody>
      </p:sp>
      <p:pic>
        <p:nvPicPr>
          <p:cNvPr id="38914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9323" t="27802" r="29722" b="26724"/>
          <a:stretch/>
        </p:blipFill>
        <p:spPr bwMode="auto">
          <a:xfrm>
            <a:off x="1449746" y="1412775"/>
            <a:ext cx="7200000" cy="44946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355927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48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五、結果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378821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A-5(b)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三個聚類的中心的初始值</a:t>
            </a:r>
          </a:p>
        </p:txBody>
      </p:sp>
      <p:pic>
        <p:nvPicPr>
          <p:cNvPr id="39938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684" t="20905" r="39294" b="35991"/>
          <a:stretch/>
        </p:blipFill>
        <p:spPr bwMode="auto">
          <a:xfrm>
            <a:off x="2699792" y="1226369"/>
            <a:ext cx="4320000" cy="454737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148182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49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五、結果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5407249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A-6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、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F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欄設各樣本對三個聚類的中心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距離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公式</a:t>
            </a:r>
          </a:p>
        </p:txBody>
      </p:sp>
      <p:pic>
        <p:nvPicPr>
          <p:cNvPr id="40962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930" t="26940" r="26571" b="31034"/>
          <a:stretch/>
        </p:blipFill>
        <p:spPr bwMode="auto">
          <a:xfrm>
            <a:off x="1043608" y="1700807"/>
            <a:ext cx="7920000" cy="39397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7340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50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五、結果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5091458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A-7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欄設各樣本對三個聚類的中心的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距離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最小值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公式</a:t>
            </a:r>
          </a:p>
        </p:txBody>
      </p:sp>
      <p:pic>
        <p:nvPicPr>
          <p:cNvPr id="4198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586" t="26078" r="27177" b="30388"/>
          <a:stretch/>
        </p:blipFill>
        <p:spPr bwMode="auto">
          <a:xfrm>
            <a:off x="1044488" y="1412776"/>
            <a:ext cx="7920000" cy="41926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5527862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51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五、結果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559800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A-8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在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G16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儲存格加總各樣本對三個聚類的中心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距離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最小值</a:t>
            </a:r>
          </a:p>
        </p:txBody>
      </p:sp>
      <p:pic>
        <p:nvPicPr>
          <p:cNvPr id="4301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263" t="31681" r="28267" b="26940"/>
          <a:stretch/>
        </p:blipFill>
        <p:spPr bwMode="auto">
          <a:xfrm>
            <a:off x="1043608" y="1517814"/>
            <a:ext cx="7920000" cy="41434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5553693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52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五、結果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455573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A-9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開啟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Excel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的「規劃求解」設定參數</a:t>
            </a:r>
          </a:p>
        </p:txBody>
      </p:sp>
      <p:pic>
        <p:nvPicPr>
          <p:cNvPr id="44035" name="Picture 3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365" t="22306" r="8681" b="12594"/>
          <a:stretch/>
        </p:blipFill>
        <p:spPr bwMode="auto">
          <a:xfrm>
            <a:off x="2051720" y="1257277"/>
            <a:ext cx="5849008" cy="47621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352495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53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141577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五、結果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4940776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A-10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均值聚類分析結果：聚類的中心分別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位於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三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個樣本聚類的中心處</a:t>
            </a:r>
          </a:p>
        </p:txBody>
      </p:sp>
      <p:pic>
        <p:nvPicPr>
          <p:cNvPr id="45058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55" t="34052" r="25360" b="22845"/>
          <a:stretch/>
        </p:blipFill>
        <p:spPr bwMode="auto">
          <a:xfrm>
            <a:off x="972480" y="1772374"/>
            <a:ext cx="7920000" cy="38168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0493558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54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32624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六、實作二：修改系統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59218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A-11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「書局行銷個案」均值聚類分析範例（左半部）</a:t>
            </a:r>
          </a:p>
        </p:txBody>
      </p:sp>
      <p:pic>
        <p:nvPicPr>
          <p:cNvPr id="46082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85" t="43966" r="17968" b="11301"/>
          <a:stretch/>
        </p:blipFill>
        <p:spPr bwMode="auto">
          <a:xfrm>
            <a:off x="971600" y="2204864"/>
            <a:ext cx="7920000" cy="3066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01662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55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32624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六、實作二：修改系統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592181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A-12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「書局行銷個案」均值聚類分析範例（右半部）</a:t>
            </a:r>
          </a:p>
        </p:txBody>
      </p:sp>
      <p:pic>
        <p:nvPicPr>
          <p:cNvPr id="47106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85" t="31897" r="18574" b="22629"/>
          <a:stretch/>
        </p:blipFill>
        <p:spPr bwMode="auto">
          <a:xfrm>
            <a:off x="971600" y="2060848"/>
            <a:ext cx="7920000" cy="314711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82114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56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32624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六、實作二：修改系統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469359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A-13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開啟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Excel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的「規劃求解」設定參數</a:t>
            </a:r>
          </a:p>
        </p:txBody>
      </p:sp>
      <p:pic>
        <p:nvPicPr>
          <p:cNvPr id="48130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7" t="671" r="530"/>
          <a:stretch/>
        </p:blipFill>
        <p:spPr bwMode="auto">
          <a:xfrm>
            <a:off x="1430847" y="1230440"/>
            <a:ext cx="6873630" cy="48346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6506073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57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32624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六、實作二：修改系統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569098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A-14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三球聚類問題採用「修改系統」完成的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試算表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執行規劃求解前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endParaRPr lang="zh-TW" altLang="en-US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4915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1556792"/>
            <a:ext cx="7920000" cy="41469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85176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58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32624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六、實作二：修改系統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300028"/>
            <a:ext cx="469359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A-15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開啟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Excel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的「規劃求解」設定參數</a:t>
            </a:r>
          </a:p>
        </p:txBody>
      </p:sp>
      <p:pic>
        <p:nvPicPr>
          <p:cNvPr id="50178" name="Picture 2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2" t="833" r="433"/>
          <a:stretch/>
        </p:blipFill>
        <p:spPr bwMode="auto">
          <a:xfrm>
            <a:off x="1497395" y="1254423"/>
            <a:ext cx="6891029" cy="47983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19823708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425BFDA-AE0C-43A3-B229-917851F13E3C}" type="slidenum">
              <a:rPr lang="en-US" altLang="zh-TW" smtClean="0"/>
              <a:pPr>
                <a:defRPr/>
              </a:pPr>
              <a:t>59</a:t>
            </a:fld>
            <a:endParaRPr lang="en-US" altLang="zh-TW"/>
          </a:p>
        </p:txBody>
      </p:sp>
      <p:sp>
        <p:nvSpPr>
          <p:cNvPr id="5" name="矩形 4"/>
          <p:cNvSpPr/>
          <p:nvPr/>
        </p:nvSpPr>
        <p:spPr>
          <a:xfrm>
            <a:off x="755576" y="764704"/>
            <a:ext cx="326243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六、實作二：修改系統</a:t>
            </a:r>
          </a:p>
        </p:txBody>
      </p:sp>
      <p:sp>
        <p:nvSpPr>
          <p:cNvPr id="2" name="矩形 1"/>
          <p:cNvSpPr/>
          <p:nvPr/>
        </p:nvSpPr>
        <p:spPr>
          <a:xfrm>
            <a:off x="755576" y="6165304"/>
            <a:ext cx="5690982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圖 </a:t>
            </a:r>
            <a:r>
              <a:rPr lang="en-US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A-16 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三球聚類問題採用「修改系統」完成的</a:t>
            </a:r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試算表</a:t>
            </a:r>
            <a:endParaRPr lang="en-US" altLang="zh-TW" b="1" dirty="0" smtClean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r>
              <a:rPr lang="zh-TW" altLang="en-US" b="1" dirty="0" smtClean="0"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執行規劃求解後）</a:t>
            </a:r>
          </a:p>
        </p:txBody>
      </p:sp>
      <p:pic>
        <p:nvPicPr>
          <p:cNvPr id="5120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2480" y="1564675"/>
            <a:ext cx="7920000" cy="41590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AutoShape 35">
            <a:hlinkClick r:id="rId3" action="ppaction://hlinksldjump" highlightClick="1"/>
          </p:cNvPr>
          <p:cNvSpPr>
            <a:spLocks noChangeArrowheads="1"/>
          </p:cNvSpPr>
          <p:nvPr/>
        </p:nvSpPr>
        <p:spPr bwMode="auto">
          <a:xfrm>
            <a:off x="8642350" y="6322786"/>
            <a:ext cx="501650" cy="431800"/>
          </a:xfrm>
          <a:prstGeom prst="actionButtonHome">
            <a:avLst/>
          </a:prstGeom>
          <a:solidFill>
            <a:schemeClr val="accent1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l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1pPr>
            <a:lvl2pPr marL="742950" indent="-28575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2pPr>
            <a:lvl3pPr marL="11430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3pPr>
            <a:lvl4pPr marL="16002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Ø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4pPr>
            <a:lvl5pPr marL="2057400" indent="-228600" eaLnBrk="0" hangingPunct="0">
              <a:spcBef>
                <a:spcPct val="20000"/>
              </a:spcBef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SzPct val="75000"/>
              <a:buFont typeface="Wingdings" pitchFamily="2" charset="2"/>
              <a:buChar char="u"/>
              <a:defRPr kumimoji="1" sz="2800">
                <a:solidFill>
                  <a:schemeClr val="tx1"/>
                </a:solidFill>
                <a:latin typeface="Arial" charset="0"/>
                <a:ea typeface="標楷體" pitchFamily="65" charset="-120"/>
                <a:cs typeface="新細明體" pitchFamily="18" charset="-120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TW" altLang="en-US" sz="1800">
              <a:ea typeface="新細明體" pitchFamily="18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9751070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cut/>
      </p:transition>
    </mc:Choice>
    <mc:Fallback xmlns="">
      <p:transition spd="slow">
        <p:cut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Capsules">
  <a:themeElements>
    <a:clrScheme name="自訂 25">
      <a:dk1>
        <a:srgbClr val="000000"/>
      </a:dk1>
      <a:lt1>
        <a:srgbClr val="FFFFFF"/>
      </a:lt1>
      <a:dk2>
        <a:srgbClr val="000000"/>
      </a:dk2>
      <a:lt2>
        <a:srgbClr val="660066"/>
      </a:lt2>
      <a:accent1>
        <a:srgbClr val="FFCC99"/>
      </a:accent1>
      <a:accent2>
        <a:srgbClr val="99CC00"/>
      </a:accent2>
      <a:accent3>
        <a:srgbClr val="FFFFFF"/>
      </a:accent3>
      <a:accent4>
        <a:srgbClr val="000000"/>
      </a:accent4>
      <a:accent5>
        <a:srgbClr val="FFE2CA"/>
      </a:accent5>
      <a:accent6>
        <a:srgbClr val="8AB900"/>
      </a:accent6>
      <a:hlink>
        <a:srgbClr val="0070C0"/>
      </a:hlink>
      <a:folHlink>
        <a:srgbClr val="00B0F0"/>
      </a:folHlink>
    </a:clrScheme>
    <a:fontScheme name="Capsules">
      <a:majorFont>
        <a:latin typeface="Arial"/>
        <a:ea typeface="標楷體"/>
        <a:cs typeface="新細明體"/>
      </a:majorFont>
      <a:minorFont>
        <a:latin typeface="Arial"/>
        <a:ea typeface="標楷體"/>
        <a:cs typeface="新細明體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Capsules 1">
        <a:dk1>
          <a:srgbClr val="003366"/>
        </a:dk1>
        <a:lt1>
          <a:srgbClr val="FFFFFF"/>
        </a:lt1>
        <a:dk2>
          <a:srgbClr val="006666"/>
        </a:dk2>
        <a:lt2>
          <a:srgbClr val="666699"/>
        </a:lt2>
        <a:accent1>
          <a:srgbClr val="33CCCC"/>
        </a:accent1>
        <a:accent2>
          <a:srgbClr val="99CC99"/>
        </a:accent2>
        <a:accent3>
          <a:srgbClr val="FFFFFF"/>
        </a:accent3>
        <a:accent4>
          <a:srgbClr val="002A56"/>
        </a:accent4>
        <a:accent5>
          <a:srgbClr val="ADE2E2"/>
        </a:accent5>
        <a:accent6>
          <a:srgbClr val="8AB98A"/>
        </a:accent6>
        <a:hlink>
          <a:srgbClr val="003366"/>
        </a:hlink>
        <a:folHlink>
          <a:srgbClr val="CC99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apsules 2">
        <a:dk1>
          <a:srgbClr val="000000"/>
        </a:dk1>
        <a:lt1>
          <a:srgbClr val="FFFFFF"/>
        </a:lt1>
        <a:dk2>
          <a:srgbClr val="000000"/>
        </a:dk2>
        <a:lt2>
          <a:srgbClr val="808000"/>
        </a:lt2>
        <a:accent1>
          <a:srgbClr val="FFCC99"/>
        </a:accent1>
        <a:accent2>
          <a:srgbClr val="99CC00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8AB900"/>
        </a:accent6>
        <a:hlink>
          <a:srgbClr val="336600"/>
        </a:hlink>
        <a:folHlink>
          <a:srgbClr val="FF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apsules 3">
        <a:dk1>
          <a:srgbClr val="006699"/>
        </a:dk1>
        <a:lt1>
          <a:srgbClr val="FFFFFF"/>
        </a:lt1>
        <a:dk2>
          <a:srgbClr val="6699FF"/>
        </a:dk2>
        <a:lt2>
          <a:srgbClr val="FFFFFF"/>
        </a:lt2>
        <a:accent1>
          <a:srgbClr val="33CCCC"/>
        </a:accent1>
        <a:accent2>
          <a:srgbClr val="006699"/>
        </a:accent2>
        <a:accent3>
          <a:srgbClr val="B8CAFF"/>
        </a:accent3>
        <a:accent4>
          <a:srgbClr val="DADADA"/>
        </a:accent4>
        <a:accent5>
          <a:srgbClr val="ADE2E2"/>
        </a:accent5>
        <a:accent6>
          <a:srgbClr val="005C8A"/>
        </a:accent6>
        <a:hlink>
          <a:srgbClr val="99CC00"/>
        </a:hlink>
        <a:folHlink>
          <a:srgbClr val="FFFF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apsules 4">
        <a:dk1>
          <a:srgbClr val="000000"/>
        </a:dk1>
        <a:lt1>
          <a:srgbClr val="FFFFFF"/>
        </a:lt1>
        <a:dk2>
          <a:srgbClr val="9900CC"/>
        </a:dk2>
        <a:lt2>
          <a:srgbClr val="006600"/>
        </a:lt2>
        <a:accent1>
          <a:srgbClr val="33CC33"/>
        </a:accent1>
        <a:accent2>
          <a:srgbClr val="FFCC66"/>
        </a:accent2>
        <a:accent3>
          <a:srgbClr val="FFFFFF"/>
        </a:accent3>
        <a:accent4>
          <a:srgbClr val="000000"/>
        </a:accent4>
        <a:accent5>
          <a:srgbClr val="ADE2AD"/>
        </a:accent5>
        <a:accent6>
          <a:srgbClr val="E7B95C"/>
        </a:accent6>
        <a:hlink>
          <a:srgbClr val="0033CC"/>
        </a:hlink>
        <a:folHlink>
          <a:srgbClr val="CC00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Capsules 5">
        <a:dk1>
          <a:srgbClr val="000066"/>
        </a:dk1>
        <a:lt1>
          <a:srgbClr val="FFFFFF"/>
        </a:lt1>
        <a:dk2>
          <a:srgbClr val="336699"/>
        </a:dk2>
        <a:lt2>
          <a:srgbClr val="FFFFEB"/>
        </a:lt2>
        <a:accent1>
          <a:srgbClr val="99CCFF"/>
        </a:accent1>
        <a:accent2>
          <a:srgbClr val="9999FF"/>
        </a:accent2>
        <a:accent3>
          <a:srgbClr val="ADB8CA"/>
        </a:accent3>
        <a:accent4>
          <a:srgbClr val="DADADA"/>
        </a:accent4>
        <a:accent5>
          <a:srgbClr val="CAE2FF"/>
        </a:accent5>
        <a:accent6>
          <a:srgbClr val="8A8AE7"/>
        </a:accent6>
        <a:hlink>
          <a:srgbClr val="CCCCFF"/>
        </a:hlink>
        <a:folHlink>
          <a:srgbClr val="C68D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apsules 6">
        <a:dk1>
          <a:srgbClr val="808000"/>
        </a:dk1>
        <a:lt1>
          <a:srgbClr val="FFFFFF"/>
        </a:lt1>
        <a:dk2>
          <a:srgbClr val="006666"/>
        </a:dk2>
        <a:lt2>
          <a:srgbClr val="FFFFFF"/>
        </a:lt2>
        <a:accent1>
          <a:srgbClr val="FFCC66"/>
        </a:accent1>
        <a:accent2>
          <a:srgbClr val="00ACA8"/>
        </a:accent2>
        <a:accent3>
          <a:srgbClr val="AAB8B8"/>
        </a:accent3>
        <a:accent4>
          <a:srgbClr val="DADADA"/>
        </a:accent4>
        <a:accent5>
          <a:srgbClr val="FFE2B8"/>
        </a:accent5>
        <a:accent6>
          <a:srgbClr val="009B98"/>
        </a:accent6>
        <a:hlink>
          <a:srgbClr val="CCCC00"/>
        </a:hlink>
        <a:folHlink>
          <a:srgbClr val="33CC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apsules 7">
        <a:dk1>
          <a:srgbClr val="FFFFCC"/>
        </a:dk1>
        <a:lt1>
          <a:srgbClr val="FFFFFF"/>
        </a:lt1>
        <a:dk2>
          <a:srgbClr val="660033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B8AAAD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FFCC00"/>
        </a:hlink>
        <a:folHlink>
          <a:srgbClr val="FFCC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apsules 8">
        <a:dk1>
          <a:srgbClr val="FF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CC00"/>
        </a:accent1>
        <a:accent2>
          <a:srgbClr val="CC3300"/>
        </a:accent2>
        <a:accent3>
          <a:srgbClr val="AAAAAA"/>
        </a:accent3>
        <a:accent4>
          <a:srgbClr val="DADADA"/>
        </a:accent4>
        <a:accent5>
          <a:srgbClr val="FFE2AA"/>
        </a:accent5>
        <a:accent6>
          <a:srgbClr val="B92D00"/>
        </a:accent6>
        <a:hlink>
          <a:srgbClr val="FF6600"/>
        </a:hlink>
        <a:folHlink>
          <a:srgbClr val="FF7C8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Capsules 9">
        <a:dk1>
          <a:srgbClr val="000000"/>
        </a:dk1>
        <a:lt1>
          <a:srgbClr val="FFFFFF"/>
        </a:lt1>
        <a:dk2>
          <a:srgbClr val="000000"/>
        </a:dk2>
        <a:lt2>
          <a:srgbClr val="660066"/>
        </a:lt2>
        <a:accent1>
          <a:srgbClr val="FFCC99"/>
        </a:accent1>
        <a:accent2>
          <a:srgbClr val="99CC00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8AB900"/>
        </a:accent6>
        <a:hlink>
          <a:srgbClr val="3366FF"/>
        </a:hlink>
        <a:folHlink>
          <a:srgbClr val="CC6600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Capsules</Template>
  <TotalTime>5645</TotalTime>
  <Words>2083</Words>
  <Application>Microsoft Office PowerPoint</Application>
  <PresentationFormat>如螢幕大小 (4:3)</PresentationFormat>
  <Paragraphs>276</Paragraphs>
  <Slides>59</Slides>
  <Notes>13</Notes>
  <HiddenSlides>0</HiddenSlides>
  <MMClips>0</MMClips>
  <ScaleCrop>false</ScaleCrop>
  <HeadingPairs>
    <vt:vector size="8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1</vt:i4>
      </vt:variant>
      <vt:variant>
        <vt:lpstr>內嵌 OLE 伺服程式</vt:lpstr>
      </vt:variant>
      <vt:variant>
        <vt:i4>1</vt:i4>
      </vt:variant>
      <vt:variant>
        <vt:lpstr>投影片標題</vt:lpstr>
      </vt:variant>
      <vt:variant>
        <vt:i4>59</vt:i4>
      </vt:variant>
    </vt:vector>
  </HeadingPairs>
  <TitlesOfParts>
    <vt:vector size="70" baseType="lpstr">
      <vt:lpstr>微軟正黑體</vt:lpstr>
      <vt:lpstr>新細明體</vt:lpstr>
      <vt:lpstr>新細明體</vt:lpstr>
      <vt:lpstr>標楷體</vt:lpstr>
      <vt:lpstr>Arial</vt:lpstr>
      <vt:lpstr>Calibri</vt:lpstr>
      <vt:lpstr>Cambria Math</vt:lpstr>
      <vt:lpstr>Times New Roman</vt:lpstr>
      <vt:lpstr>Wingdings</vt:lpstr>
      <vt:lpstr>Capsules</vt:lpstr>
      <vt:lpstr>Equation</vt:lpstr>
      <vt:lpstr>PowerPoint 簡報</vt:lpstr>
      <vt:lpstr>PowerPoint 簡報</vt:lpstr>
      <vt:lpstr>PowerPoint 簡報</vt:lpstr>
      <vt:lpstr>PowerPoint 簡報</vt:lpstr>
      <vt:lpstr>四、聚類分析的方法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產出(4個Outcome)</vt:lpstr>
      <vt:lpstr>K-means sub summary</vt:lpstr>
      <vt:lpstr>5-3【資料科學】  資料的「標準化」與「正規化」Why?</vt:lpstr>
      <vt:lpstr>標準化、正規化的目的</vt:lpstr>
      <vt:lpstr>變數採用資料「標準化」變換</vt:lpstr>
      <vt:lpstr>資料前處理、標準化、正規化</vt:lpstr>
      <vt:lpstr>相關連結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>WUNAN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投影片 1</dc:title>
  <dc:creator>wunan</dc:creator>
  <cp:lastModifiedBy>user</cp:lastModifiedBy>
  <cp:revision>625</cp:revision>
  <dcterms:created xsi:type="dcterms:W3CDTF">2006-03-03T08:12:18Z</dcterms:created>
  <dcterms:modified xsi:type="dcterms:W3CDTF">2025-09-23T08:39:49Z</dcterms:modified>
</cp:coreProperties>
</file>