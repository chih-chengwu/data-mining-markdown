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739" r:id="rId2"/>
    <p:sldId id="773" r:id="rId3"/>
    <p:sldId id="774" r:id="rId4"/>
    <p:sldId id="775" r:id="rId5"/>
    <p:sldId id="776" r:id="rId6"/>
    <p:sldId id="777" r:id="rId7"/>
    <p:sldId id="778" r:id="rId8"/>
    <p:sldId id="779" r:id="rId9"/>
    <p:sldId id="789" r:id="rId10"/>
    <p:sldId id="790" r:id="rId11"/>
    <p:sldId id="791" r:id="rId12"/>
    <p:sldId id="780" r:id="rId13"/>
    <p:sldId id="781" r:id="rId14"/>
    <p:sldId id="782" r:id="rId15"/>
    <p:sldId id="792" r:id="rId16"/>
    <p:sldId id="793" r:id="rId17"/>
    <p:sldId id="783" r:id="rId18"/>
    <p:sldId id="794" r:id="rId19"/>
    <p:sldId id="784" r:id="rId20"/>
    <p:sldId id="78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C000"/>
    <a:srgbClr val="C67A48"/>
    <a:srgbClr val="786CAE"/>
    <a:srgbClr val="6EB5AF"/>
    <a:srgbClr val="8FC320"/>
    <a:srgbClr val="33CCCC"/>
    <a:srgbClr val="B5D14F"/>
    <a:srgbClr val="EB5405"/>
    <a:srgbClr val="FFE3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77" autoAdjust="0"/>
    <p:restoredTop sz="98058" autoAdjust="0"/>
  </p:normalViewPr>
  <p:slideViewPr>
    <p:cSldViewPr>
      <p:cViewPr varScale="1">
        <p:scale>
          <a:sx n="84" d="100"/>
          <a:sy n="84" d="100"/>
        </p:scale>
        <p:origin x="1421" y="72"/>
      </p:cViewPr>
      <p:guideLst>
        <p:guide orient="horz" pos="2160"/>
        <p:guide pos="2880"/>
      </p:guideLst>
    </p:cSldViewPr>
  </p:slideViewPr>
  <p:outlineViewPr>
    <p:cViewPr>
      <p:scale>
        <a:sx n="33" d="100"/>
        <a:sy n="33" d="100"/>
      </p:scale>
      <p:origin x="0" y="7128"/>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41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1DA890-1C3A-4168-9336-7569BD13438D}" type="datetimeFigureOut">
              <a:rPr lang="zh-TW" altLang="en-US" smtClean="0"/>
              <a:pPr/>
              <a:t>2025/12/2</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B3C2F1F-D428-449F-967A-F29989CFB9CB}" type="slidenum">
              <a:rPr lang="zh-TW" altLang="en-US" smtClean="0"/>
              <a:pPr/>
              <a:t>‹#›</a:t>
            </a:fld>
            <a:endParaRPr lang="zh-TW" altLang="en-US"/>
          </a:p>
        </p:txBody>
      </p:sp>
    </p:spTree>
    <p:extLst>
      <p:ext uri="{BB962C8B-B14F-4D97-AF65-F5344CB8AC3E}">
        <p14:creationId xmlns:p14="http://schemas.microsoft.com/office/powerpoint/2010/main" val="12669697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71CE91-3D51-440C-AE01-BB26464EA3B2}" type="datetimeFigureOut">
              <a:rPr lang="zh-TW" altLang="en-US" smtClean="0"/>
              <a:pPr/>
              <a:t>2025/12/2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6B05A9-B499-4E5B-8BFF-1B523649516C}" type="slidenum">
              <a:rPr lang="zh-TW" altLang="en-US" smtClean="0"/>
              <a:pPr/>
              <a:t>‹#›</a:t>
            </a:fld>
            <a:endParaRPr lang="zh-TW" altLang="en-US"/>
          </a:p>
        </p:txBody>
      </p:sp>
    </p:spTree>
    <p:extLst>
      <p:ext uri="{BB962C8B-B14F-4D97-AF65-F5344CB8AC3E}">
        <p14:creationId xmlns:p14="http://schemas.microsoft.com/office/powerpoint/2010/main" val="3659237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書名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章名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字版面配置區 9"/>
          <p:cNvSpPr>
            <a:spLocks noGrp="1"/>
          </p:cNvSpPr>
          <p:nvPr>
            <p:ph type="body" sz="quarter" idx="17"/>
          </p:nvPr>
        </p:nvSpPr>
        <p:spPr>
          <a:xfrm>
            <a:off x="857224" y="3645024"/>
            <a:ext cx="8072494" cy="1800200"/>
          </a:xfrm>
          <a:noFill/>
          <a:ln w="12700" cap="rnd">
            <a:noFill/>
            <a:round/>
          </a:ln>
          <a:effectLst/>
        </p:spPr>
        <p:txBody>
          <a:bodyPr lIns="0" tIns="0" rIns="0" bIns="0" numCol="2" anchor="ctr" anchorCtr="0">
            <a:noAutofit/>
          </a:bodyPr>
          <a:lstStyle>
            <a:lvl1pPr>
              <a:lnSpc>
                <a:spcPts val="2400"/>
              </a:lnSpc>
              <a:spcBef>
                <a:spcPts val="500"/>
              </a:spcBef>
              <a:defRPr kumimoji="0" lang="zh-TW" altLang="en-US" sz="2000" b="1" u="none" kern="1200" baseline="0" dirty="0">
                <a:solidFill>
                  <a:schemeClr val="tx1">
                    <a:lumMod val="65000"/>
                    <a:lumOff val="35000"/>
                  </a:schemeClr>
                </a:solidFill>
                <a:latin typeface="Arial" pitchFamily="34" charset="0"/>
                <a:ea typeface="+mj-ea"/>
                <a:cs typeface="+mn-cs"/>
              </a:defRPr>
            </a:lvl1pPr>
          </a:lstStyle>
          <a:p>
            <a:pPr lvl="0"/>
            <a:r>
              <a:rPr lang="zh-TW" altLang="en-US" dirty="0" smtClean="0"/>
              <a:t>按一下以編輯母片文字樣式</a:t>
            </a:r>
            <a:endParaRPr lang="zh-TW" altLang="en-US" dirty="0"/>
          </a:p>
        </p:txBody>
      </p:sp>
      <p:sp>
        <p:nvSpPr>
          <p:cNvPr id="15" name="文字版面配置區 13"/>
          <p:cNvSpPr>
            <a:spLocks noGrp="1"/>
          </p:cNvSpPr>
          <p:nvPr>
            <p:ph type="body" sz="quarter" idx="15" hasCustomPrompt="1"/>
          </p:nvPr>
        </p:nvSpPr>
        <p:spPr>
          <a:xfrm>
            <a:off x="1071538" y="2276872"/>
            <a:ext cx="7786742" cy="1152128"/>
          </a:xfrm>
          <a:effectLst/>
        </p:spPr>
        <p:txBody>
          <a:bodyPr anchor="ctr" anchorCtr="0">
            <a:noAutofit/>
          </a:bodyPr>
          <a:lstStyle>
            <a:lvl1pPr algn="l">
              <a:lnSpc>
                <a:spcPts val="4800"/>
              </a:lnSpc>
              <a:spcBef>
                <a:spcPts val="0"/>
              </a:spcBef>
              <a:defRPr sz="4400" b="1" u="none" cap="none" spc="0" baseline="0">
                <a:ln w="15875">
                  <a:noFill/>
                  <a:prstDash val="solid"/>
                </a:ln>
                <a:solidFill>
                  <a:schemeClr val="tx1">
                    <a:lumMod val="75000"/>
                    <a:lumOff val="25000"/>
                  </a:schemeClr>
                </a:solidFill>
                <a:effectLst/>
              </a:defRPr>
            </a:lvl1pPr>
          </a:lstStyle>
          <a:p>
            <a:pPr lvl="0"/>
            <a:r>
              <a:rPr lang="zh-TW" altLang="en-US" dirty="0" smtClean="0"/>
              <a:t>按一以輯母片文字樣式</a:t>
            </a:r>
          </a:p>
        </p:txBody>
      </p:sp>
      <p:sp>
        <p:nvSpPr>
          <p:cNvPr id="11" name="矩形 10"/>
          <p:cNvSpPr/>
          <p:nvPr userDrawn="1"/>
        </p:nvSpPr>
        <p:spPr>
          <a:xfrm flipV="1">
            <a:off x="71470" y="2056288"/>
            <a:ext cx="9000000" cy="3801604"/>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p:cNvSpPr/>
          <p:nvPr userDrawn="1"/>
        </p:nvSpPr>
        <p:spPr>
          <a:xfrm flipV="1">
            <a:off x="755576" y="1768288"/>
            <a:ext cx="2357454" cy="288000"/>
          </a:xfrm>
          <a:prstGeom prst="rect">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版面配置區 13"/>
          <p:cNvSpPr>
            <a:spLocks noGrp="1"/>
          </p:cNvSpPr>
          <p:nvPr>
            <p:ph type="body" sz="quarter" idx="14"/>
          </p:nvPr>
        </p:nvSpPr>
        <p:spPr>
          <a:xfrm>
            <a:off x="1052198" y="1268760"/>
            <a:ext cx="1800200" cy="863526"/>
          </a:xfrm>
        </p:spPr>
        <p:txBody>
          <a:bodyPr anchor="ctr" anchorCtr="0">
            <a:noAutofit/>
          </a:bodyPr>
          <a:lstStyle>
            <a:lvl1pPr>
              <a:lnSpc>
                <a:spcPts val="4800"/>
              </a:lnSpc>
              <a:spcBef>
                <a:spcPts val="0"/>
              </a:spcBef>
              <a:defRPr sz="10000" b="1" u="none" cap="none" spc="0" baseline="0">
                <a:ln w="19050">
                  <a:solidFill>
                    <a:schemeClr val="tx2">
                      <a:tint val="1000"/>
                    </a:schemeClr>
                  </a:solidFill>
                  <a:prstDash val="solid"/>
                </a:ln>
                <a:solidFill>
                  <a:schemeClr val="tx1">
                    <a:lumMod val="65000"/>
                    <a:lumOff val="35000"/>
                  </a:schemeClr>
                </a:solidFill>
                <a:effectLst>
                  <a:outerShdw blurRad="50000" dist="50800" dir="7500000" algn="tl">
                    <a:srgbClr val="000000">
                      <a:shade val="5000"/>
                      <a:alpha val="35000"/>
                    </a:srgbClr>
                  </a:outerShdw>
                </a:effectLst>
              </a:defRPr>
            </a:lvl1pPr>
          </a:lstStyle>
          <a:p>
            <a:pPr lvl="0"/>
            <a:r>
              <a:rPr lang="zh-TW" altLang="en-US" dirty="0" smtClean="0"/>
              <a:t>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XX章節">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1364512"/>
            <a:ext cx="8280000" cy="5160832"/>
          </a:xfrm>
        </p:spPr>
        <p:txBody>
          <a:bodyPr/>
          <a:lstStyle>
            <a:lvl1pPr>
              <a:defRPr sz="2800"/>
            </a:lvl1pPr>
            <a:lvl2pPr>
              <a:spcBef>
                <a:spcPts val="600"/>
              </a:spcBef>
              <a:defRPr kumimoji="0" lang="zh-TW" altLang="en-US" sz="2400" b="1" kern="1200" dirty="0" smtClean="0">
                <a:solidFill>
                  <a:schemeClr val="accent5">
                    <a:lumMod val="75000"/>
                  </a:schemeClr>
                </a:solidFill>
                <a:latin typeface="+mj-ea"/>
                <a:ea typeface="+mj-ea"/>
                <a:cs typeface="+mn-cs"/>
              </a:defRPr>
            </a:lvl2pPr>
            <a:lvl3pPr marL="0" indent="0">
              <a:spcBef>
                <a:spcPts val="600"/>
              </a:spcBef>
              <a:spcAft>
                <a:spcPts val="0"/>
              </a:spcAft>
              <a:defRPr kumimoji="0" lang="zh-TW" altLang="en-US" sz="2000" b="1" u="dottedHeavy" kern="1200" baseline="0" dirty="0" smtClean="0">
                <a:solidFill>
                  <a:srgbClr val="C67A48"/>
                </a:solidFill>
                <a:latin typeface="+mj-ea"/>
                <a:ea typeface="+mj-ea"/>
                <a:cs typeface="+mn-cs"/>
              </a:defRPr>
            </a:lvl3pPr>
            <a:lvl4pPr>
              <a:lnSpc>
                <a:spcPts val="2800"/>
              </a:lnSpc>
              <a:spcBef>
                <a:spcPts val="600"/>
              </a:spcBef>
              <a:spcAft>
                <a:spcPts val="0"/>
              </a:spcAft>
              <a:defRPr/>
            </a:lvl4pPr>
            <a:lvl5pPr>
              <a:lnSpc>
                <a:spcPts val="2800"/>
              </a:lnSpc>
              <a:defRPr/>
            </a:lvl5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7" name="群組 6"/>
          <p:cNvGrpSpPr/>
          <p:nvPr userDrawn="1"/>
        </p:nvGrpSpPr>
        <p:grpSpPr>
          <a:xfrm>
            <a:off x="8286776" y="6160557"/>
            <a:ext cx="579124" cy="652819"/>
            <a:chOff x="8286776" y="6160557"/>
            <a:chExt cx="579124" cy="652819"/>
          </a:xfrm>
        </p:grpSpPr>
        <p:sp>
          <p:nvSpPr>
            <p:cNvPr id="4" name="橢圓形圖說文字 3"/>
            <p:cNvSpPr/>
            <p:nvPr/>
          </p:nvSpPr>
          <p:spPr>
            <a:xfrm flipH="1">
              <a:off x="8286776" y="6160557"/>
              <a:ext cx="579124" cy="579126"/>
            </a:xfrm>
            <a:prstGeom prst="wedgeEllipseCallout">
              <a:avLst>
                <a:gd name="adj1" fmla="val -47623"/>
                <a:gd name="adj2" fmla="val 46426"/>
              </a:avLst>
            </a:prstGeom>
            <a:solidFill>
              <a:schemeClr val="tx1">
                <a:lumMod val="85000"/>
                <a:lumOff val="15000"/>
                <a:alpha val="9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6" name="文字方塊 5">
              <a:hlinkClick r:id="rId2" action="ppaction://hlinksldjump"/>
            </p:cNvPr>
            <p:cNvSpPr txBox="1"/>
            <p:nvPr/>
          </p:nvSpPr>
          <p:spPr>
            <a:xfrm>
              <a:off x="8316416" y="6167045"/>
              <a:ext cx="497475" cy="646331"/>
            </a:xfrm>
            <a:prstGeom prst="rect">
              <a:avLst/>
            </a:prstGeom>
            <a:noFill/>
          </p:spPr>
          <p:txBody>
            <a:bodyPr wrap="square" rtlCol="0">
              <a:spAutoFit/>
            </a:bodyPr>
            <a:lstStyle/>
            <a:p>
              <a:pPr>
                <a:lnSpc>
                  <a:spcPct val="100000"/>
                </a:lnSpc>
              </a:pPr>
              <a:r>
                <a:rPr lang="zh-TW" altLang="en-US" sz="2400" b="1" dirty="0" smtClean="0">
                  <a:solidFill>
                    <a:schemeClr val="accent3">
                      <a:lumMod val="20000"/>
                      <a:lumOff val="80000"/>
                    </a:schemeClr>
                  </a:solidFill>
                </a:rPr>
                <a:t>回</a:t>
              </a:r>
              <a:endParaRPr lang="en-US" altLang="zh-TW" sz="2400" b="1" dirty="0" smtClean="0">
                <a:solidFill>
                  <a:schemeClr val="accent3">
                    <a:lumMod val="20000"/>
                    <a:lumOff val="80000"/>
                  </a:schemeClr>
                </a:solidFill>
              </a:endParaRPr>
            </a:p>
            <a:p>
              <a:r>
                <a:rPr lang="zh-TW" altLang="en-US" sz="1800" b="1" baseline="20000" dirty="0" smtClean="0">
                  <a:solidFill>
                    <a:schemeClr val="accent3">
                      <a:lumMod val="20000"/>
                      <a:lumOff val="80000"/>
                    </a:schemeClr>
                  </a:solidFill>
                </a:rPr>
                <a:t>首頁</a:t>
              </a:r>
              <a:endParaRPr lang="zh-TW" altLang="en-US" sz="1800" b="1" baseline="20000" dirty="0">
                <a:solidFill>
                  <a:schemeClr val="accent3">
                    <a:lumMod val="20000"/>
                    <a:lumOff val="80000"/>
                  </a:schemeClr>
                </a:solidFill>
              </a:endParaRPr>
            </a:p>
          </p:txBody>
        </p:sp>
      </p:grpSp>
      <p:sp>
        <p:nvSpPr>
          <p:cNvPr id="8" name="標題版面配置區 21"/>
          <p:cNvSpPr>
            <a:spLocks noGrp="1"/>
          </p:cNvSpPr>
          <p:nvPr>
            <p:ph type="title"/>
          </p:nvPr>
        </p:nvSpPr>
        <p:spPr>
          <a:xfrm>
            <a:off x="422936" y="764704"/>
            <a:ext cx="8325528" cy="576064"/>
          </a:xfrm>
          <a:prstGeom prst="rect">
            <a:avLst/>
          </a:prstGeom>
        </p:spPr>
        <p:txBody>
          <a:bodyPr vert="horz" anchor="ctr">
            <a:normAutofit/>
          </a:bodyPr>
          <a:lstStyle>
            <a:lvl1pPr>
              <a:defRPr sz="2800"/>
            </a:lvl1pPr>
          </a:lstStyle>
          <a:p>
            <a:r>
              <a:rPr kumimoji="0" lang="zh-TW" altLang="en-US" dirty="0" smtClean="0"/>
              <a:t>按一下以編輯母片標題樣式</a:t>
            </a:r>
            <a:endParaRPr kumimoji="0" lang="en-US" dirty="0"/>
          </a:p>
        </p:txBody>
      </p:sp>
    </p:spTree>
    <p:extLst>
      <p:ext uri="{BB962C8B-B14F-4D97-AF65-F5344CB8AC3E}">
        <p14:creationId xmlns:p14="http://schemas.microsoft.com/office/powerpoint/2010/main" val="3570542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內文">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741600"/>
            <a:ext cx="8280000" cy="5760000"/>
          </a:xfrm>
        </p:spPr>
        <p:txBody>
          <a:bodyPr/>
          <a:lstStyle>
            <a:lvl1pPr>
              <a:defRPr sz="2800"/>
            </a:lvl1pPr>
            <a:lvl2pPr>
              <a:spcBef>
                <a:spcPts val="600"/>
              </a:spcBef>
              <a:defRPr kumimoji="0" lang="zh-TW" altLang="en-US" sz="2400" b="1" kern="1200" dirty="0" smtClean="0">
                <a:solidFill>
                  <a:schemeClr val="accent5">
                    <a:lumMod val="75000"/>
                  </a:schemeClr>
                </a:solidFill>
                <a:latin typeface="+mj-ea"/>
                <a:ea typeface="+mj-ea"/>
                <a:cs typeface="+mn-cs"/>
              </a:defRPr>
            </a:lvl2pPr>
            <a:lvl3pPr marL="0" indent="0">
              <a:spcBef>
                <a:spcPts val="600"/>
              </a:spcBef>
              <a:spcAft>
                <a:spcPts val="0"/>
              </a:spcAft>
              <a:defRPr kumimoji="0" lang="zh-TW" altLang="en-US" sz="2000" b="1" u="dottedHeavy" kern="1200" baseline="0" dirty="0" smtClean="0">
                <a:solidFill>
                  <a:srgbClr val="C67A48"/>
                </a:solidFill>
                <a:latin typeface="+mj-ea"/>
                <a:ea typeface="+mj-ea"/>
                <a:cs typeface="+mn-cs"/>
              </a:defRPr>
            </a:lvl3pPr>
            <a:lvl4pPr>
              <a:lnSpc>
                <a:spcPts val="2800"/>
              </a:lnSpc>
              <a:spcBef>
                <a:spcPts val="600"/>
              </a:spcBef>
              <a:spcAft>
                <a:spcPts val="0"/>
              </a:spcAft>
              <a:defRPr/>
            </a:lvl4pPr>
            <a:lvl5pPr>
              <a:lnSpc>
                <a:spcPts val="2800"/>
              </a:lnSpc>
              <a:defRPr/>
            </a:lvl5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extLst>
      <p:ext uri="{BB962C8B-B14F-4D97-AF65-F5344CB8AC3E}">
        <p14:creationId xmlns:p14="http://schemas.microsoft.com/office/powerpoint/2010/main" val="1482277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標題文字">
    <p:spTree>
      <p:nvGrpSpPr>
        <p:cNvPr id="1" name=""/>
        <p:cNvGrpSpPr/>
        <p:nvPr/>
      </p:nvGrpSpPr>
      <p:grpSpPr>
        <a:xfrm>
          <a:off x="0" y="0"/>
          <a:ext cx="0" cy="0"/>
          <a:chOff x="0" y="0"/>
          <a:chExt cx="0" cy="0"/>
        </a:xfrm>
      </p:grpSpPr>
      <p:sp>
        <p:nvSpPr>
          <p:cNvPr id="5" name="內容版面配置區 4"/>
          <p:cNvSpPr>
            <a:spLocks noGrp="1"/>
          </p:cNvSpPr>
          <p:nvPr>
            <p:ph sz="quarter" idx="10"/>
          </p:nvPr>
        </p:nvSpPr>
        <p:spPr>
          <a:xfrm>
            <a:off x="431999" y="741600"/>
            <a:ext cx="8280000" cy="5760000"/>
          </a:xfrm>
        </p:spPr>
        <p:txBody>
          <a:bodyPr/>
          <a:lstStyle>
            <a:lvl2pPr>
              <a:defRPr kumimoji="0" lang="zh-TW" altLang="en-US" sz="2800" b="1" kern="1200" dirty="0" smtClean="0">
                <a:solidFill>
                  <a:schemeClr val="accent5">
                    <a:lumMod val="75000"/>
                  </a:schemeClr>
                </a:solidFill>
                <a:latin typeface="+mj-ea"/>
                <a:ea typeface="+mj-ea"/>
                <a:cs typeface="+mn-cs"/>
              </a:defRPr>
            </a:lvl2pPr>
            <a:lvl3pPr marL="0" indent="0">
              <a:defRPr kumimoji="0" lang="zh-TW" altLang="en-US" sz="2500" b="1" u="dottedHeavy" kern="1200" baseline="0" dirty="0" smtClean="0">
                <a:solidFill>
                  <a:srgbClr val="C67A48"/>
                </a:solidFill>
                <a:latin typeface="+mj-ea"/>
                <a:ea typeface="+mj-ea"/>
                <a:cs typeface="+mn-cs"/>
              </a:defRPr>
            </a:lvl3pPr>
            <a:lvl4pPr>
              <a:spcAft>
                <a:spcPts val="200"/>
              </a:spcAft>
              <a:defRPr/>
            </a:lvl4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marL="360000" lvl="2" indent="-360000" algn="l" rtl="0" eaLnBrk="1" latinLnBrk="0" hangingPunct="1">
              <a:lnSpc>
                <a:spcPct val="100000"/>
              </a:lnSpc>
              <a:spcBef>
                <a:spcPts val="1200"/>
              </a:spcBef>
              <a:spcAft>
                <a:spcPts val="200"/>
              </a:spcAft>
              <a:buClr>
                <a:srgbClr val="AE2A7F"/>
              </a:buClr>
              <a:buSzPct val="90000"/>
              <a:buFontTx/>
              <a:buNone/>
            </a:pPr>
            <a:r>
              <a:rPr lang="zh-TW" altLang="en-US" dirty="0" smtClean="0"/>
              <a:t>第三層</a:t>
            </a:r>
          </a:p>
          <a:p>
            <a:pPr lvl="3"/>
            <a:r>
              <a:rPr lang="zh-TW" altLang="en-US" dirty="0" smtClean="0"/>
              <a:t>第四層</a:t>
            </a:r>
          </a:p>
          <a:p>
            <a:pPr lvl="4"/>
            <a:r>
              <a:rPr lang="zh-TW" altLang="en-US" dirty="0" smtClean="0"/>
              <a:t>第五層</a:t>
            </a:r>
            <a:endParaRPr lang="zh-TW" altLang="en-US" dirty="0"/>
          </a:p>
        </p:txBody>
      </p:sp>
      <p:grpSp>
        <p:nvGrpSpPr>
          <p:cNvPr id="7" name="群組 6"/>
          <p:cNvGrpSpPr/>
          <p:nvPr userDrawn="1"/>
        </p:nvGrpSpPr>
        <p:grpSpPr>
          <a:xfrm>
            <a:off x="8286776" y="6160557"/>
            <a:ext cx="579124" cy="652819"/>
            <a:chOff x="8286776" y="6160557"/>
            <a:chExt cx="579124" cy="652819"/>
          </a:xfrm>
        </p:grpSpPr>
        <p:sp>
          <p:nvSpPr>
            <p:cNvPr id="4" name="橢圓形圖說文字 3"/>
            <p:cNvSpPr/>
            <p:nvPr/>
          </p:nvSpPr>
          <p:spPr>
            <a:xfrm flipH="1">
              <a:off x="8286776" y="6160557"/>
              <a:ext cx="579124" cy="579126"/>
            </a:xfrm>
            <a:prstGeom prst="wedgeEllipseCallout">
              <a:avLst>
                <a:gd name="adj1" fmla="val -47623"/>
                <a:gd name="adj2" fmla="val 46426"/>
              </a:avLst>
            </a:prstGeom>
            <a:solidFill>
              <a:srgbClr val="786CAE">
                <a:alpha val="9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6" name="文字方塊 5">
              <a:hlinkClick r:id="rId2" action="ppaction://hlinksldjump"/>
            </p:cNvPr>
            <p:cNvSpPr txBox="1"/>
            <p:nvPr/>
          </p:nvSpPr>
          <p:spPr>
            <a:xfrm>
              <a:off x="8327600" y="6167045"/>
              <a:ext cx="497475" cy="646331"/>
            </a:xfrm>
            <a:prstGeom prst="rect">
              <a:avLst/>
            </a:prstGeom>
            <a:noFill/>
          </p:spPr>
          <p:txBody>
            <a:bodyPr wrap="square" rtlCol="0">
              <a:spAutoFit/>
            </a:bodyPr>
            <a:lstStyle/>
            <a:p>
              <a:pPr>
                <a:lnSpc>
                  <a:spcPct val="100000"/>
                </a:lnSpc>
              </a:pPr>
              <a:r>
                <a:rPr lang="zh-TW" altLang="en-US" sz="2400" b="1" dirty="0" smtClean="0">
                  <a:solidFill>
                    <a:schemeClr val="accent3">
                      <a:lumMod val="20000"/>
                      <a:lumOff val="80000"/>
                    </a:schemeClr>
                  </a:solidFill>
                </a:rPr>
                <a:t>回</a:t>
              </a:r>
              <a:endParaRPr lang="en-US" altLang="zh-TW" sz="2400" b="1" dirty="0" smtClean="0">
                <a:solidFill>
                  <a:schemeClr val="accent3">
                    <a:lumMod val="20000"/>
                    <a:lumOff val="80000"/>
                  </a:schemeClr>
                </a:solidFill>
              </a:endParaRPr>
            </a:p>
            <a:p>
              <a:r>
                <a:rPr lang="zh-TW" altLang="en-US" sz="1800" b="1" baseline="20000" dirty="0" smtClean="0">
                  <a:solidFill>
                    <a:schemeClr val="accent3">
                      <a:lumMod val="20000"/>
                      <a:lumOff val="80000"/>
                    </a:schemeClr>
                  </a:solidFill>
                </a:rPr>
                <a:t>首頁</a:t>
              </a:r>
              <a:endParaRPr lang="zh-TW" altLang="en-US" sz="1800" b="1" baseline="20000" dirty="0">
                <a:solidFill>
                  <a:schemeClr val="accent3">
                    <a:lumMod val="20000"/>
                    <a:lumOff val="80000"/>
                  </a:schemeClr>
                </a:solidFill>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2000" y="1100834"/>
            <a:ext cx="8280000" cy="5400000"/>
          </a:xfrm>
        </p:spPr>
        <p:txBody>
          <a:bodyPr/>
          <a:lstStyle>
            <a:lvl2pPr>
              <a:defRPr kumimoji="0" lang="zh-TW" altLang="en-US" sz="2800" b="1" kern="1200" dirty="0" smtClean="0">
                <a:solidFill>
                  <a:schemeClr val="accent5">
                    <a:lumMod val="75000"/>
                  </a:schemeClr>
                </a:solidFill>
                <a:latin typeface="+mj-ea"/>
                <a:ea typeface="+mj-ea"/>
                <a:cs typeface="+mn-cs"/>
              </a:defRPr>
            </a:lvl2pPr>
            <a:lvl3pPr>
              <a:defRPr>
                <a:solidFill>
                  <a:srgbClr val="C67A48"/>
                </a:solidFill>
              </a:defRPr>
            </a:lvl3pPr>
            <a:lvl4pPr>
              <a:spcAft>
                <a:spcPts val="200"/>
              </a:spcAft>
              <a:defRPr/>
            </a:lvl4pPr>
          </a:lstStyle>
          <a:p>
            <a:pPr lvl="0"/>
            <a:r>
              <a:rPr lang="zh-TW" altLang="en-US" dirty="0" smtClean="0"/>
              <a:t>按一下以編輯母片文字樣式</a:t>
            </a:r>
          </a:p>
          <a:p>
            <a:pPr marL="0" lvl="1" indent="0" algn="l" rtl="0" eaLnBrk="1" latinLnBrk="0" hangingPunct="1">
              <a:lnSpc>
                <a:spcPct val="100000"/>
              </a:lnSpc>
              <a:spcBef>
                <a:spcPts val="1200"/>
              </a:spcBef>
              <a:buClr>
                <a:schemeClr val="accent3">
                  <a:lumMod val="75000"/>
                </a:schemeClr>
              </a:buClr>
              <a:buSzPct val="90000"/>
              <a:buFontTx/>
              <a:buNone/>
            </a:pPr>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標題文字_雙欄">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1999" y="648000"/>
            <a:ext cx="4067993" cy="576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5" name="內容版面配置區 4"/>
          <p:cNvSpPr>
            <a:spLocks noGrp="1"/>
          </p:cNvSpPr>
          <p:nvPr>
            <p:ph sz="quarter" idx="11"/>
          </p:nvPr>
        </p:nvSpPr>
        <p:spPr>
          <a:xfrm>
            <a:off x="4572000" y="648000"/>
            <a:ext cx="3960812" cy="576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_雙欄">
    <p:spTree>
      <p:nvGrpSpPr>
        <p:cNvPr id="1" name=""/>
        <p:cNvGrpSpPr/>
        <p:nvPr/>
      </p:nvGrpSpPr>
      <p:grpSpPr>
        <a:xfrm>
          <a:off x="0" y="0"/>
          <a:ext cx="0" cy="0"/>
          <a:chOff x="0" y="0"/>
          <a:chExt cx="0" cy="0"/>
        </a:xfrm>
      </p:grpSpPr>
      <p:sp>
        <p:nvSpPr>
          <p:cNvPr id="4" name="內容版面配置區 3"/>
          <p:cNvSpPr>
            <a:spLocks noGrp="1"/>
          </p:cNvSpPr>
          <p:nvPr>
            <p:ph sz="quarter" idx="10"/>
          </p:nvPr>
        </p:nvSpPr>
        <p:spPr>
          <a:xfrm>
            <a:off x="432000" y="1007999"/>
            <a:ext cx="4067992" cy="540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5" name="內容版面配置區 4"/>
          <p:cNvSpPr>
            <a:spLocks noGrp="1"/>
          </p:cNvSpPr>
          <p:nvPr>
            <p:ph sz="quarter" idx="11"/>
          </p:nvPr>
        </p:nvSpPr>
        <p:spPr>
          <a:xfrm>
            <a:off x="4572000" y="1008000"/>
            <a:ext cx="3960000" cy="5400000"/>
          </a:xfrm>
        </p:spPr>
        <p:txBody>
          <a:bodyPr/>
          <a:lstStyle>
            <a:lvl2pPr>
              <a:defRPr>
                <a:solidFill>
                  <a:schemeClr val="accent5">
                    <a:lumMod val="75000"/>
                  </a:schemeClr>
                </a:solidFill>
              </a:defRPr>
            </a:lvl2pPr>
            <a:lvl3pPr>
              <a:defRPr>
                <a:solidFill>
                  <a:srgbClr val="00B050"/>
                </a:solidFill>
              </a:defRPr>
            </a:lvl3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範例">
    <p:spTree>
      <p:nvGrpSpPr>
        <p:cNvPr id="1" name=""/>
        <p:cNvGrpSpPr/>
        <p:nvPr/>
      </p:nvGrpSpPr>
      <p:grpSpPr>
        <a:xfrm>
          <a:off x="0" y="0"/>
          <a:ext cx="0" cy="0"/>
          <a:chOff x="0" y="0"/>
          <a:chExt cx="0" cy="0"/>
        </a:xfrm>
      </p:grpSpPr>
      <p:sp>
        <p:nvSpPr>
          <p:cNvPr id="7" name="內容版面配置區 6"/>
          <p:cNvSpPr>
            <a:spLocks noGrp="1"/>
          </p:cNvSpPr>
          <p:nvPr>
            <p:ph sz="quarter" idx="13"/>
          </p:nvPr>
        </p:nvSpPr>
        <p:spPr>
          <a:xfrm>
            <a:off x="539750" y="1268072"/>
            <a:ext cx="8064500" cy="1728880"/>
          </a:xfrm>
          <a:ln w="19050" cmpd="sng">
            <a:gradFill>
              <a:gsLst>
                <a:gs pos="0">
                  <a:schemeClr val="bg1"/>
                </a:gs>
                <a:gs pos="68000">
                  <a:srgbClr val="EB5405"/>
                </a:gs>
                <a:gs pos="100000">
                  <a:srgbClr val="EB5405"/>
                </a:gs>
              </a:gsLst>
              <a:lin ang="4200000" scaled="0"/>
            </a:gradFill>
          </a:ln>
        </p:spPr>
        <p:txBody>
          <a:bodyPr wrap="square" lIns="252000" tIns="360000" rIns="180000" bIns="72000">
            <a:noAutofit/>
          </a:bodyPr>
          <a:lstStyle>
            <a:lvl1pPr>
              <a:lnSpc>
                <a:spcPts val="2400"/>
              </a:lnSpc>
              <a:spcBef>
                <a:spcPts val="600"/>
              </a:spcBef>
              <a:defRPr sz="1800" b="0">
                <a:solidFill>
                  <a:schemeClr val="tx1"/>
                </a:solidFill>
              </a:defRPr>
            </a:lvl1pPr>
            <a:lvl2pPr>
              <a:spcBef>
                <a:spcPts val="0"/>
              </a:spcBef>
              <a:defRPr/>
            </a:lvl2pPr>
            <a:lvl3pPr>
              <a:spcBef>
                <a:spcPts val="0"/>
              </a:spcBef>
              <a:defRPr/>
            </a:lvl3pPr>
          </a:lstStyle>
          <a:p>
            <a:pPr lvl="0"/>
            <a:r>
              <a:rPr lang="zh-TW" altLang="en-US" dirty="0" smtClean="0"/>
              <a:t>按一下以編輯母片文字樣式</a:t>
            </a:r>
          </a:p>
        </p:txBody>
      </p:sp>
      <p:sp>
        <p:nvSpPr>
          <p:cNvPr id="6" name="文字版面配置區 8"/>
          <p:cNvSpPr>
            <a:spLocks noGrp="1"/>
          </p:cNvSpPr>
          <p:nvPr>
            <p:ph type="body" sz="quarter" idx="12"/>
          </p:nvPr>
        </p:nvSpPr>
        <p:spPr>
          <a:xfrm>
            <a:off x="467544" y="987970"/>
            <a:ext cx="4383998" cy="488201"/>
          </a:xfrm>
          <a:gradFill flip="none" rotWithShape="1">
            <a:gsLst>
              <a:gs pos="0">
                <a:schemeClr val="bg1"/>
              </a:gs>
              <a:gs pos="50000">
                <a:srgbClr val="EB5405"/>
              </a:gs>
              <a:gs pos="100000">
                <a:schemeClr val="accent6"/>
              </a:gs>
            </a:gsLst>
            <a:lin ang="14400000" scaled="0"/>
            <a:tileRect/>
          </a:gradFill>
          <a:ln w="19050"/>
        </p:spPr>
        <p:style>
          <a:lnRef idx="3">
            <a:schemeClr val="lt1"/>
          </a:lnRef>
          <a:fillRef idx="1">
            <a:schemeClr val="accent1"/>
          </a:fillRef>
          <a:effectRef idx="1">
            <a:schemeClr val="accent1"/>
          </a:effectRef>
          <a:fontRef idx="none"/>
        </p:style>
        <p:txBody>
          <a:bodyPr wrap="none" lIns="180000" tIns="72000" rIns="540000" anchor="ctr">
            <a:spAutoFit/>
          </a:bodyPr>
          <a:lstStyle>
            <a:lvl1pPr algn="l">
              <a:lnSpc>
                <a:spcPct val="100000"/>
              </a:lnSpc>
              <a:spcBef>
                <a:spcPts val="0"/>
              </a:spcBef>
              <a:defRPr sz="2400" b="1" i="0" u="none" baseline="0">
                <a:solidFill>
                  <a:schemeClr val="bg1"/>
                </a:solidFill>
                <a:latin typeface="Arial Black" pitchFamily="34" charset="0"/>
                <a:ea typeface="+mj-ea"/>
              </a:defRPr>
            </a:lvl1pPr>
          </a:lstStyle>
          <a:p>
            <a:pPr lvl="0"/>
            <a:r>
              <a:rPr lang="zh-TW" altLang="en-US" dirty="0" smtClean="0"/>
              <a:t>按一下以編輯母片文字樣式</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圖示">
    <p:spTree>
      <p:nvGrpSpPr>
        <p:cNvPr id="1" name=""/>
        <p:cNvGrpSpPr/>
        <p:nvPr/>
      </p:nvGrpSpPr>
      <p:grpSpPr>
        <a:xfrm>
          <a:off x="0" y="0"/>
          <a:ext cx="0" cy="0"/>
          <a:chOff x="0" y="0"/>
          <a:chExt cx="0" cy="0"/>
        </a:xfrm>
      </p:grpSpPr>
      <p:sp>
        <p:nvSpPr>
          <p:cNvPr id="7" name="內容版面配置區 6"/>
          <p:cNvSpPr>
            <a:spLocks noGrp="1"/>
          </p:cNvSpPr>
          <p:nvPr>
            <p:ph sz="quarter" idx="13"/>
          </p:nvPr>
        </p:nvSpPr>
        <p:spPr>
          <a:xfrm>
            <a:off x="539750" y="1484784"/>
            <a:ext cx="8064500" cy="3036931"/>
          </a:xfrm>
          <a:ln w="19050" cmpd="sng">
            <a:gradFill>
              <a:gsLst>
                <a:gs pos="0">
                  <a:schemeClr val="bg1"/>
                </a:gs>
                <a:gs pos="68000">
                  <a:srgbClr val="BE2856"/>
                </a:gs>
                <a:gs pos="100000">
                  <a:srgbClr val="3D3B5F"/>
                </a:gs>
              </a:gsLst>
              <a:lin ang="4200000" scaled="0"/>
            </a:gradFill>
          </a:ln>
        </p:spPr>
        <p:txBody>
          <a:bodyPr lIns="252000" tIns="360000" rIns="180000" bIns="72000">
            <a:spAutoFit/>
          </a:bodyPr>
          <a:lstStyle>
            <a:lvl1pPr>
              <a:lnSpc>
                <a:spcPts val="2400"/>
              </a:lnSpc>
              <a:defRPr sz="2200" b="0">
                <a:solidFill>
                  <a:schemeClr val="tx1"/>
                </a:solidFill>
              </a:defRPr>
            </a:lvl1pPr>
            <a:lvl2pPr>
              <a:defRPr>
                <a:solidFill>
                  <a:srgbClr val="8FC320"/>
                </a:solidFill>
              </a:defRPr>
            </a:lvl2pPr>
            <a:lvl3pPr>
              <a:defRPr>
                <a:solidFill>
                  <a:srgbClr val="00B050"/>
                </a:solidFill>
              </a:defRPr>
            </a:lvl3pPr>
            <a:lvl5pPr>
              <a:buClr>
                <a:srgbClr val="B5D14F"/>
              </a:buClr>
              <a:buFont typeface="Wingdings" pitchFamily="2" charset="2"/>
              <a:buChar char="n"/>
              <a:defRPr/>
            </a:lvl5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en-US" altLang="zh-TW" dirty="0" smtClean="0"/>
          </a:p>
          <a:p>
            <a:pPr lvl="4"/>
            <a:endParaRPr lang="zh-TW" altLang="en-US" dirty="0"/>
          </a:p>
        </p:txBody>
      </p:sp>
      <p:sp>
        <p:nvSpPr>
          <p:cNvPr id="6" name="文字版面配置區 8"/>
          <p:cNvSpPr>
            <a:spLocks noGrp="1"/>
          </p:cNvSpPr>
          <p:nvPr>
            <p:ph type="body" sz="quarter" idx="12"/>
          </p:nvPr>
        </p:nvSpPr>
        <p:spPr>
          <a:xfrm>
            <a:off x="467544" y="1196753"/>
            <a:ext cx="4680520" cy="504056"/>
          </a:xfrm>
          <a:gradFill flip="none" rotWithShape="1">
            <a:gsLst>
              <a:gs pos="0">
                <a:schemeClr val="bg1"/>
              </a:gs>
              <a:gs pos="50000">
                <a:srgbClr val="BE2856"/>
              </a:gs>
              <a:gs pos="100000">
                <a:srgbClr val="3D3B5F"/>
              </a:gs>
            </a:gsLst>
            <a:lin ang="14400000" scaled="0"/>
            <a:tileRect/>
          </a:gradFill>
        </p:spPr>
        <p:style>
          <a:lnRef idx="3">
            <a:schemeClr val="lt1"/>
          </a:lnRef>
          <a:fillRef idx="1">
            <a:schemeClr val="accent1"/>
          </a:fillRef>
          <a:effectRef idx="1">
            <a:schemeClr val="accent1"/>
          </a:effectRef>
          <a:fontRef idx="none"/>
        </p:style>
        <p:txBody>
          <a:bodyPr lIns="180000" tIns="72000" anchor="ctr">
            <a:noAutofit/>
          </a:bodyPr>
          <a:lstStyle>
            <a:lvl1pPr algn="l">
              <a:lnSpc>
                <a:spcPct val="100000"/>
              </a:lnSpc>
              <a:spcBef>
                <a:spcPts val="0"/>
              </a:spcBef>
              <a:defRPr sz="2800" b="1" i="0" u="none" baseline="0">
                <a:solidFill>
                  <a:schemeClr val="bg1"/>
                </a:solidFill>
                <a:latin typeface="Arial Black" pitchFamily="34" charset="0"/>
                <a:ea typeface="+mj-ea"/>
              </a:defRPr>
            </a:lvl1pPr>
          </a:lstStyle>
          <a:p>
            <a:pPr lvl="0"/>
            <a:r>
              <a:rPr lang="zh-TW" altLang="en-US" dirty="0" smtClean="0"/>
              <a:t>按一下以編輯母片文字樣式</a:t>
            </a:r>
          </a:p>
        </p:txBody>
      </p:sp>
      <p:grpSp>
        <p:nvGrpSpPr>
          <p:cNvPr id="17" name="群組 16"/>
          <p:cNvGrpSpPr/>
          <p:nvPr userDrawn="1"/>
        </p:nvGrpSpPr>
        <p:grpSpPr>
          <a:xfrm>
            <a:off x="642412" y="6200929"/>
            <a:ext cx="1049268" cy="503533"/>
            <a:chOff x="899592" y="6237835"/>
            <a:chExt cx="1049268" cy="503533"/>
          </a:xfrm>
        </p:grpSpPr>
        <p:sp>
          <p:nvSpPr>
            <p:cNvPr id="18" name="弧形向右箭號 17"/>
            <p:cNvSpPr/>
            <p:nvPr/>
          </p:nvSpPr>
          <p:spPr>
            <a:xfrm rot="612716">
              <a:off x="899592" y="6237835"/>
              <a:ext cx="440592" cy="503533"/>
            </a:xfrm>
            <a:prstGeom prst="curvedRightArrow">
              <a:avLst/>
            </a:prstGeom>
            <a:gradFill>
              <a:gsLst>
                <a:gs pos="0">
                  <a:schemeClr val="bg1"/>
                </a:gs>
                <a:gs pos="50000">
                  <a:srgbClr val="BE2856"/>
                </a:gs>
                <a:gs pos="100000">
                  <a:srgbClr val="3D3B5F"/>
                </a:gs>
              </a:gsLst>
              <a:lin ang="3600000" scaled="0"/>
            </a:gra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9" name="文字方塊 18"/>
            <p:cNvSpPr txBox="1"/>
            <p:nvPr/>
          </p:nvSpPr>
          <p:spPr>
            <a:xfrm>
              <a:off x="940748" y="6304512"/>
              <a:ext cx="1008112" cy="307777"/>
            </a:xfrm>
            <a:prstGeom prst="rect">
              <a:avLst/>
            </a:prstGeom>
            <a:noFill/>
            <a:effectLst>
              <a:outerShdw blurRad="50800" dist="38100" dir="2700000" algn="tl" rotWithShape="0">
                <a:prstClr val="black">
                  <a:alpha val="40000"/>
                </a:prstClr>
              </a:outerShdw>
            </a:effectLst>
            <a:scene3d>
              <a:camera prst="orthographicFront"/>
              <a:lightRig rig="threePt" dir="t"/>
            </a:scene3d>
            <a:sp3d>
              <a:bevelT prst="relaxedInset"/>
            </a:sp3d>
          </p:spPr>
          <p:txBody>
            <a:bodyPr wrap="square" rtlCol="0">
              <a:spAutoFit/>
            </a:bodyPr>
            <a:lstStyle/>
            <a:p>
              <a:r>
                <a:rPr lang="zh-TW" altLang="en-US" sz="1400" b="1" dirty="0" smtClean="0">
                  <a:solidFill>
                    <a:srgbClr val="3D3B5F"/>
                  </a:solidFill>
                </a:rPr>
                <a:t>續下頁</a:t>
              </a:r>
              <a:endParaRPr lang="zh-TW" altLang="en-US" sz="1400" b="1" dirty="0">
                <a:solidFill>
                  <a:srgbClr val="3D3B5F"/>
                </a:solidFill>
              </a:endParaRPr>
            </a:p>
          </p:txBody>
        </p:sp>
      </p:grpSp>
      <p:cxnSp>
        <p:nvCxnSpPr>
          <p:cNvPr id="8" name="直線單箭頭接點 7"/>
          <p:cNvCxnSpPr/>
          <p:nvPr userDrawn="1"/>
        </p:nvCxnSpPr>
        <p:spPr>
          <a:xfrm>
            <a:off x="1979712" y="6021288"/>
            <a:ext cx="360040" cy="648072"/>
          </a:xfrm>
          <a:prstGeom prst="straightConnector1">
            <a:avLst/>
          </a:prstGeom>
          <a:ln>
            <a:solidFill>
              <a:srgbClr val="BE2856"/>
            </a:solidFill>
            <a:tailEnd type="arrow"/>
          </a:ln>
        </p:spPr>
        <p:style>
          <a:lnRef idx="3">
            <a:schemeClr val="accent2"/>
          </a:lnRef>
          <a:fillRef idx="0">
            <a:schemeClr val="accent2"/>
          </a:fillRef>
          <a:effectRef idx="2">
            <a:schemeClr val="accent2"/>
          </a:effectRef>
          <a:fontRef idx="minor">
            <a:schemeClr val="tx1"/>
          </a:fontRef>
        </p:style>
      </p:cxnSp>
      <p:cxnSp>
        <p:nvCxnSpPr>
          <p:cNvPr id="9" name="直線接點 8"/>
          <p:cNvCxnSpPr/>
          <p:nvPr userDrawn="1"/>
        </p:nvCxnSpPr>
        <p:spPr>
          <a:xfrm>
            <a:off x="2627784" y="6237312"/>
            <a:ext cx="2232248" cy="0"/>
          </a:xfrm>
          <a:prstGeom prst="line">
            <a:avLst/>
          </a:prstGeom>
          <a:ln w="38100" cmpd="sng">
            <a:solidFill>
              <a:srgbClr val="BE2856"/>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a:off x="5292080" y="5949280"/>
            <a:ext cx="360040" cy="432048"/>
          </a:xfrm>
          <a:prstGeom prst="rect">
            <a:avLst/>
          </a:prstGeom>
          <a:solidFill>
            <a:srgbClr val="4679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userDrawn="1"/>
        </p:nvSpPr>
        <p:spPr>
          <a:xfrm>
            <a:off x="5868144" y="5949280"/>
            <a:ext cx="360040" cy="432048"/>
          </a:xfrm>
          <a:prstGeom prst="rect">
            <a:avLst/>
          </a:prstGeom>
          <a:solidFill>
            <a:srgbClr val="8F3B8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6" name="群組 15"/>
          <p:cNvGrpSpPr/>
          <p:nvPr userDrawn="1"/>
        </p:nvGrpSpPr>
        <p:grpSpPr>
          <a:xfrm>
            <a:off x="6732240" y="5605200"/>
            <a:ext cx="579124" cy="646331"/>
            <a:chOff x="6732240" y="5605200"/>
            <a:chExt cx="579124" cy="646331"/>
          </a:xfrm>
          <a:solidFill>
            <a:srgbClr val="8FC320"/>
          </a:solidFill>
        </p:grpSpPr>
        <p:sp>
          <p:nvSpPr>
            <p:cNvPr id="12" name="橢圓形圖說文字 11"/>
            <p:cNvSpPr/>
            <p:nvPr userDrawn="1"/>
          </p:nvSpPr>
          <p:spPr>
            <a:xfrm flipH="1">
              <a:off x="6732240" y="5622113"/>
              <a:ext cx="579124" cy="579126"/>
            </a:xfrm>
            <a:prstGeom prst="wedgeEllipseCallout">
              <a:avLst>
                <a:gd name="adj1" fmla="val -47623"/>
                <a:gd name="adj2" fmla="val 4642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B5D14F"/>
                </a:solidFill>
              </a:endParaRPr>
            </a:p>
          </p:txBody>
        </p:sp>
        <p:sp>
          <p:nvSpPr>
            <p:cNvPr id="13" name="文字方塊 12"/>
            <p:cNvSpPr txBox="1"/>
            <p:nvPr userDrawn="1"/>
          </p:nvSpPr>
          <p:spPr>
            <a:xfrm>
              <a:off x="6778800" y="5605200"/>
              <a:ext cx="497475" cy="646331"/>
            </a:xfrm>
            <a:prstGeom prst="rect">
              <a:avLst/>
            </a:prstGeom>
            <a:noFill/>
          </p:spPr>
          <p:txBody>
            <a:bodyPr wrap="square" rtlCol="0">
              <a:spAutoFit/>
            </a:bodyPr>
            <a:lstStyle/>
            <a:p>
              <a:pPr>
                <a:lnSpc>
                  <a:spcPct val="100000"/>
                </a:lnSpc>
              </a:pPr>
              <a:r>
                <a:rPr lang="zh-TW" altLang="en-US" sz="2400" b="1" dirty="0" smtClean="0">
                  <a:solidFill>
                    <a:schemeClr val="bg2"/>
                  </a:solidFill>
                </a:rPr>
                <a:t>回</a:t>
              </a:r>
              <a:endParaRPr lang="en-US" altLang="zh-TW" sz="2400" b="1" dirty="0" smtClean="0">
                <a:solidFill>
                  <a:schemeClr val="bg2"/>
                </a:solidFill>
              </a:endParaRPr>
            </a:p>
            <a:p>
              <a:r>
                <a:rPr lang="zh-TW" altLang="en-US" sz="1800" b="1" baseline="20000" dirty="0" smtClean="0">
                  <a:solidFill>
                    <a:schemeClr val="bg2"/>
                  </a:solidFill>
                </a:rPr>
                <a:t>首頁</a:t>
              </a:r>
              <a:endParaRPr lang="zh-TW" altLang="en-US" sz="1800" b="1" baseline="20000" dirty="0">
                <a:solidFill>
                  <a:schemeClr val="bg2"/>
                </a:solidFill>
              </a:endParaRPr>
            </a:p>
          </p:txBody>
        </p:sp>
      </p:grpSp>
      <p:sp>
        <p:nvSpPr>
          <p:cNvPr id="20" name="文字版面配置區 4"/>
          <p:cNvSpPr>
            <a:spLocks noGrp="1"/>
          </p:cNvSpPr>
          <p:nvPr>
            <p:ph type="body" sz="quarter" idx="10"/>
          </p:nvPr>
        </p:nvSpPr>
        <p:spPr>
          <a:xfrm>
            <a:off x="7668344" y="6021288"/>
            <a:ext cx="1249200" cy="468000"/>
          </a:xfrm>
          <a:gradFill>
            <a:gsLst>
              <a:gs pos="0">
                <a:schemeClr val="bg1"/>
              </a:gs>
              <a:gs pos="50000">
                <a:srgbClr val="BE2856"/>
              </a:gs>
              <a:gs pos="100000">
                <a:srgbClr val="3D3B5F"/>
              </a:gs>
            </a:gsLst>
            <a:lin ang="3600000" scaled="0"/>
          </a:gradFill>
          <a:ln>
            <a:solidFill>
              <a:schemeClr val="bg1"/>
            </a:solidFill>
          </a:ln>
          <a:effectLst>
            <a:outerShdw blurRad="25400" dist="12700" dir="13500000" algn="br" rotWithShape="0">
              <a:prstClr val="black">
                <a:alpha val="40000"/>
              </a:prstClr>
            </a:outerShdw>
          </a:effectLst>
        </p:spPr>
        <p:txBody>
          <a:bodyPr lIns="90000" tIns="0">
            <a:noAutofit/>
          </a:bodyPr>
          <a:lstStyle>
            <a:lvl1pPr algn="r">
              <a:spcBef>
                <a:spcPts val="0"/>
              </a:spcBef>
              <a:defRPr sz="1600">
                <a:solidFill>
                  <a:schemeClr val="bg1"/>
                </a:solidFill>
              </a:defRPr>
            </a:lvl1pPr>
          </a:lstStyle>
          <a:p>
            <a:pPr lvl="0"/>
            <a:r>
              <a:rPr lang="zh-TW" altLang="en-US" dirty="0" smtClean="0"/>
              <a:t>按一下以編輯母片文字</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609600" y="836712"/>
            <a:ext cx="8153400" cy="576064"/>
          </a:xfrm>
          <a:prstGeom prst="rect">
            <a:avLst/>
          </a:prstGeom>
        </p:spPr>
        <p:txBody>
          <a:bodyPr vert="horz" anchor="ctr">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612648" y="1484784"/>
            <a:ext cx="8153400" cy="4526280"/>
          </a:xfrm>
          <a:prstGeom prst="rect">
            <a:avLst/>
          </a:prstGeom>
        </p:spPr>
        <p:txBody>
          <a:bodyPr vert="horz">
            <a:no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endParaRPr kumimoji="0" lang="en-US" altLang="zh-TW" dirty="0" smtClean="0"/>
          </a:p>
          <a:p>
            <a:pPr lvl="4" eaLnBrk="1" latinLnBrk="0" hangingPunct="1"/>
            <a:r>
              <a:rPr kumimoji="0" lang="zh-TW" altLang="en-US" dirty="0" smtClean="0"/>
              <a:t>第五層</a:t>
            </a:r>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a:p>
            <a:pPr lvl="6" eaLnBrk="1" latinLnBrk="0" hangingPunct="1"/>
            <a:endParaRPr kumimoji="0" lang="en-US" altLang="zh-TW" dirty="0" smtClean="0"/>
          </a:p>
          <a:p>
            <a:pPr lvl="5" eaLnBrk="1" latinLnBrk="0" hangingPunct="1"/>
            <a:endParaRPr kumimoji="0" lang="en-US" altLang="zh-TW" dirty="0" smtClean="0"/>
          </a:p>
          <a:p>
            <a:pPr lvl="5" eaLnBrk="1" latinLnBrk="0" hangingPunct="1"/>
            <a:endParaRPr kumimoji="0" lang="en-US" altLang="zh-TW" dirty="0" smtClean="0"/>
          </a:p>
        </p:txBody>
      </p:sp>
    </p:spTree>
  </p:cSld>
  <p:clrMap bg1="lt1" tx1="dk1" bg2="lt2" tx2="dk2" accent1="accent1" accent2="accent2" accent3="accent3" accent4="accent4" accent5="accent5" accent6="accent6" hlink="hlink" folHlink="folHlink"/>
  <p:sldLayoutIdLst>
    <p:sldLayoutId id="2147483672" r:id="rId1"/>
    <p:sldLayoutId id="2147483678" r:id="rId2"/>
    <p:sldLayoutId id="2147483694" r:id="rId3"/>
    <p:sldLayoutId id="2147483693" r:id="rId4"/>
    <p:sldLayoutId id="2147483682" r:id="rId5"/>
    <p:sldLayoutId id="2147483677" r:id="rId6"/>
    <p:sldLayoutId id="2147483691" r:id="rId7"/>
    <p:sldLayoutId id="2147483692" r:id="rId8"/>
    <p:sldLayoutId id="2147483684" r:id="rId9"/>
    <p:sldLayoutId id="2147483690" r:id="rId10"/>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marL="216000" indent="-216000" algn="l" rtl="0" eaLnBrk="1" latinLnBrk="0" hangingPunct="1">
        <a:lnSpc>
          <a:spcPts val="3400"/>
        </a:lnSpc>
        <a:spcBef>
          <a:spcPct val="0"/>
        </a:spcBef>
        <a:buSzPct val="80000"/>
        <a:buFontTx/>
        <a:buNone/>
        <a:defRPr kumimoji="0" sz="3200" b="1" u="none" kern="1200" baseline="0">
          <a:solidFill>
            <a:schemeClr val="tx1">
              <a:lumMod val="65000"/>
              <a:lumOff val="35000"/>
            </a:schemeClr>
          </a:solidFill>
          <a:latin typeface="Arial" pitchFamily="34" charset="0"/>
          <a:ea typeface="+mj-ea"/>
          <a:cs typeface="+mj-cs"/>
        </a:defRPr>
      </a:lvl1pPr>
    </p:titleStyle>
    <p:bodyStyle>
      <a:lvl1pPr marL="0" indent="0" algn="l" rtl="0" eaLnBrk="1" latinLnBrk="0" hangingPunct="1">
        <a:lnSpc>
          <a:spcPct val="150000"/>
        </a:lnSpc>
        <a:spcBef>
          <a:spcPts val="0"/>
        </a:spcBef>
        <a:buClr>
          <a:schemeClr val="accent3">
            <a:lumMod val="75000"/>
          </a:schemeClr>
        </a:buClr>
        <a:buSzPct val="100000"/>
        <a:buFontTx/>
        <a:buNone/>
        <a:defRPr kumimoji="0" sz="32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sz="2800" b="1" kern="1200">
          <a:solidFill>
            <a:srgbClr val="8FC320"/>
          </a:solidFill>
          <a:latin typeface="+mj-ea"/>
          <a:ea typeface="+mj-ea"/>
          <a:cs typeface="+mn-cs"/>
        </a:defRPr>
      </a:lvl2pPr>
      <a:lvl3pPr marL="360000" indent="-360000" algn="l" rtl="0" eaLnBrk="1" latinLnBrk="0" hangingPunct="1">
        <a:lnSpc>
          <a:spcPct val="100000"/>
        </a:lnSpc>
        <a:spcBef>
          <a:spcPts val="1200"/>
        </a:spcBef>
        <a:spcAft>
          <a:spcPts val="200"/>
        </a:spcAft>
        <a:buClr>
          <a:srgbClr val="AE2A7F"/>
        </a:buClr>
        <a:buSzPct val="90000"/>
        <a:buFontTx/>
        <a:buNone/>
        <a:defRPr kumimoji="0" sz="2500" b="1" u="dottedHeavy" kern="1200" baseline="0">
          <a:solidFill>
            <a:srgbClr val="C67A48"/>
          </a:solidFill>
          <a:latin typeface="+mj-ea"/>
          <a:ea typeface="+mj-ea"/>
          <a:cs typeface="+mn-cs"/>
        </a:defRPr>
      </a:lvl3pPr>
      <a:lvl4pPr marL="0" indent="0" algn="l" rtl="0" eaLnBrk="1" latinLnBrk="0" hangingPunct="1">
        <a:lnSpc>
          <a:spcPts val="2800"/>
        </a:lnSpc>
        <a:spcBef>
          <a:spcPts val="800"/>
        </a:spcBef>
        <a:spcAft>
          <a:spcPts val="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ohbottech.com/article/what-is-crm" TargetMode="External"/><Relationship Id="rId2" Type="http://schemas.openxmlformats.org/officeDocument/2006/relationships/hyperlink" Target="https://reurl.cc/0X0Mz6" TargetMode="External"/><Relationship Id="rId1" Type="http://schemas.openxmlformats.org/officeDocument/2006/relationships/slideLayout" Target="../slideLayouts/slideLayout4.xml"/><Relationship Id="rId4" Type="http://schemas.openxmlformats.org/officeDocument/2006/relationships/hyperlink" Target="https://reurl.cc/QbAKr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7"/>
          </p:nvPr>
        </p:nvSpPr>
        <p:spPr>
          <a:xfrm>
            <a:off x="1619672" y="3645024"/>
            <a:ext cx="7310046" cy="1800200"/>
          </a:xfrm>
        </p:spPr>
        <p:txBody>
          <a:bodyPr/>
          <a:lstStyle/>
          <a:p>
            <a:r>
              <a:rPr lang="en-US" altLang="zh-TW" dirty="0">
                <a:hlinkClick r:id="rId2" action="ppaction://hlinksldjump"/>
              </a:rPr>
              <a:t>7.1 </a:t>
            </a:r>
            <a:r>
              <a:rPr lang="zh-TW" altLang="en-US" dirty="0">
                <a:hlinkClick r:id="rId2" action="ppaction://hlinksldjump"/>
              </a:rPr>
              <a:t>認識</a:t>
            </a:r>
            <a:r>
              <a:rPr lang="zh-TW" altLang="en-US" dirty="0" smtClean="0">
                <a:hlinkClick r:id="rId2" action="ppaction://hlinksldjump"/>
              </a:rPr>
              <a:t>機器學習</a:t>
            </a:r>
            <a:endParaRPr lang="en-US" altLang="zh-TW" dirty="0" smtClean="0"/>
          </a:p>
          <a:p>
            <a:r>
              <a:rPr lang="en-US" altLang="zh-TW" dirty="0">
                <a:hlinkClick r:id="rId3" action="ppaction://hlinksldjump"/>
              </a:rPr>
              <a:t>7.2 K-means </a:t>
            </a:r>
            <a:r>
              <a:rPr lang="zh-TW" altLang="en-US" dirty="0">
                <a:hlinkClick r:id="rId3" action="ppaction://hlinksldjump"/>
              </a:rPr>
              <a:t>演算法</a:t>
            </a:r>
            <a:endParaRPr lang="zh-TW" altLang="en-US" dirty="0"/>
          </a:p>
          <a:p>
            <a:r>
              <a:rPr lang="en-US" altLang="zh-TW" dirty="0">
                <a:hlinkClick r:id="rId4" action="ppaction://hlinksldjump"/>
              </a:rPr>
              <a:t>7.3 DBSCAN </a:t>
            </a:r>
            <a:r>
              <a:rPr lang="zh-TW" altLang="en-US" dirty="0">
                <a:hlinkClick r:id="rId4" action="ppaction://hlinksldjump"/>
              </a:rPr>
              <a:t>演算法</a:t>
            </a:r>
            <a:endParaRPr lang="zh-TW" altLang="en-US" dirty="0"/>
          </a:p>
          <a:p>
            <a:r>
              <a:rPr lang="en-US" altLang="zh-TW" dirty="0">
                <a:hlinkClick r:id="rId5" action="ppaction://hlinksldjump"/>
              </a:rPr>
              <a:t>7.4 </a:t>
            </a:r>
            <a:r>
              <a:rPr lang="zh-TW" altLang="en-US" dirty="0">
                <a:hlinkClick r:id="rId5" action="ppaction://hlinksldjump"/>
              </a:rPr>
              <a:t>降維演算法</a:t>
            </a:r>
            <a:endParaRPr lang="en-US" altLang="zh-TW" dirty="0" smtClean="0"/>
          </a:p>
          <a:p>
            <a:endParaRPr lang="en-US" altLang="zh-TW" dirty="0"/>
          </a:p>
          <a:p>
            <a:endParaRPr lang="en-US" altLang="zh-TW" dirty="0" smtClean="0"/>
          </a:p>
          <a:p>
            <a:endParaRPr lang="en-US" altLang="zh-TW" dirty="0"/>
          </a:p>
          <a:p>
            <a:endParaRPr lang="zh-TW" altLang="en-US" dirty="0"/>
          </a:p>
        </p:txBody>
      </p:sp>
      <p:sp>
        <p:nvSpPr>
          <p:cNvPr id="4" name="文字版面配置區 3"/>
          <p:cNvSpPr>
            <a:spLocks noGrp="1"/>
          </p:cNvSpPr>
          <p:nvPr>
            <p:ph type="body" sz="quarter" idx="15"/>
          </p:nvPr>
        </p:nvSpPr>
        <p:spPr/>
        <p:txBody>
          <a:bodyPr/>
          <a:lstStyle/>
          <a:p>
            <a:r>
              <a:rPr lang="zh-TW" altLang="en-US" dirty="0"/>
              <a:t>機器學習：非監督式學習</a:t>
            </a:r>
          </a:p>
        </p:txBody>
      </p:sp>
      <p:sp>
        <p:nvSpPr>
          <p:cNvPr id="5" name="文字版面配置區 4"/>
          <p:cNvSpPr>
            <a:spLocks noGrp="1"/>
          </p:cNvSpPr>
          <p:nvPr>
            <p:ph type="body" sz="quarter" idx="14"/>
          </p:nvPr>
        </p:nvSpPr>
        <p:spPr/>
        <p:txBody>
          <a:bodyPr/>
          <a:lstStyle/>
          <a:p>
            <a:r>
              <a:rPr lang="en-US" altLang="zh-TW" dirty="0" smtClean="0"/>
              <a:t>07</a:t>
            </a:r>
            <a:endParaRPr lang="zh-TW" altLang="en-US" dirty="0"/>
          </a:p>
        </p:txBody>
      </p:sp>
    </p:spTree>
    <p:extLst>
      <p:ext uri="{BB962C8B-B14F-4D97-AF65-F5344CB8AC3E}">
        <p14:creationId xmlns:p14="http://schemas.microsoft.com/office/powerpoint/2010/main" val="39903096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7.1.1 </a:t>
            </a:r>
            <a:r>
              <a:rPr lang="zh-TW" altLang="en-US" dirty="0"/>
              <a:t>機器學習是什麼？</a:t>
            </a:r>
          </a:p>
          <a:p>
            <a:pPr lvl="3"/>
            <a:r>
              <a:rPr lang="zh-TW" altLang="en-US" dirty="0"/>
              <a:t>西元</a:t>
            </a:r>
            <a:r>
              <a:rPr lang="en-US" altLang="zh-TW" dirty="0"/>
              <a:t>1959 </a:t>
            </a:r>
            <a:r>
              <a:rPr lang="zh-TW" altLang="en-US" dirty="0"/>
              <a:t>年，麻省理工學院工程師亞瑟</a:t>
            </a:r>
            <a:r>
              <a:rPr lang="en-US" altLang="zh-TW" dirty="0"/>
              <a:t>·</a:t>
            </a:r>
            <a:r>
              <a:rPr lang="zh-TW" altLang="en-US" dirty="0"/>
              <a:t>塞繆爾</a:t>
            </a:r>
            <a:r>
              <a:rPr lang="en-US" altLang="zh-TW" dirty="0"/>
              <a:t>(Arthur Samuel) </a:t>
            </a:r>
            <a:r>
              <a:rPr lang="zh-TW" altLang="en-US" dirty="0"/>
              <a:t>創造了「機器學習</a:t>
            </a:r>
            <a:r>
              <a:rPr lang="zh-TW" altLang="en-US" dirty="0" smtClean="0"/>
              <a:t>」一</a:t>
            </a:r>
            <a:r>
              <a:rPr lang="zh-TW" altLang="en-US" dirty="0"/>
              <a:t>詞，</a:t>
            </a:r>
            <a:r>
              <a:rPr lang="zh-TW" altLang="en-US" dirty="0">
                <a:solidFill>
                  <a:srgbClr val="FF0000"/>
                </a:solidFill>
              </a:rPr>
              <a:t>將機器學習描述為「使計算機在沒有明確程式的情況下進行學習」</a:t>
            </a:r>
            <a:r>
              <a:rPr lang="zh-TW" altLang="en-US" dirty="0"/>
              <a:t>。維基</a:t>
            </a:r>
            <a:r>
              <a:rPr lang="zh-TW" altLang="en-US" dirty="0" smtClean="0"/>
              <a:t>百科</a:t>
            </a:r>
            <a:r>
              <a:rPr lang="zh-TW" altLang="en-US" dirty="0"/>
              <a:t>將機器學習定義為「機器學習是實現人工智慧的一個途徑，</a:t>
            </a:r>
            <a:r>
              <a:rPr lang="zh-TW" altLang="en-US" dirty="0">
                <a:solidFill>
                  <a:srgbClr val="0000FF"/>
                </a:solidFill>
              </a:rPr>
              <a:t>即以機器學習為</a:t>
            </a:r>
            <a:r>
              <a:rPr lang="zh-TW" altLang="en-US" dirty="0" smtClean="0">
                <a:solidFill>
                  <a:srgbClr val="0000FF"/>
                </a:solidFill>
              </a:rPr>
              <a:t>手段解決</a:t>
            </a:r>
            <a:r>
              <a:rPr lang="zh-TW" altLang="en-US" dirty="0">
                <a:solidFill>
                  <a:srgbClr val="0000FF"/>
                </a:solidFill>
              </a:rPr>
              <a:t>人工智慧中的問題。</a:t>
            </a:r>
            <a:r>
              <a:rPr lang="zh-TW" altLang="en-US" dirty="0" smtClean="0"/>
              <a:t>」</a:t>
            </a:r>
            <a:endParaRPr lang="en-US" altLang="zh-TW" dirty="0" smtClean="0"/>
          </a:p>
          <a:p>
            <a:pPr lvl="3"/>
            <a:r>
              <a:rPr lang="zh-TW" altLang="en-US" dirty="0">
                <a:solidFill>
                  <a:srgbClr val="FF0000"/>
                </a:solidFill>
              </a:rPr>
              <a:t>機器學習、人工智慧與深度學習有何差異呢</a:t>
            </a:r>
            <a:r>
              <a:rPr lang="zh-TW" altLang="en-US" dirty="0"/>
              <a:t>？簡單的說，人工智慧包含機器學習</a:t>
            </a:r>
            <a:r>
              <a:rPr lang="zh-TW" altLang="en-US" dirty="0" smtClean="0"/>
              <a:t>，而</a:t>
            </a:r>
            <a:r>
              <a:rPr lang="zh-TW" altLang="en-US" dirty="0"/>
              <a:t>機器學習包含深度學習，如下圖：</a:t>
            </a:r>
          </a:p>
        </p:txBody>
      </p:sp>
      <p:sp>
        <p:nvSpPr>
          <p:cNvPr id="2" name="標題 1"/>
          <p:cNvSpPr>
            <a:spLocks noGrp="1"/>
          </p:cNvSpPr>
          <p:nvPr>
            <p:ph type="title"/>
          </p:nvPr>
        </p:nvSpPr>
        <p:spPr/>
        <p:txBody>
          <a:bodyPr/>
          <a:lstStyle/>
          <a:p>
            <a:r>
              <a:rPr lang="en-US" altLang="zh-TW" dirty="0"/>
              <a:t>7.1 </a:t>
            </a:r>
            <a:r>
              <a:rPr lang="zh-TW" altLang="en-US" dirty="0"/>
              <a:t>認識機器學習</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4077072"/>
            <a:ext cx="4338613" cy="1465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2195736" y="5877272"/>
            <a:ext cx="4320480" cy="360040"/>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機器學習是從資料中學習</a:t>
            </a:r>
            <a:r>
              <a:rPr lang="en-US" altLang="zh-TW" dirty="0" smtClean="0"/>
              <a:t>/</a:t>
            </a:r>
            <a:r>
              <a:rPr lang="zh-TW" altLang="en-US" dirty="0" smtClean="0"/>
              <a:t>建立模型</a:t>
            </a:r>
            <a:endParaRPr lang="zh-TW" altLang="en-US" dirty="0"/>
          </a:p>
        </p:txBody>
      </p:sp>
    </p:spTree>
    <p:extLst>
      <p:ext uri="{BB962C8B-B14F-4D97-AF65-F5344CB8AC3E}">
        <p14:creationId xmlns:p14="http://schemas.microsoft.com/office/powerpoint/2010/main" val="1746867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7.1.2 </a:t>
            </a:r>
            <a:r>
              <a:rPr lang="zh-TW" altLang="en-US" dirty="0"/>
              <a:t>機器學習</a:t>
            </a:r>
            <a:r>
              <a:rPr lang="zh-TW" altLang="en-US" dirty="0" smtClean="0"/>
              <a:t>類別</a:t>
            </a:r>
            <a:endParaRPr lang="en-US" altLang="zh-TW" dirty="0" smtClean="0"/>
          </a:p>
          <a:p>
            <a:pPr lvl="3"/>
            <a:r>
              <a:rPr lang="zh-TW" altLang="en-US" dirty="0">
                <a:solidFill>
                  <a:srgbClr val="FF0000"/>
                </a:solidFill>
              </a:rPr>
              <a:t>機器學習主要有兩種訓練方式：</a:t>
            </a:r>
            <a:r>
              <a:rPr lang="zh-TW" altLang="en-US" b="1" dirty="0"/>
              <a:t>監督式學習</a:t>
            </a:r>
            <a:r>
              <a:rPr lang="en-US" altLang="zh-TW" b="1" dirty="0"/>
              <a:t>(</a:t>
            </a:r>
            <a:r>
              <a:rPr lang="en-US" altLang="zh-TW" b="1" dirty="0" err="1" smtClean="0"/>
              <a:t>Supervisedlearning</a:t>
            </a:r>
            <a:r>
              <a:rPr lang="en-US" altLang="zh-TW" b="1" dirty="0"/>
              <a:t>) </a:t>
            </a:r>
            <a:r>
              <a:rPr lang="zh-TW" altLang="en-US" dirty="0"/>
              <a:t>與 </a:t>
            </a:r>
            <a:r>
              <a:rPr lang="zh-TW" altLang="en-US" b="1" dirty="0"/>
              <a:t>非監督式學習</a:t>
            </a:r>
            <a:r>
              <a:rPr lang="en-US" altLang="zh-TW" b="1" dirty="0"/>
              <a:t>(Unsupervised learning)</a:t>
            </a:r>
            <a:r>
              <a:rPr lang="zh-TW" altLang="en-US" dirty="0"/>
              <a:t>。</a:t>
            </a:r>
          </a:p>
          <a:p>
            <a:pPr lvl="2"/>
            <a:r>
              <a:rPr lang="zh-TW" altLang="en-US" dirty="0"/>
              <a:t>監督式學習</a:t>
            </a:r>
          </a:p>
          <a:p>
            <a:pPr lvl="3"/>
            <a:r>
              <a:rPr lang="zh-TW" altLang="en-US" dirty="0"/>
              <a:t>監督式學習 類似正規學校教育，</a:t>
            </a:r>
            <a:r>
              <a:rPr lang="zh-TW" altLang="en-US" dirty="0">
                <a:solidFill>
                  <a:srgbClr val="0000FF"/>
                </a:solidFill>
              </a:rPr>
              <a:t>會告訴機器正確答案是什麼</a:t>
            </a:r>
            <a:r>
              <a:rPr lang="zh-TW" altLang="en-US" dirty="0"/>
              <a:t>，有人類當家教老師</a:t>
            </a:r>
            <a:r>
              <a:rPr lang="zh-TW" altLang="en-US" dirty="0" smtClean="0"/>
              <a:t>調教</a:t>
            </a:r>
            <a:r>
              <a:rPr lang="zh-TW" altLang="en-US" dirty="0"/>
              <a:t>，讓機器從標準答案、已存在的模式中學習。</a:t>
            </a:r>
            <a:r>
              <a:rPr lang="zh-TW" altLang="en-US" dirty="0">
                <a:solidFill>
                  <a:srgbClr val="0000FF"/>
                </a:solidFill>
              </a:rPr>
              <a:t>提供機器學習的資料稱為 </a:t>
            </a:r>
            <a:r>
              <a:rPr lang="zh-TW" altLang="en-US" b="1" dirty="0">
                <a:solidFill>
                  <a:srgbClr val="0000FF"/>
                </a:solidFill>
              </a:rPr>
              <a:t>特徵值</a:t>
            </a:r>
            <a:r>
              <a:rPr lang="zh-TW" altLang="en-US" dirty="0" smtClean="0">
                <a:solidFill>
                  <a:srgbClr val="0000FF"/>
                </a:solidFill>
              </a:rPr>
              <a:t>，做為</a:t>
            </a:r>
            <a:r>
              <a:rPr lang="zh-TW" altLang="en-US" dirty="0">
                <a:solidFill>
                  <a:srgbClr val="0000FF"/>
                </a:solidFill>
              </a:rPr>
              <a:t>答案的資料稱為 </a:t>
            </a:r>
            <a:r>
              <a:rPr lang="zh-TW" altLang="en-US" b="1" dirty="0">
                <a:solidFill>
                  <a:srgbClr val="0000FF"/>
                </a:solidFill>
              </a:rPr>
              <a:t>目標值</a:t>
            </a:r>
            <a:r>
              <a:rPr lang="zh-TW" altLang="en-US" dirty="0"/>
              <a:t>。</a:t>
            </a:r>
          </a:p>
          <a:p>
            <a:pPr lvl="3"/>
            <a:r>
              <a:rPr lang="zh-TW" altLang="en-US" dirty="0"/>
              <a:t>監督式學習主要分為兩類：</a:t>
            </a:r>
            <a:r>
              <a:rPr lang="zh-TW" altLang="en-US" b="1" dirty="0"/>
              <a:t>分類</a:t>
            </a:r>
            <a:r>
              <a:rPr lang="en-US" altLang="zh-TW" b="1" dirty="0"/>
              <a:t>(Classification) </a:t>
            </a:r>
            <a:r>
              <a:rPr lang="zh-TW" altLang="en-US" dirty="0"/>
              <a:t>及</a:t>
            </a:r>
            <a:r>
              <a:rPr lang="zh-TW" altLang="en-US" b="1" dirty="0"/>
              <a:t>回歸</a:t>
            </a:r>
            <a:r>
              <a:rPr lang="en-US" altLang="zh-TW" b="1" dirty="0"/>
              <a:t>(Regression)</a:t>
            </a:r>
            <a:r>
              <a:rPr lang="zh-TW" altLang="en-US" dirty="0" smtClean="0"/>
              <a:t>。</a:t>
            </a:r>
            <a:endParaRPr lang="en-US" altLang="zh-TW" dirty="0" smtClean="0"/>
          </a:p>
          <a:p>
            <a:pPr marL="342900" lvl="3" indent="-342900">
              <a:buFont typeface="+mj-lt"/>
              <a:buAutoNum type="arabicPeriod"/>
            </a:pPr>
            <a:r>
              <a:rPr lang="zh-TW" altLang="en-US" b="1" dirty="0"/>
              <a:t>分類</a:t>
            </a:r>
            <a:r>
              <a:rPr lang="zh-TW" altLang="en-US" dirty="0"/>
              <a:t> 是指</a:t>
            </a:r>
            <a:r>
              <a:rPr lang="zh-TW" altLang="en-US" b="1" dirty="0">
                <a:solidFill>
                  <a:srgbClr val="FFC000"/>
                </a:solidFill>
              </a:rPr>
              <a:t>目標值</a:t>
            </a:r>
            <a:r>
              <a:rPr lang="zh-TW" altLang="en-US" dirty="0"/>
              <a:t>不是連續值</a:t>
            </a:r>
            <a:r>
              <a:rPr lang="en-US" altLang="zh-TW" dirty="0"/>
              <a:t>( </a:t>
            </a:r>
            <a:r>
              <a:rPr lang="zh-TW" altLang="en-US" dirty="0"/>
              <a:t>也稱為「離散值」</a:t>
            </a:r>
            <a:r>
              <a:rPr lang="en-US" altLang="zh-TW" dirty="0"/>
              <a:t>)</a:t>
            </a:r>
            <a:r>
              <a:rPr lang="zh-TW" altLang="en-US" dirty="0"/>
              <a:t>，而是表示屬性的資料。</a:t>
            </a:r>
            <a:r>
              <a:rPr lang="zh-TW" altLang="en-US" dirty="0" smtClean="0"/>
              <a:t>例如提供</a:t>
            </a:r>
            <a:r>
              <a:rPr lang="zh-TW" altLang="en-US" dirty="0"/>
              <a:t>電腦用戶的月收入、房產、年齡等</a:t>
            </a:r>
            <a:r>
              <a:rPr lang="zh-TW" altLang="en-US" dirty="0">
                <a:solidFill>
                  <a:srgbClr val="FFC000"/>
                </a:solidFill>
              </a:rPr>
              <a:t>特徵值</a:t>
            </a:r>
            <a:r>
              <a:rPr lang="zh-TW" altLang="en-US" dirty="0"/>
              <a:t>資料，再提供用戶是否得到貸款</a:t>
            </a:r>
            <a:r>
              <a:rPr lang="zh-TW" altLang="en-US" dirty="0" smtClean="0"/>
              <a:t>的目標值</a:t>
            </a:r>
            <a:r>
              <a:rPr lang="zh-TW" altLang="en-US" dirty="0"/>
              <a:t>資料，讓電腦進行機器學習並建立模型，往後只要將新的月收入、房產</a:t>
            </a:r>
            <a:r>
              <a:rPr lang="zh-TW" altLang="en-US" dirty="0" smtClean="0"/>
              <a:t>、年齡</a:t>
            </a:r>
            <a:r>
              <a:rPr lang="zh-TW" altLang="en-US" dirty="0"/>
              <a:t>等資料輸入模型，</a:t>
            </a:r>
            <a:r>
              <a:rPr lang="zh-TW" altLang="en-US" dirty="0">
                <a:solidFill>
                  <a:srgbClr val="FFC000"/>
                </a:solidFill>
              </a:rPr>
              <a:t>便能預測該用戶是否能得到貸款。</a:t>
            </a:r>
          </a:p>
        </p:txBody>
      </p:sp>
    </p:spTree>
    <p:extLst>
      <p:ext uri="{BB962C8B-B14F-4D97-AF65-F5344CB8AC3E}">
        <p14:creationId xmlns:p14="http://schemas.microsoft.com/office/powerpoint/2010/main" val="1042039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marL="342900" lvl="3" indent="-342900">
              <a:buFont typeface="+mj-lt"/>
              <a:buAutoNum type="arabicPeriod" startAt="2"/>
            </a:pPr>
            <a:r>
              <a:rPr lang="zh-TW" altLang="en-US" dirty="0"/>
              <a:t>回歸 是指目標值是連續值的機器學習。仍以貸款為例：提供電腦用戶的月收入</a:t>
            </a:r>
            <a:r>
              <a:rPr lang="zh-TW" altLang="en-US" dirty="0" smtClean="0"/>
              <a:t>、房產</a:t>
            </a:r>
            <a:r>
              <a:rPr lang="zh-TW" altLang="en-US" dirty="0"/>
              <a:t>、年齡等特徵值資料，而</a:t>
            </a:r>
            <a:r>
              <a:rPr lang="zh-TW" altLang="en-US" b="1" dirty="0">
                <a:solidFill>
                  <a:srgbClr val="FFC000"/>
                </a:solidFill>
              </a:rPr>
              <a:t>目標值資料提供的是用戶的貸款額度</a:t>
            </a:r>
            <a:r>
              <a:rPr lang="zh-TW" altLang="en-US" dirty="0"/>
              <a:t>，即用戶貸</a:t>
            </a:r>
            <a:r>
              <a:rPr lang="zh-TW" altLang="en-US" dirty="0" smtClean="0"/>
              <a:t>到多少</a:t>
            </a:r>
            <a:r>
              <a:rPr lang="zh-TW" altLang="en-US" dirty="0"/>
              <a:t>錢，而此貸款額度是連續數值。建立模型後，往後只要將新的月收入、房產</a:t>
            </a:r>
            <a:r>
              <a:rPr lang="zh-TW" altLang="en-US" dirty="0" smtClean="0"/>
              <a:t>、年齡</a:t>
            </a:r>
            <a:r>
              <a:rPr lang="zh-TW" altLang="en-US" dirty="0"/>
              <a:t>等資料輸入模型，</a:t>
            </a:r>
            <a:r>
              <a:rPr lang="zh-TW" altLang="en-US" dirty="0">
                <a:solidFill>
                  <a:srgbClr val="FFC000"/>
                </a:solidFill>
              </a:rPr>
              <a:t>便能預測該用戶能貸到多少金額</a:t>
            </a:r>
            <a:r>
              <a:rPr lang="zh-TW" altLang="en-US" dirty="0"/>
              <a:t>。</a:t>
            </a:r>
          </a:p>
          <a:p>
            <a:pPr lvl="3"/>
            <a:r>
              <a:rPr lang="zh-TW" altLang="en-US" dirty="0"/>
              <a:t>常見的監督式學習有</a:t>
            </a:r>
            <a:r>
              <a:rPr lang="en-US" altLang="zh-TW" b="1" dirty="0"/>
              <a:t>K </a:t>
            </a:r>
            <a:r>
              <a:rPr lang="zh-TW" altLang="en-US" b="1" dirty="0"/>
              <a:t>近鄰、單純貝氏分類、決策樹 </a:t>
            </a:r>
            <a:r>
              <a:rPr lang="zh-TW" altLang="en-US" dirty="0"/>
              <a:t>等</a:t>
            </a:r>
            <a:r>
              <a:rPr lang="zh-TW" altLang="en-US" dirty="0" smtClean="0"/>
              <a:t>。</a:t>
            </a:r>
            <a:endParaRPr lang="en-US" altLang="zh-TW" dirty="0" smtClean="0"/>
          </a:p>
          <a:p>
            <a:pPr lvl="2"/>
            <a:r>
              <a:rPr lang="zh-TW" altLang="en-US" dirty="0" smtClean="0"/>
              <a:t>非</a:t>
            </a:r>
            <a:r>
              <a:rPr lang="zh-TW" altLang="en-US" dirty="0"/>
              <a:t>監督式學習</a:t>
            </a:r>
          </a:p>
          <a:p>
            <a:pPr lvl="3"/>
            <a:r>
              <a:rPr lang="zh-TW" altLang="en-US" b="1" dirty="0"/>
              <a:t>非監督式學習 </a:t>
            </a:r>
            <a:r>
              <a:rPr lang="zh-TW" altLang="en-US" dirty="0"/>
              <a:t>類似自我學習，</a:t>
            </a:r>
            <a:r>
              <a:rPr lang="zh-TW" altLang="en-US" dirty="0">
                <a:solidFill>
                  <a:srgbClr val="FF0000"/>
                </a:solidFill>
              </a:rPr>
              <a:t>沒有告訴機器正確答案是什麼，讓機器自己從資料</a:t>
            </a:r>
            <a:r>
              <a:rPr lang="zh-TW" altLang="en-US" dirty="0" smtClean="0">
                <a:solidFill>
                  <a:srgbClr val="FF0000"/>
                </a:solidFill>
              </a:rPr>
              <a:t>中發現</a:t>
            </a:r>
            <a:r>
              <a:rPr lang="zh-TW" altLang="en-US" dirty="0">
                <a:solidFill>
                  <a:srgbClr val="FF0000"/>
                </a:solidFill>
              </a:rPr>
              <a:t>模式</a:t>
            </a:r>
            <a:r>
              <a:rPr lang="zh-TW" altLang="en-US" dirty="0"/>
              <a:t>。例如銀行將客戶的存款、信用評等、消費筆數、消費額度等特徵值資料</a:t>
            </a:r>
            <a:r>
              <a:rPr lang="zh-TW" altLang="en-US" dirty="0" smtClean="0"/>
              <a:t>，利用</a:t>
            </a:r>
            <a:r>
              <a:rPr lang="zh-TW" altLang="en-US" dirty="0"/>
              <a:t>機器學習將客戶分為一般用戶、優質用戶及</a:t>
            </a:r>
            <a:r>
              <a:rPr lang="en-US" altLang="zh-TW" dirty="0"/>
              <a:t>VIP </a:t>
            </a:r>
            <a:r>
              <a:rPr lang="zh-TW" altLang="en-US" dirty="0"/>
              <a:t>用戶，</a:t>
            </a:r>
            <a:r>
              <a:rPr lang="zh-TW" altLang="en-US" dirty="0">
                <a:solidFill>
                  <a:srgbClr val="0000FF"/>
                </a:solidFill>
              </a:rPr>
              <a:t>此時並未提供分群的</a:t>
            </a:r>
            <a:r>
              <a:rPr lang="zh-TW" altLang="en-US" dirty="0" smtClean="0">
                <a:solidFill>
                  <a:srgbClr val="0000FF"/>
                </a:solidFill>
              </a:rPr>
              <a:t>條件</a:t>
            </a:r>
            <a:r>
              <a:rPr lang="zh-TW" altLang="en-US" dirty="0">
                <a:solidFill>
                  <a:srgbClr val="0000FF"/>
                </a:solidFill>
              </a:rPr>
              <a:t>，完全由機器學習決定分群</a:t>
            </a:r>
            <a:r>
              <a:rPr lang="zh-TW" altLang="en-US" dirty="0"/>
              <a:t>，這就是非監督式學習</a:t>
            </a:r>
            <a:r>
              <a:rPr lang="zh-TW" altLang="en-US" dirty="0" smtClean="0"/>
              <a:t>。</a:t>
            </a:r>
            <a:endParaRPr lang="en-US" altLang="zh-TW" dirty="0" smtClean="0"/>
          </a:p>
          <a:p>
            <a:pPr lvl="3"/>
            <a:r>
              <a:rPr lang="zh-TW" altLang="en-US" dirty="0" smtClean="0"/>
              <a:t>常見</a:t>
            </a:r>
            <a:r>
              <a:rPr lang="zh-TW" altLang="en-US" dirty="0"/>
              <a:t>的非監督式學習有</a:t>
            </a:r>
            <a:r>
              <a:rPr lang="en-US" altLang="zh-TW" dirty="0"/>
              <a:t>K-means</a:t>
            </a:r>
            <a:r>
              <a:rPr lang="zh-TW" altLang="en-US" dirty="0"/>
              <a:t>、</a:t>
            </a:r>
            <a:r>
              <a:rPr lang="en-US" altLang="zh-TW" dirty="0"/>
              <a:t>DBSCAN</a:t>
            </a:r>
            <a:r>
              <a:rPr lang="zh-TW" altLang="en-US" dirty="0" smtClean="0"/>
              <a:t>。</a:t>
            </a:r>
            <a:endParaRPr lang="en-US" altLang="zh-TW" dirty="0" smtClean="0"/>
          </a:p>
          <a:p>
            <a:pPr lvl="1"/>
            <a:r>
              <a:rPr lang="en-US" altLang="zh-TW" dirty="0"/>
              <a:t>7.1.3 </a:t>
            </a:r>
            <a:r>
              <a:rPr lang="zh-TW" altLang="en-US" dirty="0"/>
              <a:t>機器學習應用</a:t>
            </a:r>
          </a:p>
          <a:p>
            <a:pPr lvl="3"/>
            <a:endParaRPr lang="zh-TW" altLang="en-US" dirty="0"/>
          </a:p>
        </p:txBody>
      </p:sp>
      <p:sp>
        <p:nvSpPr>
          <p:cNvPr id="3" name="內容版面配置區 1"/>
          <p:cNvSpPr txBox="1">
            <a:spLocks/>
          </p:cNvSpPr>
          <p:nvPr/>
        </p:nvSpPr>
        <p:spPr>
          <a:xfrm>
            <a:off x="648023" y="5445224"/>
            <a:ext cx="2123777" cy="815192"/>
          </a:xfrm>
          <a:prstGeom prst="rect">
            <a:avLst/>
          </a:prstGeom>
        </p:spPr>
        <p:txBody>
          <a:bodyPr vert="horz">
            <a:noAutofit/>
          </a:bodyPr>
          <a:lstStyle>
            <a:lvl1pPr marL="0" indent="0" algn="l" rtl="0" eaLnBrk="1" latinLnBrk="0" hangingPunct="1">
              <a:lnSpc>
                <a:spcPct val="150000"/>
              </a:lnSpc>
              <a:spcBef>
                <a:spcPts val="0"/>
              </a:spcBef>
              <a:buClr>
                <a:schemeClr val="accent3">
                  <a:lumMod val="75000"/>
                </a:schemeClr>
              </a:buClr>
              <a:buSzPct val="100000"/>
              <a:buFontTx/>
              <a:buNone/>
              <a:defRPr kumimoji="0" sz="28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lang="zh-TW" altLang="en-US" sz="2400" b="1" kern="1200" dirty="0" smtClean="0">
                <a:solidFill>
                  <a:schemeClr val="accent5">
                    <a:lumMod val="75000"/>
                  </a:schemeClr>
                </a:solidFill>
                <a:latin typeface="+mj-ea"/>
                <a:ea typeface="+mj-ea"/>
                <a:cs typeface="+mn-cs"/>
              </a:defRPr>
            </a:lvl2pPr>
            <a:lvl3pPr marL="0" indent="0" algn="l" rtl="0" eaLnBrk="1" latinLnBrk="0" hangingPunct="1">
              <a:lnSpc>
                <a:spcPct val="100000"/>
              </a:lnSpc>
              <a:spcBef>
                <a:spcPts val="1200"/>
              </a:spcBef>
              <a:spcAft>
                <a:spcPts val="200"/>
              </a:spcAft>
              <a:buClr>
                <a:srgbClr val="AE2A7F"/>
              </a:buClr>
              <a:buSzPct val="90000"/>
              <a:buFontTx/>
              <a:buNone/>
              <a:defRPr kumimoji="0" lang="zh-TW" altLang="en-US" sz="2000" b="1" u="dottedHeavy" kern="1200" baseline="0" dirty="0" smtClean="0">
                <a:solidFill>
                  <a:srgbClr val="C67A48"/>
                </a:solidFill>
                <a:latin typeface="+mj-ea"/>
                <a:ea typeface="+mj-ea"/>
                <a:cs typeface="+mn-cs"/>
              </a:defRPr>
            </a:lvl3pPr>
            <a:lvl4pPr marL="0" indent="0" algn="l" rtl="0" eaLnBrk="1" latinLnBrk="0" hangingPunct="1">
              <a:lnSpc>
                <a:spcPts val="2800"/>
              </a:lnSpc>
              <a:spcBef>
                <a:spcPts val="800"/>
              </a:spcBef>
              <a:spcAft>
                <a:spcPts val="20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85750" lvl="3" indent="-285750">
              <a:spcBef>
                <a:spcPts val="0"/>
              </a:spcBef>
              <a:spcAft>
                <a:spcPts val="0"/>
              </a:spcAft>
              <a:buFont typeface="Wingdings" panose="05000000000000000000" pitchFamily="2" charset="2"/>
              <a:buChar char="n"/>
            </a:pPr>
            <a:r>
              <a:rPr lang="zh-TW" altLang="en-US" dirty="0" smtClean="0"/>
              <a:t>圖像識別</a:t>
            </a:r>
            <a:endParaRPr lang="en-US" altLang="zh-TW" dirty="0" smtClean="0"/>
          </a:p>
          <a:p>
            <a:pPr marL="285750" lvl="3" indent="-285750">
              <a:spcBef>
                <a:spcPts val="0"/>
              </a:spcBef>
              <a:spcAft>
                <a:spcPts val="0"/>
              </a:spcAft>
              <a:buFont typeface="Wingdings" panose="05000000000000000000" pitchFamily="2" charset="2"/>
              <a:buChar char="n"/>
            </a:pPr>
            <a:r>
              <a:rPr lang="zh-TW" altLang="en-US" dirty="0" smtClean="0"/>
              <a:t>語音識別</a:t>
            </a:r>
            <a:endParaRPr lang="en-US" altLang="zh-TW" dirty="0"/>
          </a:p>
        </p:txBody>
      </p:sp>
      <p:sp>
        <p:nvSpPr>
          <p:cNvPr id="5" name="內容版面配置區 1"/>
          <p:cNvSpPr txBox="1">
            <a:spLocks/>
          </p:cNvSpPr>
          <p:nvPr/>
        </p:nvSpPr>
        <p:spPr>
          <a:xfrm>
            <a:off x="2627784" y="5445224"/>
            <a:ext cx="2123777" cy="825131"/>
          </a:xfrm>
          <a:prstGeom prst="rect">
            <a:avLst/>
          </a:prstGeom>
        </p:spPr>
        <p:txBody>
          <a:bodyPr vert="horz">
            <a:noAutofit/>
          </a:bodyPr>
          <a:lstStyle>
            <a:lvl1pPr marL="0" indent="0" algn="l" rtl="0" eaLnBrk="1" latinLnBrk="0" hangingPunct="1">
              <a:lnSpc>
                <a:spcPct val="150000"/>
              </a:lnSpc>
              <a:spcBef>
                <a:spcPts val="0"/>
              </a:spcBef>
              <a:buClr>
                <a:schemeClr val="accent3">
                  <a:lumMod val="75000"/>
                </a:schemeClr>
              </a:buClr>
              <a:buSzPct val="100000"/>
              <a:buFontTx/>
              <a:buNone/>
              <a:defRPr kumimoji="0" sz="28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lang="zh-TW" altLang="en-US" sz="2400" b="1" kern="1200" dirty="0" smtClean="0">
                <a:solidFill>
                  <a:schemeClr val="accent5">
                    <a:lumMod val="75000"/>
                  </a:schemeClr>
                </a:solidFill>
                <a:latin typeface="+mj-ea"/>
                <a:ea typeface="+mj-ea"/>
                <a:cs typeface="+mn-cs"/>
              </a:defRPr>
            </a:lvl2pPr>
            <a:lvl3pPr marL="0" indent="0" algn="l" rtl="0" eaLnBrk="1" latinLnBrk="0" hangingPunct="1">
              <a:lnSpc>
                <a:spcPct val="100000"/>
              </a:lnSpc>
              <a:spcBef>
                <a:spcPts val="1200"/>
              </a:spcBef>
              <a:spcAft>
                <a:spcPts val="200"/>
              </a:spcAft>
              <a:buClr>
                <a:srgbClr val="AE2A7F"/>
              </a:buClr>
              <a:buSzPct val="90000"/>
              <a:buFontTx/>
              <a:buNone/>
              <a:defRPr kumimoji="0" lang="zh-TW" altLang="en-US" sz="2000" b="1" u="dottedHeavy" kern="1200" baseline="0" dirty="0" smtClean="0">
                <a:solidFill>
                  <a:srgbClr val="C67A48"/>
                </a:solidFill>
                <a:latin typeface="+mj-ea"/>
                <a:ea typeface="+mj-ea"/>
                <a:cs typeface="+mn-cs"/>
              </a:defRPr>
            </a:lvl3pPr>
            <a:lvl4pPr marL="0" indent="0" algn="l" rtl="0" eaLnBrk="1" latinLnBrk="0" hangingPunct="1">
              <a:lnSpc>
                <a:spcPts val="2800"/>
              </a:lnSpc>
              <a:spcBef>
                <a:spcPts val="800"/>
              </a:spcBef>
              <a:spcAft>
                <a:spcPts val="20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85750" lvl="3" indent="-285750">
              <a:spcBef>
                <a:spcPts val="0"/>
              </a:spcBef>
              <a:spcAft>
                <a:spcPts val="0"/>
              </a:spcAft>
              <a:buFont typeface="Wingdings" panose="05000000000000000000" pitchFamily="2" charset="2"/>
              <a:buChar char="n"/>
            </a:pPr>
            <a:r>
              <a:rPr lang="zh-TW" altLang="en-US" dirty="0" smtClean="0"/>
              <a:t>醫療診斷</a:t>
            </a:r>
            <a:endParaRPr lang="en-US" altLang="zh-TW" dirty="0" smtClean="0"/>
          </a:p>
          <a:p>
            <a:pPr marL="285750" lvl="3" indent="-285750">
              <a:spcBef>
                <a:spcPts val="0"/>
              </a:spcBef>
              <a:spcAft>
                <a:spcPts val="0"/>
              </a:spcAft>
              <a:buFont typeface="Wingdings" panose="05000000000000000000" pitchFamily="2" charset="2"/>
              <a:buChar char="n"/>
            </a:pPr>
            <a:r>
              <a:rPr lang="zh-TW" altLang="en-US" dirty="0" smtClean="0"/>
              <a:t>統計套利</a:t>
            </a:r>
            <a:endParaRPr lang="en-US" altLang="zh-TW" dirty="0" smtClean="0"/>
          </a:p>
          <a:p>
            <a:pPr lvl="3"/>
            <a:endParaRPr lang="zh-TW" altLang="en-US" dirty="0"/>
          </a:p>
        </p:txBody>
      </p:sp>
      <p:sp>
        <p:nvSpPr>
          <p:cNvPr id="6" name="內容版面配置區 1"/>
          <p:cNvSpPr txBox="1">
            <a:spLocks/>
          </p:cNvSpPr>
          <p:nvPr/>
        </p:nvSpPr>
        <p:spPr>
          <a:xfrm>
            <a:off x="4644008" y="5464493"/>
            <a:ext cx="2123777" cy="805862"/>
          </a:xfrm>
          <a:prstGeom prst="rect">
            <a:avLst/>
          </a:prstGeom>
        </p:spPr>
        <p:txBody>
          <a:bodyPr vert="horz">
            <a:noAutofit/>
          </a:bodyPr>
          <a:lstStyle>
            <a:lvl1pPr marL="0" indent="0" algn="l" rtl="0" eaLnBrk="1" latinLnBrk="0" hangingPunct="1">
              <a:lnSpc>
                <a:spcPct val="150000"/>
              </a:lnSpc>
              <a:spcBef>
                <a:spcPts val="0"/>
              </a:spcBef>
              <a:buClr>
                <a:schemeClr val="accent3">
                  <a:lumMod val="75000"/>
                </a:schemeClr>
              </a:buClr>
              <a:buSzPct val="100000"/>
              <a:buFontTx/>
              <a:buNone/>
              <a:defRPr kumimoji="0" sz="28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lang="zh-TW" altLang="en-US" sz="2400" b="1" kern="1200" dirty="0" smtClean="0">
                <a:solidFill>
                  <a:schemeClr val="accent5">
                    <a:lumMod val="75000"/>
                  </a:schemeClr>
                </a:solidFill>
                <a:latin typeface="+mj-ea"/>
                <a:ea typeface="+mj-ea"/>
                <a:cs typeface="+mn-cs"/>
              </a:defRPr>
            </a:lvl2pPr>
            <a:lvl3pPr marL="0" indent="0" algn="l" rtl="0" eaLnBrk="1" latinLnBrk="0" hangingPunct="1">
              <a:lnSpc>
                <a:spcPct val="100000"/>
              </a:lnSpc>
              <a:spcBef>
                <a:spcPts val="1200"/>
              </a:spcBef>
              <a:spcAft>
                <a:spcPts val="200"/>
              </a:spcAft>
              <a:buClr>
                <a:srgbClr val="AE2A7F"/>
              </a:buClr>
              <a:buSzPct val="90000"/>
              <a:buFontTx/>
              <a:buNone/>
              <a:defRPr kumimoji="0" lang="zh-TW" altLang="en-US" sz="2000" b="1" u="dottedHeavy" kern="1200" baseline="0" dirty="0" smtClean="0">
                <a:solidFill>
                  <a:srgbClr val="C67A48"/>
                </a:solidFill>
                <a:latin typeface="+mj-ea"/>
                <a:ea typeface="+mj-ea"/>
                <a:cs typeface="+mn-cs"/>
              </a:defRPr>
            </a:lvl3pPr>
            <a:lvl4pPr marL="0" indent="0" algn="l" rtl="0" eaLnBrk="1" latinLnBrk="0" hangingPunct="1">
              <a:lnSpc>
                <a:spcPts val="2800"/>
              </a:lnSpc>
              <a:spcBef>
                <a:spcPts val="800"/>
              </a:spcBef>
              <a:spcAft>
                <a:spcPts val="20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85750" lvl="3" indent="-285750">
              <a:spcBef>
                <a:spcPts val="0"/>
              </a:spcBef>
              <a:spcAft>
                <a:spcPts val="0"/>
              </a:spcAft>
              <a:buFont typeface="Wingdings" panose="05000000000000000000" pitchFamily="2" charset="2"/>
              <a:buChar char="n"/>
            </a:pPr>
            <a:r>
              <a:rPr lang="zh-TW" altLang="en-US" dirty="0" smtClean="0"/>
              <a:t>學習關聯</a:t>
            </a:r>
            <a:endParaRPr lang="en-US" altLang="zh-TW" dirty="0" smtClean="0"/>
          </a:p>
          <a:p>
            <a:pPr marL="285750" lvl="3" indent="-285750">
              <a:spcBef>
                <a:spcPts val="0"/>
              </a:spcBef>
              <a:spcAft>
                <a:spcPts val="0"/>
              </a:spcAft>
              <a:buFont typeface="Wingdings" panose="05000000000000000000" pitchFamily="2" charset="2"/>
              <a:buChar char="n"/>
            </a:pPr>
            <a:r>
              <a:rPr lang="zh-TW" altLang="en-US" dirty="0" smtClean="0"/>
              <a:t>分類</a:t>
            </a:r>
            <a:endParaRPr lang="en-US" altLang="zh-TW" dirty="0" smtClean="0"/>
          </a:p>
          <a:p>
            <a:pPr marL="285750" lvl="3" indent="-285750">
              <a:buFont typeface="Wingdings" panose="05000000000000000000" pitchFamily="2" charset="2"/>
              <a:buChar char="n"/>
            </a:pPr>
            <a:endParaRPr lang="zh-TW" altLang="en-US" dirty="0"/>
          </a:p>
        </p:txBody>
      </p:sp>
      <p:sp>
        <p:nvSpPr>
          <p:cNvPr id="7" name="內容版面配置區 1"/>
          <p:cNvSpPr txBox="1">
            <a:spLocks/>
          </p:cNvSpPr>
          <p:nvPr/>
        </p:nvSpPr>
        <p:spPr>
          <a:xfrm>
            <a:off x="6588224" y="5445224"/>
            <a:ext cx="2123777" cy="825131"/>
          </a:xfrm>
          <a:prstGeom prst="rect">
            <a:avLst/>
          </a:prstGeom>
        </p:spPr>
        <p:txBody>
          <a:bodyPr vert="horz">
            <a:noAutofit/>
          </a:bodyPr>
          <a:lstStyle>
            <a:lvl1pPr marL="0" indent="0" algn="l" rtl="0" eaLnBrk="1" latinLnBrk="0" hangingPunct="1">
              <a:lnSpc>
                <a:spcPct val="150000"/>
              </a:lnSpc>
              <a:spcBef>
                <a:spcPts val="0"/>
              </a:spcBef>
              <a:buClr>
                <a:schemeClr val="accent3">
                  <a:lumMod val="75000"/>
                </a:schemeClr>
              </a:buClr>
              <a:buSzPct val="100000"/>
              <a:buFontTx/>
              <a:buNone/>
              <a:defRPr kumimoji="0" sz="2800" b="1" u="none" kern="1200" baseline="0">
                <a:solidFill>
                  <a:schemeClr val="tx1">
                    <a:lumMod val="65000"/>
                    <a:lumOff val="35000"/>
                  </a:schemeClr>
                </a:solidFill>
                <a:latin typeface="Arial" pitchFamily="34" charset="0"/>
                <a:ea typeface="+mj-ea"/>
                <a:cs typeface="+mn-cs"/>
              </a:defRPr>
            </a:lvl1pPr>
            <a:lvl2pPr marL="0" indent="0" algn="l" rtl="0" eaLnBrk="1" latinLnBrk="0" hangingPunct="1">
              <a:lnSpc>
                <a:spcPct val="100000"/>
              </a:lnSpc>
              <a:spcBef>
                <a:spcPts val="1200"/>
              </a:spcBef>
              <a:buClr>
                <a:schemeClr val="accent3">
                  <a:lumMod val="75000"/>
                </a:schemeClr>
              </a:buClr>
              <a:buSzPct val="90000"/>
              <a:buFontTx/>
              <a:buNone/>
              <a:defRPr kumimoji="0" lang="zh-TW" altLang="en-US" sz="2400" b="1" kern="1200" dirty="0" smtClean="0">
                <a:solidFill>
                  <a:schemeClr val="accent5">
                    <a:lumMod val="75000"/>
                  </a:schemeClr>
                </a:solidFill>
                <a:latin typeface="+mj-ea"/>
                <a:ea typeface="+mj-ea"/>
                <a:cs typeface="+mn-cs"/>
              </a:defRPr>
            </a:lvl2pPr>
            <a:lvl3pPr marL="0" indent="0" algn="l" rtl="0" eaLnBrk="1" latinLnBrk="0" hangingPunct="1">
              <a:lnSpc>
                <a:spcPct val="100000"/>
              </a:lnSpc>
              <a:spcBef>
                <a:spcPts val="1200"/>
              </a:spcBef>
              <a:spcAft>
                <a:spcPts val="200"/>
              </a:spcAft>
              <a:buClr>
                <a:srgbClr val="AE2A7F"/>
              </a:buClr>
              <a:buSzPct val="90000"/>
              <a:buFontTx/>
              <a:buNone/>
              <a:defRPr kumimoji="0" lang="zh-TW" altLang="en-US" sz="2000" b="1" u="dottedHeavy" kern="1200" baseline="0" dirty="0" smtClean="0">
                <a:solidFill>
                  <a:srgbClr val="C67A48"/>
                </a:solidFill>
                <a:latin typeface="+mj-ea"/>
                <a:ea typeface="+mj-ea"/>
                <a:cs typeface="+mn-cs"/>
              </a:defRPr>
            </a:lvl3pPr>
            <a:lvl4pPr marL="0" indent="0" algn="l" rtl="0" eaLnBrk="1" latinLnBrk="0" hangingPunct="1">
              <a:lnSpc>
                <a:spcPts val="2800"/>
              </a:lnSpc>
              <a:spcBef>
                <a:spcPts val="800"/>
              </a:spcBef>
              <a:spcAft>
                <a:spcPts val="200"/>
              </a:spcAft>
              <a:buClrTx/>
              <a:buSzPct val="100000"/>
              <a:buFont typeface="+mj-lt"/>
              <a:buNone/>
              <a:defRPr kumimoji="0" sz="1800" kern="1200">
                <a:solidFill>
                  <a:schemeClr val="tx1"/>
                </a:solidFill>
                <a:latin typeface="+mj-ea"/>
                <a:ea typeface="+mj-ea"/>
                <a:cs typeface="+mn-cs"/>
              </a:defRPr>
            </a:lvl4pPr>
            <a:lvl5pPr marL="360000" marR="0" indent="-342900" algn="l" defTabSz="914400" rtl="0" eaLnBrk="1" fontAlgn="auto" latinLnBrk="0" hangingPunct="1">
              <a:lnSpc>
                <a:spcPts val="2800"/>
              </a:lnSpc>
              <a:spcBef>
                <a:spcPts val="600"/>
              </a:spcBef>
              <a:spcAft>
                <a:spcPts val="0"/>
              </a:spcAft>
              <a:buClrTx/>
              <a:buSzPct val="100000"/>
              <a:buFont typeface="+mj-lt"/>
              <a:buAutoNum type="arabicPeriod"/>
              <a:tabLst/>
              <a:defRPr kumimoji="0" sz="1800" b="0" kern="1200">
                <a:solidFill>
                  <a:schemeClr val="tx1"/>
                </a:solidFill>
                <a:latin typeface="+mj-ea"/>
                <a:ea typeface="+mj-ea"/>
                <a:cs typeface="+mn-cs"/>
              </a:defRPr>
            </a:lvl5pPr>
            <a:lvl6pPr marL="360000" indent="-342000" algn="l" rtl="0" eaLnBrk="1" latinLnBrk="0" hangingPunct="1">
              <a:lnSpc>
                <a:spcPct val="100000"/>
              </a:lnSpc>
              <a:spcBef>
                <a:spcPts val="600"/>
              </a:spcBef>
              <a:buClr>
                <a:srgbClr val="C67A48"/>
              </a:buClr>
              <a:buFont typeface="Wingdings" pitchFamily="2" charset="2"/>
              <a:buChar char="n"/>
              <a:defRPr kumimoji="0" sz="1800" kern="1200" baseline="0">
                <a:solidFill>
                  <a:schemeClr val="tx1"/>
                </a:solidFill>
                <a:latin typeface="+mn-ea"/>
                <a:ea typeface="+mn-ea"/>
                <a:cs typeface="+mn-cs"/>
              </a:defRPr>
            </a:lvl6pPr>
            <a:lvl7pPr marL="936000" indent="-228600" algn="l" rtl="0" eaLnBrk="1" latinLnBrk="0" hangingPunct="1">
              <a:spcBef>
                <a:spcPts val="600"/>
              </a:spcBef>
              <a:buClrTx/>
              <a:buFont typeface="Wingdings" pitchFamily="2" charset="2"/>
              <a:buChar char="n"/>
              <a:defRPr kumimoji="0" sz="20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285750" lvl="3" indent="-285750">
              <a:spcBef>
                <a:spcPts val="0"/>
              </a:spcBef>
              <a:spcAft>
                <a:spcPts val="0"/>
              </a:spcAft>
              <a:buFont typeface="Wingdings" panose="05000000000000000000" pitchFamily="2" charset="2"/>
              <a:buChar char="n"/>
            </a:pPr>
            <a:r>
              <a:rPr lang="zh-TW" altLang="en-US" dirty="0" smtClean="0"/>
              <a:t>提取</a:t>
            </a:r>
            <a:endParaRPr lang="en-US" altLang="zh-TW" dirty="0" smtClean="0"/>
          </a:p>
          <a:p>
            <a:pPr marL="285750" lvl="3" indent="-285750">
              <a:spcBef>
                <a:spcPts val="0"/>
              </a:spcBef>
              <a:spcAft>
                <a:spcPts val="0"/>
              </a:spcAft>
              <a:buFont typeface="Wingdings" panose="05000000000000000000" pitchFamily="2" charset="2"/>
              <a:buChar char="n"/>
            </a:pPr>
            <a:r>
              <a:rPr lang="zh-TW" altLang="en-US" dirty="0" smtClean="0"/>
              <a:t>回歸</a:t>
            </a:r>
            <a:endParaRPr lang="en-US" altLang="zh-TW" dirty="0" smtClean="0"/>
          </a:p>
          <a:p>
            <a:pPr marL="285750" lvl="3" indent="-285750">
              <a:buFont typeface="Wingdings" panose="05000000000000000000" pitchFamily="2" charset="2"/>
              <a:buChar char="n"/>
            </a:pPr>
            <a:endParaRPr lang="zh-TW" altLang="en-US" dirty="0"/>
          </a:p>
        </p:txBody>
      </p:sp>
    </p:spTree>
    <p:extLst>
      <p:ext uri="{BB962C8B-B14F-4D97-AF65-F5344CB8AC3E}">
        <p14:creationId xmlns:p14="http://schemas.microsoft.com/office/powerpoint/2010/main" val="1026932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en-US" altLang="zh-TW" b="1" dirty="0"/>
              <a:t>K-means </a:t>
            </a:r>
            <a:r>
              <a:rPr lang="zh-TW" altLang="en-US" b="1" dirty="0"/>
              <a:t>演算法 </a:t>
            </a:r>
            <a:r>
              <a:rPr lang="zh-TW" altLang="en-US" dirty="0"/>
              <a:t>是一種非監督機器學習演算法，屬於「聚類」演算法，可以</a:t>
            </a:r>
            <a:r>
              <a:rPr lang="zh-TW" altLang="en-US" dirty="0">
                <a:solidFill>
                  <a:srgbClr val="FF0000"/>
                </a:solidFill>
              </a:rPr>
              <a:t>將</a:t>
            </a:r>
            <a:r>
              <a:rPr lang="zh-TW" altLang="en-US" dirty="0" smtClean="0">
                <a:solidFill>
                  <a:srgbClr val="FF0000"/>
                </a:solidFill>
              </a:rPr>
              <a:t>資料分為</a:t>
            </a:r>
            <a:r>
              <a:rPr lang="zh-TW" altLang="en-US" dirty="0">
                <a:solidFill>
                  <a:srgbClr val="FF0000"/>
                </a:solidFill>
              </a:rPr>
              <a:t>指定數量的群組</a:t>
            </a:r>
            <a:r>
              <a:rPr lang="zh-TW" altLang="en-US" dirty="0"/>
              <a:t>。</a:t>
            </a:r>
          </a:p>
          <a:p>
            <a:pPr lvl="1"/>
            <a:r>
              <a:rPr lang="en-US" altLang="zh-TW" dirty="0"/>
              <a:t>7.2.1 K-means </a:t>
            </a:r>
            <a:r>
              <a:rPr lang="zh-TW" altLang="en-US" dirty="0"/>
              <a:t>演算法</a:t>
            </a:r>
            <a:r>
              <a:rPr lang="zh-TW" altLang="en-US" dirty="0" smtClean="0"/>
              <a:t>原理</a:t>
            </a:r>
            <a:endParaRPr lang="en-US" altLang="zh-TW" dirty="0" smtClean="0"/>
          </a:p>
          <a:p>
            <a:pPr lvl="3"/>
            <a:r>
              <a:rPr lang="zh-TW" altLang="en-US" dirty="0"/>
              <a:t>資料要如何因特徵值相近</a:t>
            </a:r>
            <a:r>
              <a:rPr lang="zh-TW" altLang="en-US" dirty="0" smtClean="0"/>
              <a:t>而聚集</a:t>
            </a:r>
            <a:r>
              <a:rPr lang="zh-TW" altLang="en-US" dirty="0"/>
              <a:t>成群組呢？關鍵就是計算資料之間的</a:t>
            </a:r>
            <a:r>
              <a:rPr lang="zh-TW" altLang="en-US" b="1" dirty="0">
                <a:solidFill>
                  <a:srgbClr val="FF0000"/>
                </a:solidFill>
              </a:rPr>
              <a:t>特徵值歐式距離</a:t>
            </a:r>
            <a:r>
              <a:rPr lang="zh-TW" altLang="en-US" dirty="0"/>
              <a:t>，歐式距離越小表示</a:t>
            </a:r>
            <a:r>
              <a:rPr lang="zh-TW" altLang="en-US" dirty="0" smtClean="0"/>
              <a:t>資料特徵</a:t>
            </a:r>
            <a:r>
              <a:rPr lang="zh-TW" altLang="en-US" dirty="0"/>
              <a:t>越接近，然後將特徵相近的資料聚類成群組。</a:t>
            </a:r>
          </a:p>
          <a:p>
            <a:pPr lvl="3"/>
            <a:r>
              <a:rPr lang="en-US" altLang="zh-TW" dirty="0"/>
              <a:t>K-means </a:t>
            </a:r>
            <a:r>
              <a:rPr lang="zh-TW" altLang="en-US" dirty="0"/>
              <a:t>演算法的「</a:t>
            </a:r>
            <a:r>
              <a:rPr lang="en-US" altLang="zh-TW" dirty="0"/>
              <a:t>K</a:t>
            </a:r>
            <a:r>
              <a:rPr lang="zh-TW" altLang="en-US" dirty="0"/>
              <a:t>」表示群組數量，即要將資料分為</a:t>
            </a:r>
            <a:r>
              <a:rPr lang="en-US" altLang="zh-TW" dirty="0"/>
              <a:t>K </a:t>
            </a:r>
            <a:r>
              <a:rPr lang="zh-TW" altLang="en-US" dirty="0"/>
              <a:t>個群組，「</a:t>
            </a:r>
            <a:r>
              <a:rPr lang="en-US" altLang="zh-TW" dirty="0"/>
              <a:t>means</a:t>
            </a:r>
            <a:r>
              <a:rPr lang="zh-TW" altLang="en-US" dirty="0"/>
              <a:t>」</a:t>
            </a:r>
            <a:r>
              <a:rPr lang="zh-TW" altLang="en-US" dirty="0" smtClean="0"/>
              <a:t>表示</a:t>
            </a:r>
            <a:r>
              <a:rPr lang="zh-TW" altLang="en-US" dirty="0"/>
              <a:t>每個群組的中心，稱為「群心」，</a:t>
            </a:r>
            <a:r>
              <a:rPr lang="en-US" altLang="zh-TW" dirty="0"/>
              <a:t>K-means </a:t>
            </a:r>
            <a:r>
              <a:rPr lang="zh-TW" altLang="en-US" dirty="0"/>
              <a:t>演算法</a:t>
            </a:r>
            <a:r>
              <a:rPr lang="zh-TW" altLang="en-US" dirty="0">
                <a:solidFill>
                  <a:srgbClr val="0000FF"/>
                </a:solidFill>
              </a:rPr>
              <a:t>藉由不斷更新「群心」位置</a:t>
            </a:r>
            <a:r>
              <a:rPr lang="zh-TW" altLang="en-US" dirty="0" smtClean="0">
                <a:solidFill>
                  <a:srgbClr val="0000FF"/>
                </a:solidFill>
              </a:rPr>
              <a:t>來達成</a:t>
            </a:r>
            <a:r>
              <a:rPr lang="zh-TW" altLang="en-US" dirty="0">
                <a:solidFill>
                  <a:srgbClr val="0000FF"/>
                </a:solidFill>
              </a:rPr>
              <a:t>將資料聚類成群組</a:t>
            </a:r>
            <a:r>
              <a:rPr lang="zh-TW" altLang="en-US" dirty="0"/>
              <a:t>。</a:t>
            </a:r>
          </a:p>
          <a:p>
            <a:pPr lvl="2"/>
            <a:r>
              <a:rPr lang="en-US" altLang="zh-TW" dirty="0"/>
              <a:t>K-means </a:t>
            </a:r>
            <a:r>
              <a:rPr lang="zh-TW" altLang="en-US" dirty="0"/>
              <a:t>運作步驟</a:t>
            </a:r>
          </a:p>
          <a:p>
            <a:pPr lvl="3"/>
            <a:r>
              <a:rPr lang="zh-TW" altLang="en-US" dirty="0"/>
              <a:t>下面以將資料分為</a:t>
            </a:r>
            <a:r>
              <a:rPr lang="en-US" altLang="zh-TW" dirty="0"/>
              <a:t>2 </a:t>
            </a:r>
            <a:r>
              <a:rPr lang="zh-TW" altLang="en-US" dirty="0"/>
              <a:t>個群組</a:t>
            </a:r>
            <a:r>
              <a:rPr lang="en-US" altLang="zh-TW" dirty="0"/>
              <a:t>(K=2) </a:t>
            </a:r>
            <a:r>
              <a:rPr lang="zh-TW" altLang="en-US" dirty="0"/>
              <a:t>做說明：圓圈為原始資料，正方形為第一個群</a:t>
            </a:r>
            <a:r>
              <a:rPr lang="zh-TW" altLang="en-US" dirty="0" smtClean="0"/>
              <a:t>組資料</a:t>
            </a:r>
            <a:r>
              <a:rPr lang="zh-TW" altLang="en-US" dirty="0"/>
              <a:t>，三角形點為第二個群組資料，運作步驟如下：</a:t>
            </a:r>
            <a:endParaRPr lang="en-US" altLang="zh-TW" dirty="0"/>
          </a:p>
          <a:p>
            <a:pPr lvl="3"/>
            <a:endParaRPr lang="zh-TW" altLang="en-US" dirty="0"/>
          </a:p>
        </p:txBody>
      </p:sp>
      <p:sp>
        <p:nvSpPr>
          <p:cNvPr id="2" name="標題 1"/>
          <p:cNvSpPr>
            <a:spLocks noGrp="1"/>
          </p:cNvSpPr>
          <p:nvPr>
            <p:ph type="title"/>
          </p:nvPr>
        </p:nvSpPr>
        <p:spPr/>
        <p:txBody>
          <a:bodyPr/>
          <a:lstStyle/>
          <a:p>
            <a:r>
              <a:rPr lang="en-US" altLang="zh-TW" dirty="0"/>
              <a:t>7.2 K-means </a:t>
            </a:r>
            <a:r>
              <a:rPr lang="zh-TW" altLang="en-US" dirty="0"/>
              <a:t>演算法</a:t>
            </a:r>
          </a:p>
        </p:txBody>
      </p:sp>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marL="342900" lvl="3" indent="-342900">
              <a:buFont typeface="+mj-lt"/>
              <a:buAutoNum type="arabicPeriod"/>
            </a:pPr>
            <a:r>
              <a:rPr lang="zh-TW" altLang="en-US" dirty="0"/>
              <a:t>在資料範圍內</a:t>
            </a:r>
            <a:r>
              <a:rPr lang="zh-TW" altLang="en-US" i="1" u="sng" dirty="0">
                <a:solidFill>
                  <a:srgbClr val="FF0000"/>
                </a:solidFill>
              </a:rPr>
              <a:t>任取兩個位置</a:t>
            </a:r>
            <a:r>
              <a:rPr lang="en-US" altLang="zh-TW" i="1" u="sng" dirty="0">
                <a:solidFill>
                  <a:srgbClr val="FF0000"/>
                </a:solidFill>
              </a:rPr>
              <a:t>X1 </a:t>
            </a:r>
            <a:r>
              <a:rPr lang="zh-TW" altLang="en-US" i="1" u="sng" dirty="0">
                <a:solidFill>
                  <a:srgbClr val="FF0000"/>
                </a:solidFill>
              </a:rPr>
              <a:t>及</a:t>
            </a:r>
            <a:r>
              <a:rPr lang="en-US" altLang="zh-TW" i="1" u="sng" dirty="0">
                <a:solidFill>
                  <a:srgbClr val="FF0000"/>
                </a:solidFill>
              </a:rPr>
              <a:t>X2 </a:t>
            </a:r>
            <a:r>
              <a:rPr lang="zh-TW" altLang="en-US" i="1" u="sng" dirty="0">
                <a:solidFill>
                  <a:srgbClr val="FF0000"/>
                </a:solidFill>
              </a:rPr>
              <a:t>做為兩個群組的群心</a:t>
            </a:r>
            <a:r>
              <a:rPr lang="zh-TW" altLang="en-US" dirty="0"/>
              <a:t>。取一個資料計算</a:t>
            </a:r>
            <a:r>
              <a:rPr lang="zh-TW" altLang="en-US" dirty="0" smtClean="0"/>
              <a:t>與兩</a:t>
            </a:r>
            <a:r>
              <a:rPr lang="zh-TW" altLang="en-US" dirty="0"/>
              <a:t>個群心的距離，將資料劃分為較近群組資料。下面圖形圓點距</a:t>
            </a:r>
            <a:r>
              <a:rPr lang="en-US" altLang="zh-TW" dirty="0"/>
              <a:t>X1 </a:t>
            </a:r>
            <a:r>
              <a:rPr lang="zh-TW" altLang="en-US" dirty="0"/>
              <a:t>較近，故</a:t>
            </a:r>
            <a:r>
              <a:rPr lang="zh-TW" altLang="en-US" dirty="0" smtClean="0"/>
              <a:t>視為</a:t>
            </a:r>
            <a:r>
              <a:rPr lang="en-US" altLang="zh-TW" dirty="0"/>
              <a:t>X1 </a:t>
            </a:r>
            <a:r>
              <a:rPr lang="zh-TW" altLang="en-US" dirty="0"/>
              <a:t>群組資料</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endParaRPr lang="en-US" altLang="zh-TW" dirty="0" smtClean="0"/>
          </a:p>
          <a:p>
            <a:pPr marL="342900" lvl="3" indent="-342900">
              <a:buFont typeface="+mj-lt"/>
              <a:buAutoNum type="arabicPeriod"/>
            </a:pPr>
            <a:endParaRPr lang="en-US" altLang="zh-TW" dirty="0"/>
          </a:p>
          <a:p>
            <a:pPr lvl="2"/>
            <a:r>
              <a:rPr lang="zh-TW" altLang="en-US" dirty="0"/>
              <a:t>優點及缺點</a:t>
            </a:r>
          </a:p>
          <a:p>
            <a:pPr lvl="3">
              <a:spcBef>
                <a:spcPts val="400"/>
              </a:spcBef>
            </a:pPr>
            <a:r>
              <a:rPr lang="en-US" altLang="zh-TW" dirty="0"/>
              <a:t>K-means </a:t>
            </a:r>
            <a:r>
              <a:rPr lang="zh-TW" altLang="en-US" dirty="0"/>
              <a:t>演算法的優點：</a:t>
            </a:r>
          </a:p>
          <a:p>
            <a:pPr marL="285750" lvl="3" indent="-285750">
              <a:spcBef>
                <a:spcPts val="400"/>
              </a:spcBef>
              <a:buFont typeface="Wingdings" panose="05000000000000000000" pitchFamily="2" charset="2"/>
              <a:buChar char="n"/>
            </a:pPr>
            <a:r>
              <a:rPr lang="zh-TW" altLang="en-US" dirty="0" smtClean="0"/>
              <a:t>容易</a:t>
            </a:r>
            <a:r>
              <a:rPr lang="zh-TW" altLang="en-US" dirty="0"/>
              <a:t>理解</a:t>
            </a:r>
            <a:r>
              <a:rPr lang="en-US" altLang="zh-TW" dirty="0"/>
              <a:t>( </a:t>
            </a:r>
            <a:r>
              <a:rPr lang="zh-TW" altLang="en-US" dirty="0"/>
              <a:t>把特徵相近的資料分為同一群組</a:t>
            </a:r>
            <a:r>
              <a:rPr lang="en-US" altLang="zh-TW" dirty="0"/>
              <a:t>)</a:t>
            </a:r>
            <a:r>
              <a:rPr lang="zh-TW" altLang="en-US" dirty="0" smtClean="0"/>
              <a:t>。</a:t>
            </a:r>
          </a:p>
          <a:p>
            <a:pPr marL="285750" lvl="3" indent="-285750">
              <a:spcBef>
                <a:spcPts val="400"/>
              </a:spcBef>
              <a:buFont typeface="Wingdings" panose="05000000000000000000" pitchFamily="2" charset="2"/>
              <a:buChar char="n"/>
            </a:pPr>
            <a:r>
              <a:rPr lang="zh-TW" altLang="en-US" dirty="0" smtClean="0"/>
              <a:t>計算</a:t>
            </a:r>
            <a:r>
              <a:rPr lang="zh-TW" altLang="en-US" dirty="0"/>
              <a:t>速度快。</a:t>
            </a:r>
          </a:p>
          <a:p>
            <a:pPr lvl="3">
              <a:spcBef>
                <a:spcPts val="400"/>
              </a:spcBef>
            </a:pPr>
            <a:r>
              <a:rPr lang="en-US" altLang="zh-TW" dirty="0"/>
              <a:t>K-means </a:t>
            </a:r>
            <a:r>
              <a:rPr lang="zh-TW" altLang="en-US" dirty="0"/>
              <a:t>演算法的缺點：</a:t>
            </a:r>
          </a:p>
          <a:p>
            <a:pPr marL="285750" lvl="3" indent="-285750">
              <a:spcBef>
                <a:spcPts val="400"/>
              </a:spcBef>
              <a:buFont typeface="Wingdings" panose="05000000000000000000" pitchFamily="2" charset="2"/>
              <a:buChar char="n"/>
            </a:pPr>
            <a:r>
              <a:rPr lang="zh-TW" altLang="en-US" dirty="0" smtClean="0"/>
              <a:t>易</a:t>
            </a:r>
            <a:r>
              <a:rPr lang="zh-TW" altLang="en-US" dirty="0"/>
              <a:t>受異常值影響。</a:t>
            </a:r>
          </a:p>
          <a:p>
            <a:pPr marL="285750" lvl="3" indent="-285750">
              <a:spcBef>
                <a:spcPts val="400"/>
              </a:spcBef>
              <a:buFont typeface="Wingdings" panose="05000000000000000000" pitchFamily="2" charset="2"/>
              <a:buChar char="n"/>
            </a:pPr>
            <a:r>
              <a:rPr lang="zh-TW" altLang="en-US" dirty="0" smtClean="0">
                <a:solidFill>
                  <a:srgbClr val="0000FF"/>
                </a:solidFill>
              </a:rPr>
              <a:t>只</a:t>
            </a:r>
            <a:r>
              <a:rPr lang="zh-TW" altLang="en-US" dirty="0">
                <a:solidFill>
                  <a:srgbClr val="0000FF"/>
                </a:solidFill>
              </a:rPr>
              <a:t>適用於數值型的資料</a:t>
            </a:r>
            <a:r>
              <a:rPr lang="zh-TW" altLang="en-US" dirty="0"/>
              <a:t>。</a:t>
            </a:r>
          </a:p>
          <a:p>
            <a:pPr marL="285750" lvl="3" indent="-285750">
              <a:spcBef>
                <a:spcPts val="400"/>
              </a:spcBef>
              <a:buFont typeface="Wingdings" panose="05000000000000000000" pitchFamily="2" charset="2"/>
              <a:buChar char="n"/>
            </a:pPr>
            <a:r>
              <a:rPr lang="zh-TW" altLang="en-US" dirty="0" smtClean="0"/>
              <a:t>必須</a:t>
            </a:r>
            <a:r>
              <a:rPr lang="zh-TW" altLang="en-US" dirty="0"/>
              <a:t>確定群組數目，即需確定</a:t>
            </a:r>
            <a:r>
              <a:rPr lang="en-US" altLang="zh-TW" dirty="0"/>
              <a:t>K</a:t>
            </a:r>
            <a:r>
              <a:rPr lang="zh-TW" altLang="en-US" dirty="0"/>
              <a:t>值。</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802402"/>
            <a:ext cx="4270797" cy="1462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2"/>
            <a:r>
              <a:rPr lang="en-US" altLang="zh-TW" dirty="0"/>
              <a:t>K-means </a:t>
            </a:r>
            <a:r>
              <a:rPr lang="zh-TW" altLang="en-US" dirty="0"/>
              <a:t>應用場景</a:t>
            </a:r>
          </a:p>
          <a:p>
            <a:pPr lvl="3"/>
            <a:r>
              <a:rPr lang="en-US" altLang="zh-TW" dirty="0"/>
              <a:t>K-means </a:t>
            </a:r>
            <a:r>
              <a:rPr lang="zh-TW" altLang="en-US" dirty="0"/>
              <a:t>演算法常用於為沒有目標值的分類資料集建立目標值，如此就不必耗時</a:t>
            </a:r>
            <a:r>
              <a:rPr lang="zh-TW" altLang="en-US" dirty="0" smtClean="0"/>
              <a:t>費力</a:t>
            </a:r>
            <a:r>
              <a:rPr lang="zh-TW" altLang="en-US" dirty="0"/>
              <a:t>的手動為資料集逐一標記。</a:t>
            </a:r>
          </a:p>
          <a:p>
            <a:pPr lvl="3"/>
            <a:r>
              <a:rPr lang="zh-TW" altLang="en-US" dirty="0"/>
              <a:t>其次是將資料分群後，可從資料群組中得到有用訊息，例如在信用卡資料集以</a:t>
            </a:r>
          </a:p>
          <a:p>
            <a:pPr lvl="3"/>
            <a:r>
              <a:rPr lang="en-US" altLang="zh-TW" dirty="0"/>
              <a:t>K-means </a:t>
            </a:r>
            <a:r>
              <a:rPr lang="zh-TW" altLang="en-US" dirty="0"/>
              <a:t>演算法分群後，可得知哪些客戶是信用良好者，哪些是高所得低消費的</a:t>
            </a:r>
            <a:r>
              <a:rPr lang="zh-TW" altLang="en-US" dirty="0" smtClean="0"/>
              <a:t>待開發</a:t>
            </a:r>
            <a:r>
              <a:rPr lang="zh-TW" altLang="en-US" dirty="0"/>
              <a:t>客戶等</a:t>
            </a:r>
            <a:r>
              <a:rPr lang="zh-TW" altLang="en-US" dirty="0" smtClean="0"/>
              <a:t>。</a:t>
            </a:r>
            <a:endParaRPr lang="en-US" altLang="zh-TW" dirty="0" smtClean="0"/>
          </a:p>
          <a:p>
            <a:pPr lvl="3">
              <a:spcBef>
                <a:spcPts val="0"/>
              </a:spcBef>
            </a:pPr>
            <a:endParaRPr lang="en-US" altLang="zh-TW" dirty="0" smtClean="0"/>
          </a:p>
          <a:p>
            <a:pPr lvl="1"/>
            <a:r>
              <a:rPr lang="en-US" altLang="zh-TW" dirty="0"/>
              <a:t>7.2.2 </a:t>
            </a:r>
            <a:r>
              <a:rPr lang="en-US" altLang="zh-TW" dirty="0" err="1"/>
              <a:t>Scikit</a:t>
            </a:r>
            <a:r>
              <a:rPr lang="en-US" altLang="zh-TW" dirty="0"/>
              <a:t>-Learn </a:t>
            </a:r>
            <a:r>
              <a:rPr lang="zh-TW" altLang="en-US" dirty="0"/>
              <a:t>中</a:t>
            </a:r>
            <a:r>
              <a:rPr lang="en-US" altLang="zh-TW" dirty="0"/>
              <a:t>K-means </a:t>
            </a:r>
            <a:r>
              <a:rPr lang="zh-TW" altLang="en-US" dirty="0"/>
              <a:t>相關模組</a:t>
            </a:r>
          </a:p>
          <a:p>
            <a:pPr lvl="2"/>
            <a:r>
              <a:rPr lang="en-US" altLang="zh-TW" dirty="0" err="1"/>
              <a:t>Scikit</a:t>
            </a:r>
            <a:r>
              <a:rPr lang="en-US" altLang="zh-TW" dirty="0"/>
              <a:t>-Learn </a:t>
            </a:r>
            <a:r>
              <a:rPr lang="zh-TW" altLang="en-US" dirty="0"/>
              <a:t>的</a:t>
            </a:r>
            <a:r>
              <a:rPr lang="en-US" altLang="zh-TW" dirty="0"/>
              <a:t>K-means </a:t>
            </a:r>
            <a:r>
              <a:rPr lang="zh-TW" altLang="en-US" dirty="0"/>
              <a:t>模組</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a:t>
            </a:r>
            <a:r>
              <a:rPr lang="en-US" altLang="zh-TW" dirty="0"/>
              <a:t>K-means </a:t>
            </a:r>
            <a:r>
              <a:rPr lang="zh-TW" altLang="en-US" dirty="0"/>
              <a:t>演算法，首先含入模組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err="1"/>
              <a:t>KMeans</a:t>
            </a:r>
            <a:r>
              <a:rPr lang="en-US" altLang="zh-TW" dirty="0"/>
              <a:t>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Wingdings" panose="05000000000000000000" pitchFamily="2" charset="2"/>
              <a:buChar char="n"/>
            </a:pPr>
            <a:r>
              <a:rPr lang="en-US" altLang="zh-TW" b="1" dirty="0" err="1"/>
              <a:t>n_clusters</a:t>
            </a:r>
            <a:r>
              <a:rPr lang="zh-TW" altLang="en-US" dirty="0"/>
              <a:t>：要建立的群組數量，即 </a:t>
            </a:r>
            <a:r>
              <a:rPr lang="en-US" altLang="zh-TW" dirty="0"/>
              <a:t>K</a:t>
            </a:r>
            <a:r>
              <a:rPr lang="zh-TW" altLang="en-US" dirty="0"/>
              <a:t>值。</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4674446"/>
            <a:ext cx="5400600" cy="523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899" y="5575370"/>
            <a:ext cx="5329389" cy="5179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marL="342900" lvl="3" indent="-342900">
              <a:buFont typeface="+mj-lt"/>
              <a:buAutoNum type="arabicPeriod" startAt="3"/>
            </a:pPr>
            <a:r>
              <a:rPr lang="zh-TW" altLang="en-US" dirty="0"/>
              <a:t>然後就可利用</a:t>
            </a:r>
            <a:r>
              <a:rPr lang="en-US" altLang="zh-TW" dirty="0"/>
              <a:t>fit </a:t>
            </a:r>
            <a:r>
              <a:rPr lang="zh-TW" altLang="en-US" dirty="0"/>
              <a:t>方法進行訓練，語法為：</a:t>
            </a:r>
            <a:endParaRPr lang="en-US" altLang="zh-TW" dirty="0" smtClean="0"/>
          </a:p>
          <a:p>
            <a:pPr lvl="3"/>
            <a:endParaRPr lang="en-US" altLang="zh-TW" dirty="0"/>
          </a:p>
          <a:p>
            <a:pPr lvl="3"/>
            <a:r>
              <a:rPr lang="zh-TW" altLang="en-US" dirty="0"/>
              <a:t>訓練完成後的分群結果儲存於傳回值的「</a:t>
            </a:r>
            <a:r>
              <a:rPr lang="en-US" altLang="zh-TW" dirty="0"/>
              <a:t>labels_</a:t>
            </a:r>
            <a:r>
              <a:rPr lang="zh-TW" altLang="en-US" dirty="0"/>
              <a:t>」屬性中，是一個</a:t>
            </a:r>
            <a:r>
              <a:rPr lang="en-US" altLang="zh-TW" dirty="0"/>
              <a:t>0 </a:t>
            </a:r>
            <a:r>
              <a:rPr lang="zh-TW" altLang="en-US" dirty="0"/>
              <a:t>到</a:t>
            </a:r>
            <a:r>
              <a:rPr lang="en-US" altLang="zh-TW" dirty="0"/>
              <a:t>K-1 </a:t>
            </a:r>
            <a:r>
              <a:rPr lang="zh-TW" altLang="en-US" dirty="0" smtClean="0"/>
              <a:t>數值組成</a:t>
            </a:r>
            <a:r>
              <a:rPr lang="zh-TW" altLang="en-US" dirty="0"/>
              <a:t>的串列，表示每一個資料分配的群組。</a:t>
            </a:r>
          </a:p>
          <a:p>
            <a:pPr lvl="2"/>
            <a:r>
              <a:rPr lang="en-US" altLang="zh-TW" dirty="0" err="1"/>
              <a:t>calinski_harabasz_score</a:t>
            </a:r>
            <a:r>
              <a:rPr lang="en-US" altLang="zh-TW" dirty="0"/>
              <a:t> </a:t>
            </a:r>
            <a:r>
              <a:rPr lang="zh-TW" altLang="en-US" dirty="0"/>
              <a:t>模組：評估分群效果</a:t>
            </a:r>
          </a:p>
          <a:p>
            <a:pPr lvl="3"/>
            <a:r>
              <a:rPr lang="en-US" altLang="zh-TW" dirty="0"/>
              <a:t>K-means </a:t>
            </a:r>
            <a:r>
              <a:rPr lang="zh-TW" altLang="en-US" dirty="0"/>
              <a:t>演算法分群效果的評估原理：</a:t>
            </a:r>
            <a:r>
              <a:rPr lang="zh-TW" altLang="en-US" dirty="0">
                <a:solidFill>
                  <a:srgbClr val="FF0000"/>
                </a:solidFill>
              </a:rPr>
              <a:t>群內資料的距離越小越好，而不同群的</a:t>
            </a:r>
            <a:r>
              <a:rPr lang="zh-TW" altLang="en-US" dirty="0" smtClean="0">
                <a:solidFill>
                  <a:srgbClr val="FF0000"/>
                </a:solidFill>
              </a:rPr>
              <a:t>資料距離</a:t>
            </a:r>
            <a:r>
              <a:rPr lang="zh-TW" altLang="en-US" dirty="0">
                <a:solidFill>
                  <a:srgbClr val="FF0000"/>
                </a:solidFill>
              </a:rPr>
              <a:t>越大越好</a:t>
            </a:r>
            <a:r>
              <a:rPr lang="zh-TW" altLang="en-US" dirty="0" smtClean="0"/>
              <a:t>。</a:t>
            </a:r>
            <a:endParaRPr lang="en-US" altLang="zh-TW" dirty="0" smtClean="0"/>
          </a:p>
          <a:p>
            <a:pPr marL="342900" lvl="3" indent="-342900">
              <a:buFont typeface="+mj-lt"/>
              <a:buAutoNum type="arabicPeriod"/>
            </a:pPr>
            <a:r>
              <a:rPr lang="zh-TW" altLang="en-US" dirty="0"/>
              <a:t>使用</a:t>
            </a:r>
            <a:r>
              <a:rPr lang="en-US" altLang="zh-TW" dirty="0" err="1"/>
              <a:t>calinski_harabasz_score</a:t>
            </a:r>
            <a:r>
              <a:rPr lang="en-US" altLang="zh-TW" dirty="0"/>
              <a:t> </a:t>
            </a:r>
            <a:r>
              <a:rPr lang="zh-TW" altLang="en-US" dirty="0"/>
              <a:t>之前需先含入模組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使用</a:t>
            </a:r>
            <a:r>
              <a:rPr lang="en-US" altLang="zh-TW" dirty="0" err="1"/>
              <a:t>calinski_harabasz_score</a:t>
            </a:r>
            <a:r>
              <a:rPr lang="en-US" altLang="zh-TW" dirty="0"/>
              <a:t> </a:t>
            </a:r>
            <a:r>
              <a:rPr lang="zh-TW" altLang="en-US" dirty="0"/>
              <a:t>模組的語法為：</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24744"/>
            <a:ext cx="5536853" cy="531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933056"/>
            <a:ext cx="5133380" cy="581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669" y="4797152"/>
            <a:ext cx="5090303" cy="545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6251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7.2.3 K-means </a:t>
            </a:r>
            <a:r>
              <a:rPr lang="zh-TW" altLang="en-US" dirty="0"/>
              <a:t>應用：信用卡客戶分</a:t>
            </a:r>
            <a:r>
              <a:rPr lang="zh-TW" altLang="en-US" dirty="0" smtClean="0"/>
              <a:t>群</a:t>
            </a:r>
            <a:endParaRPr lang="en-US" altLang="zh-TW" dirty="0" smtClean="0"/>
          </a:p>
          <a:p>
            <a:pPr lvl="2"/>
            <a:r>
              <a:rPr lang="zh-TW" altLang="en-US" dirty="0"/>
              <a:t>使用</a:t>
            </a:r>
            <a:r>
              <a:rPr lang="en-US" altLang="zh-TW" dirty="0"/>
              <a:t>K-means </a:t>
            </a:r>
            <a:r>
              <a:rPr lang="zh-TW" altLang="en-US" dirty="0"/>
              <a:t>進行信用卡客戶分群</a:t>
            </a:r>
          </a:p>
          <a:p>
            <a:pPr lvl="3"/>
            <a:r>
              <a:rPr lang="zh-TW" altLang="en-US" dirty="0">
                <a:solidFill>
                  <a:srgbClr val="FF0000"/>
                </a:solidFill>
              </a:rPr>
              <a:t>由於「性別」欄位是文字資料，無法進行機器學習的數學運算</a:t>
            </a:r>
            <a:r>
              <a:rPr lang="zh-TW" altLang="en-US" dirty="0"/>
              <a:t>，</a:t>
            </a:r>
            <a:r>
              <a:rPr lang="zh-TW" altLang="en-US" dirty="0">
                <a:solidFill>
                  <a:srgbClr val="0000FF"/>
                </a:solidFill>
              </a:rPr>
              <a:t>所以使用字典</a:t>
            </a:r>
            <a:r>
              <a:rPr lang="zh-TW" altLang="en-US" dirty="0" smtClean="0">
                <a:solidFill>
                  <a:srgbClr val="0000FF"/>
                </a:solidFill>
              </a:rPr>
              <a:t>對照法</a:t>
            </a:r>
            <a:r>
              <a:rPr lang="zh-TW" altLang="en-US" dirty="0">
                <a:solidFill>
                  <a:srgbClr val="0000FF"/>
                </a:solidFill>
              </a:rPr>
              <a:t>將文字資料轉換男為</a:t>
            </a:r>
            <a:r>
              <a:rPr lang="en-US" altLang="zh-TW" dirty="0">
                <a:solidFill>
                  <a:srgbClr val="0000FF"/>
                </a:solidFill>
              </a:rPr>
              <a:t>1</a:t>
            </a:r>
            <a:r>
              <a:rPr lang="zh-TW" altLang="en-US" dirty="0">
                <a:solidFill>
                  <a:srgbClr val="0000FF"/>
                </a:solidFill>
              </a:rPr>
              <a:t>，女為</a:t>
            </a:r>
            <a:r>
              <a:rPr lang="en-US" altLang="zh-TW" dirty="0">
                <a:solidFill>
                  <a:srgbClr val="0000FF"/>
                </a:solidFill>
              </a:rPr>
              <a:t>2 </a:t>
            </a:r>
            <a:r>
              <a:rPr lang="zh-TW" altLang="en-US" dirty="0">
                <a:solidFill>
                  <a:srgbClr val="0000FF"/>
                </a:solidFill>
              </a:rPr>
              <a:t>的數值資料：</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420888"/>
            <a:ext cx="5093940" cy="3398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0846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2"/>
            <a:r>
              <a:rPr lang="zh-TW" altLang="en-US" dirty="0"/>
              <a:t>評估</a:t>
            </a:r>
            <a:r>
              <a:rPr lang="en-US" altLang="zh-TW" dirty="0"/>
              <a:t>K-means </a:t>
            </a:r>
            <a:r>
              <a:rPr lang="zh-TW" altLang="en-US" dirty="0"/>
              <a:t>分群效果</a:t>
            </a:r>
          </a:p>
          <a:p>
            <a:pPr lvl="3"/>
            <a:r>
              <a:rPr lang="zh-TW" altLang="en-US" dirty="0">
                <a:solidFill>
                  <a:srgbClr val="FF0000"/>
                </a:solidFill>
              </a:rPr>
              <a:t>如果使用者無法決定群組數量，可對各種群組數量</a:t>
            </a:r>
            <a:r>
              <a:rPr lang="zh-TW" altLang="en-US" b="1" dirty="0">
                <a:solidFill>
                  <a:srgbClr val="FF0000"/>
                </a:solidFill>
              </a:rPr>
              <a:t>分組結果進行評估</a:t>
            </a:r>
            <a:r>
              <a:rPr lang="zh-TW" altLang="en-US" dirty="0">
                <a:solidFill>
                  <a:srgbClr val="FF0000"/>
                </a:solidFill>
              </a:rPr>
              <a:t>，做為決定</a:t>
            </a:r>
            <a:r>
              <a:rPr lang="zh-TW" altLang="en-US" dirty="0" smtClean="0">
                <a:solidFill>
                  <a:srgbClr val="FF0000"/>
                </a:solidFill>
              </a:rPr>
              <a:t>群組</a:t>
            </a:r>
            <a:r>
              <a:rPr lang="zh-TW" altLang="en-US" dirty="0">
                <a:solidFill>
                  <a:srgbClr val="FF0000"/>
                </a:solidFill>
              </a:rPr>
              <a:t>數量的參考依據</a:t>
            </a:r>
            <a:r>
              <a:rPr lang="zh-TW" altLang="en-US" dirty="0"/>
              <a:t>。以下程式對群組數量</a:t>
            </a:r>
            <a:r>
              <a:rPr lang="en-US" altLang="zh-TW" dirty="0"/>
              <a:t>2 </a:t>
            </a:r>
            <a:r>
              <a:rPr lang="zh-TW" altLang="en-US" dirty="0"/>
              <a:t>到</a:t>
            </a:r>
            <a:r>
              <a:rPr lang="en-US" altLang="zh-TW" dirty="0"/>
              <a:t>14 </a:t>
            </a:r>
            <a:r>
              <a:rPr lang="zh-TW" altLang="en-US" dirty="0"/>
              <a:t>進行評估</a:t>
            </a:r>
            <a:r>
              <a:rPr lang="zh-TW" altLang="en-US" dirty="0" smtClean="0"/>
              <a:t>：</a:t>
            </a:r>
            <a:endParaRPr lang="en-US" altLang="zh-TW" dirty="0" smtClean="0"/>
          </a:p>
          <a:p>
            <a:pPr lvl="3"/>
            <a:endParaRPr lang="en-US" altLang="zh-TW" dirty="0"/>
          </a:p>
          <a:p>
            <a:pPr lvl="3"/>
            <a:endParaRPr lang="en-US" altLang="zh-TW" dirty="0" smtClean="0"/>
          </a:p>
          <a:p>
            <a:pPr lvl="3"/>
            <a:endParaRPr lang="en-US" altLang="zh-TW" dirty="0" smtClean="0"/>
          </a:p>
          <a:p>
            <a:pPr lvl="3"/>
            <a:endParaRPr lang="en-US" altLang="zh-TW" dirty="0"/>
          </a:p>
          <a:p>
            <a:pPr lvl="3"/>
            <a:endParaRPr lang="en-US" altLang="zh-TW" dirty="0" smtClean="0"/>
          </a:p>
          <a:p>
            <a:pPr lvl="3"/>
            <a:endParaRPr lang="en-US" altLang="zh-TW" dirty="0"/>
          </a:p>
          <a:p>
            <a:pPr lvl="3"/>
            <a:endParaRPr lang="en-US" altLang="zh-TW" dirty="0" smtClean="0"/>
          </a:p>
          <a:p>
            <a:pPr lvl="3"/>
            <a:r>
              <a:rPr lang="zh-TW" altLang="en-US" dirty="0"/>
              <a:t>評分越高表示分組效果越好，上圖中分為</a:t>
            </a:r>
            <a:r>
              <a:rPr lang="en-US" altLang="zh-TW" dirty="0"/>
              <a:t>6 </a:t>
            </a:r>
            <a:r>
              <a:rPr lang="zh-TW" altLang="en-US" dirty="0"/>
              <a:t>組是分組最佳效果。但分組效果最好</a:t>
            </a:r>
            <a:r>
              <a:rPr lang="zh-TW" altLang="en-US" dirty="0" smtClean="0"/>
              <a:t>不一定</a:t>
            </a:r>
            <a:r>
              <a:rPr lang="zh-TW" altLang="en-US" dirty="0"/>
              <a:t>符合使用者需求，還要實作看資料分組後各組資料的意義才是最重要的考量。</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865784"/>
            <a:ext cx="4670500" cy="2842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7794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en-US" altLang="zh-TW" dirty="0">
                <a:solidFill>
                  <a:srgbClr val="0000FF"/>
                </a:solidFill>
              </a:rPr>
              <a:t>DB</a:t>
            </a:r>
            <a:r>
              <a:rPr lang="en-US" altLang="zh-TW" dirty="0"/>
              <a:t>SCAN (</a:t>
            </a:r>
            <a:r>
              <a:rPr lang="en-US" altLang="zh-TW" dirty="0">
                <a:solidFill>
                  <a:srgbClr val="0000FF"/>
                </a:solidFill>
              </a:rPr>
              <a:t>Density-based</a:t>
            </a:r>
            <a:r>
              <a:rPr lang="en-US" altLang="zh-TW" dirty="0"/>
              <a:t> spatial clustering</a:t>
            </a:r>
            <a:r>
              <a:rPr lang="zh-TW" altLang="en-US" dirty="0"/>
              <a:t>，</a:t>
            </a:r>
            <a:r>
              <a:rPr lang="zh-TW" altLang="en-US" dirty="0">
                <a:solidFill>
                  <a:srgbClr val="0000FF"/>
                </a:solidFill>
              </a:rPr>
              <a:t>密度空間分群</a:t>
            </a:r>
            <a:r>
              <a:rPr lang="en-US" altLang="zh-TW" dirty="0"/>
              <a:t>) </a:t>
            </a:r>
            <a:r>
              <a:rPr lang="zh-TW" altLang="en-US" dirty="0"/>
              <a:t>演算法也是一種非</a:t>
            </a:r>
            <a:r>
              <a:rPr lang="zh-TW" altLang="en-US" dirty="0" smtClean="0"/>
              <a:t>監督機器學習</a:t>
            </a:r>
            <a:r>
              <a:rPr lang="zh-TW" altLang="en-US" dirty="0"/>
              <a:t>演算法，同樣可以將資料分為許多群組。</a:t>
            </a:r>
          </a:p>
          <a:p>
            <a:pPr lvl="3"/>
            <a:r>
              <a:rPr lang="zh-TW" altLang="en-US" dirty="0"/>
              <a:t>與</a:t>
            </a:r>
            <a:r>
              <a:rPr lang="en-US" altLang="zh-TW" dirty="0"/>
              <a:t>K-means </a:t>
            </a:r>
            <a:r>
              <a:rPr lang="zh-TW" altLang="en-US" dirty="0"/>
              <a:t>演算法相較，</a:t>
            </a:r>
            <a:r>
              <a:rPr lang="en-US" altLang="zh-TW" dirty="0"/>
              <a:t>DBSCAN </a:t>
            </a:r>
            <a:r>
              <a:rPr lang="zh-TW" altLang="en-US" dirty="0"/>
              <a:t>演算法不必指定要分為多少個群組，而且可以</a:t>
            </a:r>
            <a:r>
              <a:rPr lang="zh-TW" altLang="en-US" dirty="0" smtClean="0"/>
              <a:t>將異常</a:t>
            </a:r>
            <a:r>
              <a:rPr lang="zh-TW" altLang="en-US" dirty="0"/>
              <a:t>值排除於群組之外。</a:t>
            </a:r>
          </a:p>
          <a:p>
            <a:pPr lvl="1"/>
            <a:r>
              <a:rPr lang="en-US" altLang="zh-TW" dirty="0"/>
              <a:t>7.3.1 DBSCAN </a:t>
            </a:r>
            <a:r>
              <a:rPr lang="zh-TW" altLang="en-US" dirty="0"/>
              <a:t>演算法</a:t>
            </a:r>
            <a:r>
              <a:rPr lang="zh-TW" altLang="en-US" dirty="0" smtClean="0"/>
              <a:t>原理</a:t>
            </a:r>
            <a:endParaRPr lang="en-US" altLang="zh-TW" dirty="0" smtClean="0"/>
          </a:p>
          <a:p>
            <a:pPr lvl="3"/>
            <a:r>
              <a:rPr lang="en-US" altLang="zh-TW" dirty="0"/>
              <a:t>DBSCAN </a:t>
            </a:r>
            <a:r>
              <a:rPr lang="zh-TW" altLang="en-US" dirty="0"/>
              <a:t>演算法的特點是不依賴於距離，而是</a:t>
            </a:r>
            <a:r>
              <a:rPr lang="zh-TW" altLang="en-US" dirty="0">
                <a:solidFill>
                  <a:srgbClr val="FF0000"/>
                </a:solidFill>
              </a:rPr>
              <a:t>依賴於密度</a:t>
            </a:r>
            <a:r>
              <a:rPr lang="zh-TW" altLang="en-US" dirty="0"/>
              <a:t>：是從某一個資料點出發</a:t>
            </a:r>
            <a:r>
              <a:rPr lang="zh-TW" altLang="en-US" dirty="0" smtClean="0"/>
              <a:t>，不斷</a:t>
            </a:r>
            <a:r>
              <a:rPr lang="zh-TW" altLang="en-US" dirty="0"/>
              <a:t>向密度可達的區域擴張，從而得到一個最大化的區域，此區域內的資料即為</a:t>
            </a:r>
            <a:r>
              <a:rPr lang="zh-TW" altLang="en-US" dirty="0" smtClean="0"/>
              <a:t>一個群</a:t>
            </a:r>
            <a:r>
              <a:rPr lang="zh-TW" altLang="en-US" dirty="0"/>
              <a:t>組。</a:t>
            </a:r>
          </a:p>
          <a:p>
            <a:pPr lvl="3"/>
            <a:r>
              <a:rPr lang="en-US" altLang="zh-TW" dirty="0"/>
              <a:t>DBSCAN </a:t>
            </a:r>
            <a:r>
              <a:rPr lang="zh-TW" altLang="en-US" dirty="0"/>
              <a:t>演算法有兩個參數：</a:t>
            </a:r>
            <a:r>
              <a:rPr lang="zh-TW" altLang="en-US" b="1" dirty="0"/>
              <a:t>密度半徑</a:t>
            </a:r>
            <a:r>
              <a:rPr lang="en-US" altLang="zh-TW" b="1" dirty="0"/>
              <a:t>(eps) </a:t>
            </a:r>
            <a:r>
              <a:rPr lang="zh-TW" altLang="en-US" dirty="0"/>
              <a:t>及</a:t>
            </a:r>
            <a:r>
              <a:rPr lang="zh-TW" altLang="en-US" b="1" dirty="0"/>
              <a:t>最小資料數</a:t>
            </a:r>
            <a:r>
              <a:rPr lang="en-US" altLang="zh-TW" b="1" dirty="0"/>
              <a:t>(</a:t>
            </a:r>
            <a:r>
              <a:rPr lang="en-US" altLang="zh-TW" b="1" dirty="0" err="1"/>
              <a:t>min_samples</a:t>
            </a:r>
            <a:r>
              <a:rPr lang="en-US" altLang="zh-TW" b="1" dirty="0"/>
              <a:t>)</a:t>
            </a:r>
            <a:r>
              <a:rPr lang="zh-TW" altLang="en-US" dirty="0"/>
              <a:t>。以</a:t>
            </a:r>
            <a:r>
              <a:rPr lang="zh-TW" altLang="en-US" dirty="0" smtClean="0"/>
              <a:t>起始</a:t>
            </a:r>
            <a:r>
              <a:rPr lang="zh-TW" altLang="en-US" dirty="0"/>
              <a:t>資料點為圓心，密度半徑為半徑畫圓，若在此圓內的資料數量大於等於最小資料</a:t>
            </a:r>
            <a:r>
              <a:rPr lang="zh-TW" altLang="en-US" dirty="0" smtClean="0"/>
              <a:t>數</a:t>
            </a:r>
            <a:r>
              <a:rPr lang="en-US" altLang="zh-TW" dirty="0" smtClean="0"/>
              <a:t>( </a:t>
            </a:r>
            <a:r>
              <a:rPr lang="zh-TW" altLang="en-US" dirty="0"/>
              <a:t>包含圓心資料點</a:t>
            </a:r>
            <a:r>
              <a:rPr lang="en-US" altLang="zh-TW" dirty="0"/>
              <a:t>)</a:t>
            </a:r>
            <a:r>
              <a:rPr lang="zh-TW" altLang="en-US" dirty="0"/>
              <a:t>，則這些資料為同一群組；再以新加入的資料點為圓心，密度</a:t>
            </a:r>
            <a:r>
              <a:rPr lang="zh-TW" altLang="en-US" dirty="0" smtClean="0"/>
              <a:t>半徑</a:t>
            </a:r>
            <a:r>
              <a:rPr lang="zh-TW" altLang="en-US" dirty="0"/>
              <a:t>為半徑畫圓納入新資料點，重複此步驟，直到沒有新資料點可以納入時，就結束</a:t>
            </a:r>
            <a:r>
              <a:rPr lang="zh-TW" altLang="en-US" dirty="0" smtClean="0"/>
              <a:t>該群</a:t>
            </a:r>
            <a:r>
              <a:rPr lang="zh-TW" altLang="en-US" dirty="0"/>
              <a:t>組。</a:t>
            </a:r>
          </a:p>
        </p:txBody>
      </p:sp>
      <p:sp>
        <p:nvSpPr>
          <p:cNvPr id="2" name="標題 1"/>
          <p:cNvSpPr>
            <a:spLocks noGrp="1"/>
          </p:cNvSpPr>
          <p:nvPr>
            <p:ph type="title"/>
          </p:nvPr>
        </p:nvSpPr>
        <p:spPr/>
        <p:txBody>
          <a:bodyPr/>
          <a:lstStyle/>
          <a:p>
            <a:r>
              <a:rPr lang="en-US" altLang="zh-TW" dirty="0"/>
              <a:t>7.3 DBSCAN </a:t>
            </a:r>
            <a:r>
              <a:rPr lang="zh-TW" altLang="en-US" dirty="0"/>
              <a:t>演算法</a:t>
            </a:r>
          </a:p>
        </p:txBody>
      </p:sp>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2"/>
            <a:r>
              <a:rPr lang="en-US" altLang="zh-TW" dirty="0"/>
              <a:t>DBSCAN </a:t>
            </a:r>
            <a:r>
              <a:rPr lang="zh-TW" altLang="en-US" dirty="0"/>
              <a:t>運作步驟</a:t>
            </a:r>
          </a:p>
          <a:p>
            <a:pPr lvl="3"/>
            <a:r>
              <a:rPr lang="zh-TW" altLang="en-US" dirty="0"/>
              <a:t>以下使用最小資料數為</a:t>
            </a:r>
            <a:r>
              <a:rPr lang="en-US" altLang="zh-TW" dirty="0"/>
              <a:t>3 </a:t>
            </a:r>
            <a:r>
              <a:rPr lang="zh-TW" altLang="en-US" dirty="0"/>
              <a:t>個</a:t>
            </a:r>
            <a:r>
              <a:rPr lang="en-US" altLang="zh-TW" dirty="0"/>
              <a:t>(</a:t>
            </a:r>
            <a:r>
              <a:rPr lang="en-US" altLang="zh-TW" dirty="0" err="1"/>
              <a:t>min_samples</a:t>
            </a:r>
            <a:r>
              <a:rPr lang="en-US" altLang="zh-TW" dirty="0"/>
              <a:t>=3) </a:t>
            </a:r>
            <a:r>
              <a:rPr lang="zh-TW" altLang="en-US" dirty="0"/>
              <a:t>做說明。</a:t>
            </a:r>
          </a:p>
          <a:p>
            <a:pPr marL="342900" lvl="3" indent="-342900">
              <a:buFont typeface="+mj-lt"/>
              <a:buAutoNum type="arabicPeriod"/>
            </a:pPr>
            <a:r>
              <a:rPr lang="zh-TW" altLang="en-US" dirty="0" smtClean="0"/>
              <a:t>以</a:t>
            </a:r>
            <a:r>
              <a:rPr lang="zh-TW" altLang="en-US" dirty="0"/>
              <a:t>資料</a:t>
            </a:r>
            <a:r>
              <a:rPr lang="en-US" altLang="zh-TW" dirty="0"/>
              <a:t>A </a:t>
            </a:r>
            <a:r>
              <a:rPr lang="zh-TW" altLang="en-US" dirty="0"/>
              <a:t>為圓心，密度半徑</a:t>
            </a:r>
            <a:r>
              <a:rPr lang="en-US" altLang="zh-TW" dirty="0"/>
              <a:t>(eps) </a:t>
            </a:r>
            <a:r>
              <a:rPr lang="zh-TW" altLang="en-US" dirty="0"/>
              <a:t>為半徑畫圓，此圓包含</a:t>
            </a:r>
            <a:r>
              <a:rPr lang="en-US" altLang="zh-TW" dirty="0"/>
              <a:t>A</a:t>
            </a:r>
            <a:r>
              <a:rPr lang="zh-TW" altLang="en-US" dirty="0"/>
              <a:t>、</a:t>
            </a:r>
            <a:r>
              <a:rPr lang="en-US" altLang="zh-TW" dirty="0"/>
              <a:t>B</a:t>
            </a:r>
            <a:r>
              <a:rPr lang="zh-TW" altLang="en-US" dirty="0"/>
              <a:t>、</a:t>
            </a:r>
            <a:r>
              <a:rPr lang="en-US" altLang="zh-TW" dirty="0"/>
              <a:t>C </a:t>
            </a:r>
            <a:r>
              <a:rPr lang="zh-TW" altLang="en-US" dirty="0"/>
              <a:t>三個資料</a:t>
            </a:r>
            <a:r>
              <a:rPr lang="zh-TW" altLang="en-US" dirty="0" smtClean="0"/>
              <a:t>，所以</a:t>
            </a:r>
            <a:r>
              <a:rPr lang="en-US" altLang="zh-TW" dirty="0"/>
              <a:t>A</a:t>
            </a:r>
            <a:r>
              <a:rPr lang="zh-TW" altLang="en-US" dirty="0"/>
              <a:t>、</a:t>
            </a:r>
            <a:r>
              <a:rPr lang="en-US" altLang="zh-TW" dirty="0"/>
              <a:t>B</a:t>
            </a:r>
            <a:r>
              <a:rPr lang="zh-TW" altLang="en-US" dirty="0"/>
              <a:t>、</a:t>
            </a:r>
            <a:r>
              <a:rPr lang="en-US" altLang="zh-TW" dirty="0"/>
              <a:t>C </a:t>
            </a:r>
            <a:r>
              <a:rPr lang="zh-TW" altLang="en-US" dirty="0"/>
              <a:t>為同一群組。</a:t>
            </a:r>
            <a:r>
              <a:rPr lang="en-US" altLang="zh-TW" dirty="0"/>
              <a:t>( </a:t>
            </a:r>
            <a:r>
              <a:rPr lang="zh-TW" altLang="en-US" dirty="0"/>
              <a:t>左下圖</a:t>
            </a:r>
            <a:r>
              <a:rPr lang="en-US" altLang="zh-TW" dirty="0"/>
              <a:t>)</a:t>
            </a:r>
          </a:p>
          <a:p>
            <a:pPr marL="342900" lvl="3" indent="-342900">
              <a:buFont typeface="+mj-lt"/>
              <a:buAutoNum type="arabicPeriod"/>
            </a:pPr>
            <a:r>
              <a:rPr lang="zh-TW" altLang="en-US" dirty="0" smtClean="0"/>
              <a:t>分別</a:t>
            </a:r>
            <a:r>
              <a:rPr lang="zh-TW" altLang="en-US" dirty="0"/>
              <a:t>以資料</a:t>
            </a:r>
            <a:r>
              <a:rPr lang="en-US" altLang="zh-TW" dirty="0"/>
              <a:t>B</a:t>
            </a:r>
            <a:r>
              <a:rPr lang="zh-TW" altLang="en-US" dirty="0"/>
              <a:t>、</a:t>
            </a:r>
            <a:r>
              <a:rPr lang="en-US" altLang="zh-TW" dirty="0"/>
              <a:t>C </a:t>
            </a:r>
            <a:r>
              <a:rPr lang="zh-TW" altLang="en-US" dirty="0"/>
              <a:t>為圓心，密度半徑為半徑畫圓，會包含</a:t>
            </a:r>
            <a:r>
              <a:rPr lang="en-US" altLang="zh-TW" dirty="0"/>
              <a:t>D</a:t>
            </a:r>
            <a:r>
              <a:rPr lang="zh-TW" altLang="en-US" dirty="0"/>
              <a:t>、</a:t>
            </a:r>
            <a:r>
              <a:rPr lang="en-US" altLang="zh-TW" dirty="0"/>
              <a:t>E</a:t>
            </a:r>
            <a:r>
              <a:rPr lang="zh-TW" altLang="en-US" dirty="0"/>
              <a:t>、</a:t>
            </a:r>
            <a:r>
              <a:rPr lang="en-US" altLang="zh-TW" dirty="0"/>
              <a:t>G </a:t>
            </a:r>
            <a:r>
              <a:rPr lang="zh-TW" altLang="en-US" dirty="0"/>
              <a:t>三個資料</a:t>
            </a:r>
            <a:r>
              <a:rPr lang="zh-TW" altLang="en-US" dirty="0" smtClean="0"/>
              <a:t>。重複</a:t>
            </a:r>
            <a:r>
              <a:rPr lang="zh-TW" altLang="en-US" dirty="0"/>
              <a:t>畫圓納入資料，最後資料</a:t>
            </a:r>
            <a:r>
              <a:rPr lang="en-US" altLang="zh-TW" dirty="0"/>
              <a:t>A </a:t>
            </a:r>
            <a:r>
              <a:rPr lang="zh-TW" altLang="en-US" dirty="0"/>
              <a:t>到</a:t>
            </a:r>
            <a:r>
              <a:rPr lang="en-US" altLang="zh-TW" dirty="0"/>
              <a:t>G </a:t>
            </a:r>
            <a:r>
              <a:rPr lang="zh-TW" altLang="en-US" dirty="0"/>
              <a:t>為同一群組。</a:t>
            </a:r>
            <a:r>
              <a:rPr lang="en-US" altLang="zh-TW" dirty="0"/>
              <a:t>( </a:t>
            </a:r>
            <a:r>
              <a:rPr lang="zh-TW" altLang="en-US" dirty="0"/>
              <a:t>右下圖</a:t>
            </a:r>
            <a:r>
              <a:rPr lang="en-US" altLang="zh-TW" dirty="0" smtClean="0"/>
              <a:t>)</a:t>
            </a:r>
          </a:p>
          <a:p>
            <a:pPr lvl="3"/>
            <a:endParaRPr lang="en-US" altLang="zh-TW" dirty="0"/>
          </a:p>
          <a:p>
            <a:pPr lvl="3"/>
            <a:endParaRPr lang="en-US" altLang="zh-TW" dirty="0"/>
          </a:p>
          <a:p>
            <a:pPr lvl="3"/>
            <a:endParaRPr lang="en-US" altLang="zh-TW" dirty="0" smtClean="0"/>
          </a:p>
          <a:p>
            <a:pPr lvl="2"/>
            <a:r>
              <a:rPr lang="zh-TW" altLang="en-US" dirty="0" smtClean="0"/>
              <a:t>優點</a:t>
            </a:r>
            <a:r>
              <a:rPr lang="zh-TW" altLang="en-US" dirty="0"/>
              <a:t>及缺點</a:t>
            </a:r>
          </a:p>
          <a:p>
            <a:pPr lvl="3"/>
            <a:r>
              <a:rPr lang="en-US" altLang="zh-TW" dirty="0"/>
              <a:t>DBSCAN </a:t>
            </a:r>
            <a:r>
              <a:rPr lang="zh-TW" altLang="en-US" dirty="0"/>
              <a:t>演算法的優點：</a:t>
            </a:r>
          </a:p>
          <a:p>
            <a:pPr marL="285750" lvl="3" indent="-285750">
              <a:buFont typeface="Wingdings" panose="05000000000000000000" pitchFamily="2" charset="2"/>
              <a:buChar char="n"/>
            </a:pPr>
            <a:r>
              <a:rPr lang="zh-TW" altLang="en-US" dirty="0" smtClean="0"/>
              <a:t>不</a:t>
            </a:r>
            <a:r>
              <a:rPr lang="zh-TW" altLang="en-US" dirty="0"/>
              <a:t>需要指定群組的數目。</a:t>
            </a:r>
          </a:p>
          <a:p>
            <a:pPr marL="285750" lvl="3" indent="-285750">
              <a:buFont typeface="Wingdings" panose="05000000000000000000" pitchFamily="2" charset="2"/>
              <a:buChar char="n"/>
            </a:pPr>
            <a:r>
              <a:rPr lang="zh-TW" altLang="en-US" dirty="0" smtClean="0">
                <a:solidFill>
                  <a:srgbClr val="FF0000"/>
                </a:solidFill>
              </a:rPr>
              <a:t>不</a:t>
            </a:r>
            <a:r>
              <a:rPr lang="zh-TW" altLang="en-US" dirty="0">
                <a:solidFill>
                  <a:srgbClr val="FF0000"/>
                </a:solidFill>
              </a:rPr>
              <a:t>受異常值影響，且可將異常值排除於群組之外</a:t>
            </a:r>
            <a:r>
              <a:rPr lang="zh-TW" altLang="en-US" dirty="0" smtClean="0"/>
              <a:t>。</a:t>
            </a:r>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212976"/>
            <a:ext cx="4025627" cy="1486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en-US" altLang="zh-TW" dirty="0"/>
              <a:t>DBSCAN </a:t>
            </a:r>
            <a:r>
              <a:rPr lang="zh-TW" altLang="en-US" dirty="0"/>
              <a:t>演算法的缺點：</a:t>
            </a:r>
          </a:p>
          <a:p>
            <a:pPr marL="285750" lvl="3" indent="-285750">
              <a:buFont typeface="Wingdings" panose="05000000000000000000" pitchFamily="2" charset="2"/>
              <a:buChar char="n"/>
            </a:pPr>
            <a:r>
              <a:rPr lang="zh-TW" altLang="en-US" dirty="0" smtClean="0"/>
              <a:t>計算</a:t>
            </a:r>
            <a:r>
              <a:rPr lang="zh-TW" altLang="en-US" dirty="0"/>
              <a:t>方式較複雜，較耗計算資源。</a:t>
            </a:r>
          </a:p>
          <a:p>
            <a:pPr marL="285750" lvl="3" indent="-285750">
              <a:buFont typeface="Wingdings" panose="05000000000000000000" pitchFamily="2" charset="2"/>
              <a:buChar char="n"/>
            </a:pPr>
            <a:r>
              <a:rPr lang="zh-TW" altLang="en-US" dirty="0" smtClean="0"/>
              <a:t>不</a:t>
            </a:r>
            <a:r>
              <a:rPr lang="zh-TW" altLang="en-US" dirty="0"/>
              <a:t>適合密度差異很大的資料集</a:t>
            </a:r>
            <a:r>
              <a:rPr lang="zh-TW" altLang="en-US" dirty="0" smtClean="0"/>
              <a:t>。</a:t>
            </a:r>
            <a:endParaRPr lang="en-US" altLang="zh-TW" dirty="0" smtClean="0"/>
          </a:p>
          <a:p>
            <a:pPr lvl="1"/>
            <a:r>
              <a:rPr lang="en-US" altLang="zh-TW" dirty="0"/>
              <a:t>7.3.2 </a:t>
            </a:r>
            <a:r>
              <a:rPr lang="en-US" altLang="zh-TW" dirty="0" err="1"/>
              <a:t>Scikit</a:t>
            </a:r>
            <a:r>
              <a:rPr lang="en-US" altLang="zh-TW" dirty="0"/>
              <a:t>-Learn </a:t>
            </a:r>
            <a:r>
              <a:rPr lang="zh-TW" altLang="en-US" dirty="0"/>
              <a:t>的</a:t>
            </a:r>
            <a:r>
              <a:rPr lang="en-US" altLang="zh-TW" dirty="0"/>
              <a:t>DBSCAN </a:t>
            </a:r>
            <a:r>
              <a:rPr lang="zh-TW" altLang="en-US" dirty="0"/>
              <a:t>模組</a:t>
            </a:r>
          </a:p>
          <a:p>
            <a:pPr marL="342900" lvl="3" indent="-342900">
              <a:buFont typeface="+mj-lt"/>
              <a:buAutoNum type="arabicPeriod"/>
            </a:pPr>
            <a:r>
              <a:rPr lang="zh-TW" altLang="en-US" dirty="0" smtClean="0"/>
              <a:t>在</a:t>
            </a:r>
            <a:r>
              <a:rPr lang="en-US" altLang="zh-TW" dirty="0" err="1"/>
              <a:t>Scikit</a:t>
            </a:r>
            <a:r>
              <a:rPr lang="en-US" altLang="zh-TW" dirty="0"/>
              <a:t>-Learn </a:t>
            </a:r>
            <a:r>
              <a:rPr lang="zh-TW" altLang="en-US" dirty="0"/>
              <a:t>要使用</a:t>
            </a:r>
            <a:r>
              <a:rPr lang="en-US" altLang="zh-TW" dirty="0"/>
              <a:t>DBSCAN </a:t>
            </a:r>
            <a:r>
              <a:rPr lang="zh-TW" altLang="en-US" dirty="0"/>
              <a:t>演算法，首先含入模組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a:t>DBSCAN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Wingdings" panose="05000000000000000000" pitchFamily="2" charset="2"/>
              <a:buChar char="n"/>
            </a:pPr>
            <a:r>
              <a:rPr lang="en-US" altLang="zh-TW" b="1" dirty="0"/>
              <a:t>eps</a:t>
            </a:r>
            <a:r>
              <a:rPr lang="zh-TW" altLang="en-US" dirty="0"/>
              <a:t>：密度半徑。預設值為 </a:t>
            </a:r>
            <a:r>
              <a:rPr lang="en-US" altLang="zh-TW" dirty="0"/>
              <a:t>0.5</a:t>
            </a:r>
            <a:r>
              <a:rPr lang="zh-TW" altLang="en-US" dirty="0" smtClean="0"/>
              <a:t>。</a:t>
            </a:r>
          </a:p>
          <a:p>
            <a:pPr marL="342900" lvl="3" indent="-342900">
              <a:buFont typeface="Wingdings" panose="05000000000000000000" pitchFamily="2" charset="2"/>
              <a:buChar char="n"/>
            </a:pPr>
            <a:r>
              <a:rPr lang="en-US" altLang="zh-TW" b="1" dirty="0" err="1" smtClean="0"/>
              <a:t>min_samples</a:t>
            </a:r>
            <a:r>
              <a:rPr lang="zh-TW" altLang="en-US" dirty="0"/>
              <a:t>：以密度半徑畫的圓內包含的最小資料數量。預設值為</a:t>
            </a:r>
            <a:r>
              <a:rPr lang="en-US" altLang="zh-TW" dirty="0"/>
              <a:t>5</a:t>
            </a:r>
            <a:r>
              <a:rPr lang="zh-TW" altLang="en-US" dirty="0" smtClean="0"/>
              <a:t>。</a:t>
            </a:r>
            <a:endParaRPr lang="en-US" altLang="zh-TW" dirty="0" smtClean="0"/>
          </a:p>
          <a:p>
            <a:pPr marL="342900" lvl="3" indent="-342900">
              <a:buFont typeface="+mj-lt"/>
              <a:buAutoNum type="arabicPeriod" startAt="3"/>
            </a:pPr>
            <a:r>
              <a:rPr lang="zh-TW" altLang="en-US" dirty="0"/>
              <a:t>然後就可利用</a:t>
            </a:r>
            <a:r>
              <a:rPr lang="en-US" altLang="zh-TW" dirty="0"/>
              <a:t>fit() </a:t>
            </a:r>
            <a:r>
              <a:rPr lang="zh-TW" altLang="en-US" dirty="0"/>
              <a:t>方法進行訓練，語法為</a:t>
            </a:r>
            <a:r>
              <a:rPr lang="zh-TW" altLang="en-US" dirty="0" smtClean="0"/>
              <a:t>：</a:t>
            </a:r>
            <a:endParaRPr lang="en-US" altLang="zh-TW" dirty="0"/>
          </a:p>
          <a:p>
            <a:pPr marL="342900" lvl="3" indent="-342900">
              <a:buFont typeface="Wingdings" panose="05000000000000000000" pitchFamily="2" charset="2"/>
              <a:buChar char="n"/>
            </a:pPr>
            <a:endParaRPr lang="en-US" altLang="zh-TW" dirty="0" smtClean="0"/>
          </a:p>
          <a:p>
            <a:pPr lvl="3"/>
            <a:r>
              <a:rPr lang="zh-TW" altLang="en-US" dirty="0" smtClean="0"/>
              <a:t>       訓練</a:t>
            </a:r>
            <a:r>
              <a:rPr lang="zh-TW" altLang="en-US" dirty="0"/>
              <a:t>資料是經過標準化處理的資料。</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852936"/>
            <a:ext cx="5335116" cy="5095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3717032"/>
            <a:ext cx="5327623" cy="532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5445224"/>
            <a:ext cx="5184576" cy="4951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1"/>
            <a:r>
              <a:rPr lang="en-US" altLang="zh-TW" dirty="0"/>
              <a:t>7.3.3 DBSCAN </a:t>
            </a:r>
            <a:r>
              <a:rPr lang="zh-TW" altLang="en-US" dirty="0"/>
              <a:t>應用：信用卡客戶分</a:t>
            </a:r>
            <a:r>
              <a:rPr lang="zh-TW" altLang="en-US" dirty="0" smtClean="0"/>
              <a:t>群</a:t>
            </a:r>
            <a:endParaRPr lang="en-US" altLang="zh-TW" dirty="0" smtClean="0"/>
          </a:p>
          <a:p>
            <a:pPr lvl="3"/>
            <a:r>
              <a:rPr lang="zh-TW" altLang="en-US" dirty="0"/>
              <a:t>除了載入要使用的模組，首先使用字典對照法，</a:t>
            </a:r>
            <a:r>
              <a:rPr lang="zh-TW" altLang="en-US" dirty="0">
                <a:solidFill>
                  <a:srgbClr val="FF0000"/>
                </a:solidFill>
              </a:rPr>
              <a:t>將「性別」欄位的文字資料轉換</a:t>
            </a:r>
            <a:r>
              <a:rPr lang="zh-TW" altLang="en-US" dirty="0" smtClean="0">
                <a:solidFill>
                  <a:srgbClr val="FF0000"/>
                </a:solidFill>
              </a:rPr>
              <a:t>成男</a:t>
            </a:r>
            <a:r>
              <a:rPr lang="zh-TW" altLang="en-US" dirty="0">
                <a:solidFill>
                  <a:srgbClr val="FF0000"/>
                </a:solidFill>
              </a:rPr>
              <a:t>為</a:t>
            </a:r>
            <a:r>
              <a:rPr lang="en-US" altLang="zh-TW" dirty="0">
                <a:solidFill>
                  <a:srgbClr val="FF0000"/>
                </a:solidFill>
              </a:rPr>
              <a:t>1</a:t>
            </a:r>
            <a:r>
              <a:rPr lang="zh-TW" altLang="en-US" dirty="0">
                <a:solidFill>
                  <a:srgbClr val="FF0000"/>
                </a:solidFill>
              </a:rPr>
              <a:t>，女為</a:t>
            </a:r>
            <a:r>
              <a:rPr lang="en-US" altLang="zh-TW" dirty="0">
                <a:solidFill>
                  <a:srgbClr val="FF0000"/>
                </a:solidFill>
              </a:rPr>
              <a:t>2 </a:t>
            </a:r>
            <a:r>
              <a:rPr lang="zh-TW" altLang="en-US" dirty="0">
                <a:solidFill>
                  <a:srgbClr val="FF0000"/>
                </a:solidFill>
              </a:rPr>
              <a:t>的數值資料</a:t>
            </a:r>
            <a:r>
              <a:rPr lang="zh-TW" altLang="en-US" dirty="0" smtClean="0"/>
              <a:t>：</a:t>
            </a:r>
            <a:endParaRPr lang="en-US" altLang="zh-TW" dirty="0" smtClean="0"/>
          </a:p>
          <a:p>
            <a:pPr lvl="3"/>
            <a:endParaRPr lang="en-US" altLang="zh-TW" dirty="0"/>
          </a:p>
          <a:p>
            <a:pPr lvl="3"/>
            <a:endParaRPr lang="en-US" altLang="zh-TW" dirty="0" smtClean="0"/>
          </a:p>
          <a:p>
            <a:pPr lvl="3"/>
            <a:endParaRPr lang="en-US" altLang="zh-TW" dirty="0"/>
          </a:p>
          <a:p>
            <a:pPr lvl="3"/>
            <a:endParaRPr lang="en-US" altLang="zh-TW" dirty="0" smtClean="0"/>
          </a:p>
          <a:p>
            <a:pPr lvl="3"/>
            <a:endParaRPr lang="en-US" altLang="zh-TW" dirty="0"/>
          </a:p>
          <a:p>
            <a:pPr lvl="3"/>
            <a:endParaRPr lang="en-US" altLang="zh-TW" dirty="0" smtClean="0"/>
          </a:p>
          <a:p>
            <a:pPr lvl="3"/>
            <a:endParaRPr lang="en-US" altLang="zh-TW" dirty="0"/>
          </a:p>
          <a:p>
            <a:pPr lvl="2"/>
            <a:r>
              <a:rPr lang="zh-TW" altLang="en-US" dirty="0"/>
              <a:t>找出異常值</a:t>
            </a:r>
          </a:p>
          <a:p>
            <a:pPr lvl="3"/>
            <a:r>
              <a:rPr lang="en-US" altLang="zh-TW" dirty="0">
                <a:solidFill>
                  <a:srgbClr val="FF0000"/>
                </a:solidFill>
              </a:rPr>
              <a:t>DBSCAN </a:t>
            </a:r>
            <a:r>
              <a:rPr lang="zh-TW" altLang="en-US" dirty="0">
                <a:solidFill>
                  <a:srgbClr val="FF0000"/>
                </a:solidFill>
              </a:rPr>
              <a:t>演算法的最大特色是可以找出異常值</a:t>
            </a:r>
            <a:r>
              <a:rPr lang="zh-TW" altLang="en-US" dirty="0"/>
              <a:t>，</a:t>
            </a:r>
            <a:r>
              <a:rPr lang="zh-TW" altLang="en-US" dirty="0">
                <a:solidFill>
                  <a:srgbClr val="0000FF"/>
                </a:solidFill>
              </a:rPr>
              <a:t>並且在分群時排除這些異常值</a:t>
            </a:r>
            <a:r>
              <a:rPr lang="zh-TW" altLang="en-US" dirty="0"/>
              <a:t>，</a:t>
            </a:r>
            <a:r>
              <a:rPr lang="zh-TW" altLang="en-US" dirty="0" smtClean="0"/>
              <a:t>我們</a:t>
            </a:r>
            <a:r>
              <a:rPr lang="zh-TW" altLang="en-US" dirty="0"/>
              <a:t>應該觀察這些異常值資料的意義。異常值是類別為「</a:t>
            </a:r>
            <a:r>
              <a:rPr lang="en-US" altLang="zh-TW" dirty="0"/>
              <a:t>-1</a:t>
            </a:r>
            <a:r>
              <a:rPr lang="zh-TW" altLang="en-US" dirty="0"/>
              <a:t>」的</a:t>
            </a:r>
            <a:r>
              <a:rPr lang="zh-TW" altLang="en-US" dirty="0" smtClean="0"/>
              <a:t>資料</a:t>
            </a:r>
            <a:r>
              <a:rPr lang="zh-TW" altLang="en-US" dirty="0"/>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060848"/>
            <a:ext cx="4422626" cy="3020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728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pPr lvl="2"/>
            <a:r>
              <a:rPr lang="zh-TW" altLang="en-US" dirty="0"/>
              <a:t>調整分群結果</a:t>
            </a:r>
          </a:p>
          <a:p>
            <a:pPr lvl="3"/>
            <a:r>
              <a:rPr lang="zh-TW" altLang="en-US" dirty="0"/>
              <a:t>如果對於分群結果不滿意，可調整</a:t>
            </a:r>
            <a:r>
              <a:rPr lang="en-US" altLang="zh-TW" dirty="0"/>
              <a:t>eps ( </a:t>
            </a:r>
            <a:r>
              <a:rPr lang="zh-TW" altLang="en-US" dirty="0"/>
              <a:t>密度半徑</a:t>
            </a:r>
            <a:r>
              <a:rPr lang="en-US" altLang="zh-TW" dirty="0"/>
              <a:t>) </a:t>
            </a:r>
            <a:r>
              <a:rPr lang="zh-TW" altLang="en-US" dirty="0"/>
              <a:t>及</a:t>
            </a:r>
            <a:r>
              <a:rPr lang="en-US" altLang="zh-TW" dirty="0" err="1"/>
              <a:t>min_samples</a:t>
            </a:r>
            <a:r>
              <a:rPr lang="en-US" altLang="zh-TW" dirty="0"/>
              <a:t> ( </a:t>
            </a:r>
            <a:r>
              <a:rPr lang="zh-TW" altLang="en-US" dirty="0"/>
              <a:t>最小資料數</a:t>
            </a:r>
            <a:r>
              <a:rPr lang="en-US" altLang="zh-TW" dirty="0" smtClean="0"/>
              <a:t>)</a:t>
            </a:r>
            <a:r>
              <a:rPr lang="zh-TW" altLang="en-US" dirty="0" smtClean="0"/>
              <a:t>參</a:t>
            </a:r>
            <a:r>
              <a:rPr lang="zh-TW" altLang="en-US" dirty="0"/>
              <a:t>數值。</a:t>
            </a:r>
            <a:r>
              <a:rPr lang="en-US" altLang="zh-TW" dirty="0"/>
              <a:t>eps </a:t>
            </a:r>
            <a:r>
              <a:rPr lang="zh-TW" altLang="en-US" dirty="0"/>
              <a:t>變大時，分群數量及異常值都會減少；</a:t>
            </a:r>
            <a:r>
              <a:rPr lang="en-US" altLang="zh-TW" dirty="0"/>
              <a:t>eps </a:t>
            </a:r>
            <a:r>
              <a:rPr lang="zh-TW" altLang="en-US" dirty="0"/>
              <a:t>變小時，分群數量及異常</a:t>
            </a:r>
            <a:r>
              <a:rPr lang="zh-TW" altLang="en-US" dirty="0" smtClean="0"/>
              <a:t>值都會</a:t>
            </a:r>
            <a:r>
              <a:rPr lang="zh-TW" altLang="en-US" dirty="0"/>
              <a:t>增加。</a:t>
            </a:r>
            <a:r>
              <a:rPr lang="en-US" altLang="zh-TW" dirty="0" err="1"/>
              <a:t>min_samples</a:t>
            </a:r>
            <a:r>
              <a:rPr lang="en-US" altLang="zh-TW" dirty="0"/>
              <a:t> </a:t>
            </a:r>
            <a:r>
              <a:rPr lang="zh-TW" altLang="en-US" dirty="0"/>
              <a:t>變大時，分群數量會減少而異常值會增加；</a:t>
            </a:r>
            <a:r>
              <a:rPr lang="en-US" altLang="zh-TW" dirty="0" err="1" smtClean="0"/>
              <a:t>min_samples</a:t>
            </a:r>
            <a:r>
              <a:rPr lang="zh-TW" altLang="en-US" dirty="0" smtClean="0"/>
              <a:t>變</a:t>
            </a:r>
            <a:r>
              <a:rPr lang="zh-TW" altLang="en-US" dirty="0"/>
              <a:t>小時，分群數量會增加而異常值會減少。</a:t>
            </a:r>
          </a:p>
        </p:txBody>
      </p:sp>
      <p:sp>
        <p:nvSpPr>
          <p:cNvPr id="3" name="文字方塊 2"/>
          <p:cNvSpPr txBox="1"/>
          <p:nvPr/>
        </p:nvSpPr>
        <p:spPr>
          <a:xfrm>
            <a:off x="971600" y="3621600"/>
            <a:ext cx="6912768" cy="646331"/>
          </a:xfrm>
          <a:prstGeom prst="rect">
            <a:avLst/>
          </a:prstGeom>
          <a:noFill/>
          <a:ln>
            <a:solidFill>
              <a:srgbClr val="0000FF"/>
            </a:solidFill>
          </a:ln>
        </p:spPr>
        <p:txBody>
          <a:bodyPr wrap="square" rtlCol="0">
            <a:spAutoFit/>
          </a:bodyPr>
          <a:lstStyle/>
          <a:p>
            <a:r>
              <a:rPr lang="zh-TW" altLang="en-US" b="1" dirty="0">
                <a:hlinkClick r:id="rId2"/>
              </a:rPr>
              <a:t>不要再用</a:t>
            </a:r>
            <a:r>
              <a:rPr lang="en-US" altLang="zh-TW" b="1" dirty="0">
                <a:hlinkClick r:id="rId2"/>
              </a:rPr>
              <a:t>K-means</a:t>
            </a:r>
            <a:r>
              <a:rPr lang="zh-TW" altLang="en-US" b="1" dirty="0">
                <a:hlinkClick r:id="rId2"/>
              </a:rPr>
              <a:t>！ 超實用分群法</a:t>
            </a:r>
            <a:r>
              <a:rPr lang="en-US" altLang="zh-TW" b="1" dirty="0">
                <a:hlinkClick r:id="rId2"/>
              </a:rPr>
              <a:t>DBSCAN</a:t>
            </a:r>
            <a:r>
              <a:rPr lang="zh-TW" altLang="en-US" b="1" dirty="0">
                <a:hlinkClick r:id="rId2"/>
              </a:rPr>
              <a:t>詳解</a:t>
            </a:r>
          </a:p>
          <a:p>
            <a:r>
              <a:rPr lang="en-US" altLang="zh-TW" dirty="0">
                <a:hlinkClick r:id="rId2"/>
              </a:rPr>
              <a:t>https://reurl.cc/0X0Mz6</a:t>
            </a:r>
            <a:endParaRPr lang="zh-TW" altLang="en-US" dirty="0"/>
          </a:p>
        </p:txBody>
      </p:sp>
      <p:sp>
        <p:nvSpPr>
          <p:cNvPr id="4" name="文字方塊 3"/>
          <p:cNvSpPr txBox="1"/>
          <p:nvPr/>
        </p:nvSpPr>
        <p:spPr>
          <a:xfrm>
            <a:off x="971600" y="2924944"/>
            <a:ext cx="6912767" cy="369332"/>
          </a:xfrm>
          <a:prstGeom prst="rect">
            <a:avLst/>
          </a:prstGeom>
          <a:solidFill>
            <a:schemeClr val="accent1"/>
          </a:solidFill>
          <a:ln>
            <a:solidFill>
              <a:srgbClr val="FF0000"/>
            </a:solidFill>
          </a:ln>
        </p:spPr>
        <p:txBody>
          <a:bodyPr wrap="square" rtlCol="0">
            <a:spAutoFit/>
          </a:bodyPr>
          <a:lstStyle/>
          <a:p>
            <a:pPr algn="ctr"/>
            <a:r>
              <a:rPr lang="en-US" altLang="zh-TW" dirty="0">
                <a:solidFill>
                  <a:srgbClr val="FFC000"/>
                </a:solidFill>
                <a:latin typeface="標楷體" panose="03000509000000000000" pitchFamily="65" charset="-120"/>
                <a:ea typeface="標楷體" panose="03000509000000000000" pitchFamily="65" charset="-120"/>
              </a:rPr>
              <a:t>DBSCAN</a:t>
            </a:r>
            <a:r>
              <a:rPr lang="zh-TW" altLang="en-US" dirty="0">
                <a:solidFill>
                  <a:srgbClr val="FFC000"/>
                </a:solidFill>
                <a:latin typeface="標楷體" panose="03000509000000000000" pitchFamily="65" charset="-120"/>
                <a:ea typeface="標楷體" panose="03000509000000000000" pitchFamily="65" charset="-120"/>
              </a:rPr>
              <a:t>會依據</a:t>
            </a:r>
            <a:r>
              <a:rPr lang="en-US" altLang="zh-TW" dirty="0">
                <a:solidFill>
                  <a:srgbClr val="FFC000"/>
                </a:solidFill>
                <a:latin typeface="標楷體" panose="03000509000000000000" pitchFamily="65" charset="-120"/>
                <a:ea typeface="標楷體" panose="03000509000000000000" pitchFamily="65" charset="-120"/>
              </a:rPr>
              <a:t>data</a:t>
            </a:r>
            <a:r>
              <a:rPr lang="zh-TW" altLang="en-US" dirty="0">
                <a:solidFill>
                  <a:srgbClr val="FFC000"/>
                </a:solidFill>
                <a:latin typeface="標楷體" panose="03000509000000000000" pitchFamily="65" charset="-120"/>
                <a:ea typeface="標楷體" panose="03000509000000000000" pitchFamily="65" charset="-120"/>
              </a:rPr>
              <a:t>性質自行決定最終</a:t>
            </a:r>
            <a:r>
              <a:rPr lang="en-US" altLang="zh-TW" dirty="0">
                <a:solidFill>
                  <a:srgbClr val="FFC000"/>
                </a:solidFill>
                <a:latin typeface="標楷體" panose="03000509000000000000" pitchFamily="65" charset="-120"/>
                <a:ea typeface="標楷體" panose="03000509000000000000" pitchFamily="65" charset="-120"/>
              </a:rPr>
              <a:t>Cluster</a:t>
            </a:r>
            <a:r>
              <a:rPr lang="zh-TW" altLang="en-US" dirty="0">
                <a:solidFill>
                  <a:srgbClr val="FFC000"/>
                </a:solidFill>
                <a:latin typeface="標楷體" panose="03000509000000000000" pitchFamily="65" charset="-120"/>
                <a:ea typeface="標楷體" panose="03000509000000000000" pitchFamily="65" charset="-120"/>
              </a:rPr>
              <a:t>的數量</a:t>
            </a:r>
          </a:p>
        </p:txBody>
      </p:sp>
      <p:sp>
        <p:nvSpPr>
          <p:cNvPr id="5" name="文字方塊 4"/>
          <p:cNvSpPr txBox="1"/>
          <p:nvPr/>
        </p:nvSpPr>
        <p:spPr>
          <a:xfrm>
            <a:off x="971600" y="4595255"/>
            <a:ext cx="6912768" cy="646331"/>
          </a:xfrm>
          <a:prstGeom prst="rect">
            <a:avLst/>
          </a:prstGeom>
          <a:noFill/>
          <a:ln>
            <a:solidFill>
              <a:srgbClr val="0000FF"/>
            </a:solidFill>
          </a:ln>
        </p:spPr>
        <p:txBody>
          <a:bodyPr wrap="square" rtlCol="0">
            <a:spAutoFit/>
          </a:bodyPr>
          <a:lstStyle/>
          <a:p>
            <a:r>
              <a:rPr lang="zh-TW" altLang="en-US" dirty="0">
                <a:hlinkClick r:id="rId3"/>
              </a:rPr>
              <a:t>客戶關係</a:t>
            </a:r>
            <a:r>
              <a:rPr lang="zh-TW" altLang="en-US" dirty="0" smtClean="0">
                <a:hlinkClick r:id="rId3"/>
              </a:rPr>
              <a:t>管理 （</a:t>
            </a:r>
            <a:r>
              <a:rPr lang="en-US" altLang="zh-TW" dirty="0">
                <a:hlinkClick r:id="rId3"/>
              </a:rPr>
              <a:t>Customer Relationship </a:t>
            </a:r>
            <a:r>
              <a:rPr lang="en-US" altLang="zh-TW" dirty="0" smtClean="0">
                <a:hlinkClick r:id="rId3"/>
              </a:rPr>
              <a:t>Management, </a:t>
            </a:r>
            <a:r>
              <a:rPr lang="en-US" altLang="zh-TW" dirty="0">
                <a:hlinkClick r:id="rId3"/>
              </a:rPr>
              <a:t>CRM </a:t>
            </a:r>
            <a:r>
              <a:rPr lang="zh-TW" altLang="en-US" dirty="0" smtClean="0">
                <a:hlinkClick r:id="rId3"/>
              </a:rPr>
              <a:t>）</a:t>
            </a:r>
            <a:r>
              <a:rPr lang="en-US" altLang="zh-TW" dirty="0">
                <a:hlinkClick r:id="rId3"/>
              </a:rPr>
              <a:t/>
            </a:r>
            <a:br>
              <a:rPr lang="en-US" altLang="zh-TW" dirty="0">
                <a:hlinkClick r:id="rId3"/>
              </a:rPr>
            </a:br>
            <a:r>
              <a:rPr lang="en-US" altLang="zh-TW" dirty="0">
                <a:hlinkClick r:id="rId3"/>
              </a:rPr>
              <a:t>https://ohbottech.com/article/what-is-crm</a:t>
            </a:r>
            <a:endParaRPr lang="zh-TW" altLang="en-US" dirty="0"/>
          </a:p>
        </p:txBody>
      </p:sp>
      <p:sp>
        <p:nvSpPr>
          <p:cNvPr id="7" name="文字方塊 6"/>
          <p:cNvSpPr txBox="1"/>
          <p:nvPr/>
        </p:nvSpPr>
        <p:spPr>
          <a:xfrm>
            <a:off x="972051" y="5457057"/>
            <a:ext cx="6969617" cy="923330"/>
          </a:xfrm>
          <a:prstGeom prst="rect">
            <a:avLst/>
          </a:prstGeom>
          <a:noFill/>
          <a:ln>
            <a:solidFill>
              <a:srgbClr val="0000FF"/>
            </a:solidFill>
          </a:ln>
        </p:spPr>
        <p:txBody>
          <a:bodyPr wrap="square" rtlCol="0">
            <a:spAutoFit/>
          </a:bodyPr>
          <a:lstStyle/>
          <a:p>
            <a:r>
              <a:rPr lang="en-US" altLang="zh-TW" b="1" dirty="0">
                <a:hlinkClick r:id="rId4"/>
              </a:rPr>
              <a:t>RFM </a:t>
            </a:r>
            <a:r>
              <a:rPr lang="zh-TW" altLang="en-US" b="1" dirty="0" smtClean="0">
                <a:hlinkClick r:id="rId4"/>
              </a:rPr>
              <a:t>模型</a:t>
            </a:r>
            <a:r>
              <a:rPr lang="en-US" altLang="zh-TW" b="1" dirty="0" smtClean="0">
                <a:hlinkClick r:id="rId4"/>
              </a:rPr>
              <a:t>/</a:t>
            </a:r>
            <a:r>
              <a:rPr lang="zh-TW" altLang="en-US" dirty="0" smtClean="0">
                <a:hlinkClick r:id="rId4"/>
              </a:rPr>
              <a:t>分析</a:t>
            </a:r>
            <a:r>
              <a:rPr lang="en-US" altLang="zh-TW" dirty="0">
                <a:hlinkClick r:id="rId4"/>
              </a:rPr>
              <a:t>(</a:t>
            </a:r>
            <a:r>
              <a:rPr lang="en-US" altLang="zh-TW" dirty="0" err="1" smtClean="0">
                <a:hlinkClick r:id="rId4"/>
              </a:rPr>
              <a:t>Recency</a:t>
            </a:r>
            <a:r>
              <a:rPr lang="zh-TW" altLang="en-US" dirty="0" smtClean="0">
                <a:hlinkClick r:id="rId4"/>
              </a:rPr>
              <a:t>上次</a:t>
            </a:r>
            <a:r>
              <a:rPr lang="zh-TW" altLang="en-US" dirty="0">
                <a:hlinkClick r:id="rId4"/>
              </a:rPr>
              <a:t>消費的</a:t>
            </a:r>
            <a:r>
              <a:rPr lang="zh-TW" altLang="en-US" dirty="0" smtClean="0">
                <a:hlinkClick r:id="rId4"/>
              </a:rPr>
              <a:t>日期</a:t>
            </a:r>
            <a:r>
              <a:rPr lang="en-US" altLang="zh-TW" dirty="0" smtClean="0">
                <a:hlinkClick r:id="rId4"/>
              </a:rPr>
              <a:t>Frequency</a:t>
            </a:r>
            <a:r>
              <a:rPr lang="zh-TW" altLang="en-US" dirty="0" smtClean="0">
                <a:hlinkClick r:id="rId4"/>
              </a:rPr>
              <a:t>消費頻率</a:t>
            </a:r>
            <a:r>
              <a:rPr lang="en-US" altLang="zh-TW" dirty="0" smtClean="0">
                <a:hlinkClick r:id="rId4"/>
              </a:rPr>
              <a:t>Monetary</a:t>
            </a:r>
            <a:r>
              <a:rPr lang="zh-TW" altLang="en-US" dirty="0" smtClean="0">
                <a:hlinkClick r:id="rId4"/>
              </a:rPr>
              <a:t>消費金額</a:t>
            </a:r>
            <a:r>
              <a:rPr lang="en-US" altLang="zh-TW" dirty="0" smtClean="0">
                <a:hlinkClick r:id="rId4"/>
              </a:rPr>
              <a:t>)</a:t>
            </a:r>
          </a:p>
          <a:p>
            <a:r>
              <a:rPr lang="en-US" altLang="zh-TW" dirty="0">
                <a:hlinkClick r:id="rId4"/>
              </a:rPr>
              <a:t>https://reurl.cc/QbAKrp</a:t>
            </a:r>
            <a:endParaRPr lang="zh-TW" altLang="en-US" dirty="0"/>
          </a:p>
        </p:txBody>
      </p:sp>
    </p:spTree>
    <p:extLst>
      <p:ext uri="{BB962C8B-B14F-4D97-AF65-F5344CB8AC3E}">
        <p14:creationId xmlns:p14="http://schemas.microsoft.com/office/powerpoint/2010/main" val="3654158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3"/>
            <a:r>
              <a:rPr lang="zh-TW" altLang="en-US" dirty="0"/>
              <a:t>降維是用來減少資料集中的特徵維度。一般特徵選擇演算法會保留原始特徵空間</a:t>
            </a:r>
            <a:r>
              <a:rPr lang="zh-TW" altLang="en-US" dirty="0" smtClean="0"/>
              <a:t>，降</a:t>
            </a:r>
            <a:r>
              <a:rPr lang="zh-TW" altLang="en-US" dirty="0"/>
              <a:t>維會將原始特徵轉換或映射到一個新的特徵空間。換句話說，降維可以理解為</a:t>
            </a:r>
            <a:r>
              <a:rPr lang="zh-TW" altLang="en-US" dirty="0" smtClean="0"/>
              <a:t>是一種</a:t>
            </a:r>
            <a:r>
              <a:rPr lang="zh-TW" altLang="en-US" dirty="0"/>
              <a:t>資料壓縮的方法，可以保留大部分特徵資訊。最常使用的降維演算法為主</a:t>
            </a:r>
            <a:r>
              <a:rPr lang="zh-TW" altLang="en-US" dirty="0" smtClean="0"/>
              <a:t>成份分析。</a:t>
            </a:r>
            <a:endParaRPr lang="en-US" altLang="zh-TW" dirty="0" smtClean="0"/>
          </a:p>
          <a:p>
            <a:pPr lvl="3"/>
            <a:endParaRPr lang="zh-TW" altLang="en-US" dirty="0"/>
          </a:p>
          <a:p>
            <a:pPr lvl="1"/>
            <a:r>
              <a:rPr lang="en-US" altLang="zh-TW" dirty="0"/>
              <a:t>7.4.1 </a:t>
            </a:r>
            <a:r>
              <a:rPr lang="zh-TW" altLang="en-US" dirty="0"/>
              <a:t>主成份分析：</a:t>
            </a:r>
            <a:r>
              <a:rPr lang="en-US" altLang="zh-TW" dirty="0"/>
              <a:t>PCA</a:t>
            </a:r>
          </a:p>
          <a:p>
            <a:pPr lvl="3"/>
            <a:r>
              <a:rPr lang="zh-TW" altLang="en-US" b="1" dirty="0"/>
              <a:t>主成份分析</a:t>
            </a:r>
            <a:r>
              <a:rPr lang="en-US" altLang="zh-TW" dirty="0"/>
              <a:t>(Principal Component Analysis)</a:t>
            </a:r>
            <a:r>
              <a:rPr lang="zh-TW" altLang="en-US" dirty="0"/>
              <a:t>，簡稱</a:t>
            </a:r>
            <a:r>
              <a:rPr lang="en-US" altLang="zh-TW" dirty="0"/>
              <a:t>PCA</a:t>
            </a:r>
            <a:r>
              <a:rPr lang="zh-TW" altLang="en-US" dirty="0"/>
              <a:t>，是一種資料維數壓縮的</a:t>
            </a:r>
            <a:r>
              <a:rPr lang="zh-TW" altLang="en-US" dirty="0" smtClean="0"/>
              <a:t>技術</a:t>
            </a:r>
            <a:r>
              <a:rPr lang="zh-TW" altLang="en-US" dirty="0"/>
              <a:t>，在減少少量資料訊息的情況下，盡量降低資料的維度</a:t>
            </a:r>
            <a:r>
              <a:rPr lang="en-US" altLang="zh-TW" dirty="0"/>
              <a:t>( </a:t>
            </a:r>
            <a:r>
              <a:rPr lang="zh-TW" altLang="en-US" dirty="0"/>
              <a:t>即</a:t>
            </a:r>
            <a:r>
              <a:rPr lang="zh-TW" altLang="en-US" dirty="0">
                <a:solidFill>
                  <a:srgbClr val="FF0000"/>
                </a:solidFill>
              </a:rPr>
              <a:t>減少特徵數量</a:t>
            </a:r>
            <a:r>
              <a:rPr lang="en-US" altLang="zh-TW" dirty="0"/>
              <a:t>)</a:t>
            </a:r>
            <a:r>
              <a:rPr lang="zh-TW" altLang="en-US" dirty="0"/>
              <a:t>。主</a:t>
            </a:r>
            <a:r>
              <a:rPr lang="zh-TW" altLang="en-US" dirty="0" smtClean="0"/>
              <a:t>成份</a:t>
            </a:r>
            <a:r>
              <a:rPr lang="zh-TW" altLang="en-US" dirty="0"/>
              <a:t>分析會改變原始資料的結構，</a:t>
            </a:r>
            <a:r>
              <a:rPr lang="zh-TW" altLang="en-US" dirty="0">
                <a:solidFill>
                  <a:srgbClr val="FF0000"/>
                </a:solidFill>
              </a:rPr>
              <a:t>通常在特徵數量達到上百個以上時才考慮使用。</a:t>
            </a:r>
          </a:p>
          <a:p>
            <a:pPr lvl="3"/>
            <a:r>
              <a:rPr lang="zh-TW" altLang="en-US" dirty="0">
                <a:solidFill>
                  <a:srgbClr val="0000FF"/>
                </a:solidFill>
              </a:rPr>
              <a:t>主成份分析的概念是當特徵數量龐大時，無可避免的會有部分特徵之間是相關的</a:t>
            </a:r>
            <a:r>
              <a:rPr lang="zh-TW" altLang="en-US" dirty="0" smtClean="0">
                <a:solidFill>
                  <a:srgbClr val="0000FF"/>
                </a:solidFill>
              </a:rPr>
              <a:t>，於是</a:t>
            </a:r>
            <a:r>
              <a:rPr lang="zh-TW" altLang="en-US" dirty="0">
                <a:solidFill>
                  <a:srgbClr val="0000FF"/>
                </a:solidFill>
              </a:rPr>
              <a:t>可將這些相關特徵合併呈現。</a:t>
            </a:r>
          </a:p>
        </p:txBody>
      </p:sp>
      <p:sp>
        <p:nvSpPr>
          <p:cNvPr id="2" name="標題 1"/>
          <p:cNvSpPr>
            <a:spLocks noGrp="1"/>
          </p:cNvSpPr>
          <p:nvPr>
            <p:ph type="title"/>
          </p:nvPr>
        </p:nvSpPr>
        <p:spPr/>
        <p:txBody>
          <a:bodyPr/>
          <a:lstStyle/>
          <a:p>
            <a:r>
              <a:rPr lang="en-US" altLang="zh-TW" dirty="0"/>
              <a:t>7.4 </a:t>
            </a:r>
            <a:r>
              <a:rPr lang="zh-TW" altLang="en-US" dirty="0"/>
              <a:t>降維演算法</a:t>
            </a:r>
          </a:p>
        </p:txBody>
      </p:sp>
      <p:sp>
        <p:nvSpPr>
          <p:cNvPr id="3" name="矩形 2"/>
          <p:cNvSpPr/>
          <p:nvPr/>
        </p:nvSpPr>
        <p:spPr>
          <a:xfrm>
            <a:off x="539552" y="6021288"/>
            <a:ext cx="7992888"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dirty="0"/>
              <a:t>降</a:t>
            </a:r>
            <a:r>
              <a:rPr lang="zh-TW" altLang="en-US" sz="1600" dirty="0" smtClean="0"/>
              <a:t>維</a:t>
            </a:r>
            <a:r>
              <a:rPr lang="en-US" altLang="zh-TW" sz="1600" dirty="0" smtClean="0"/>
              <a:t>: </a:t>
            </a:r>
            <a:r>
              <a:rPr lang="zh-TW" altLang="en-US" sz="1600" dirty="0" smtClean="0"/>
              <a:t>在</a:t>
            </a:r>
            <a:r>
              <a:rPr lang="zh-TW" altLang="en-US" sz="1600" dirty="0"/>
              <a:t>機器學習和統計學領域，降維是指在某些限定條件下，</a:t>
            </a:r>
            <a:r>
              <a:rPr lang="zh-TW" altLang="en-US" sz="1600" dirty="0">
                <a:solidFill>
                  <a:srgbClr val="FFC000"/>
                </a:solidFill>
              </a:rPr>
              <a:t>降低隨機變量個數</a:t>
            </a:r>
            <a:r>
              <a:rPr lang="zh-TW" altLang="en-US" sz="1600" dirty="0"/>
              <a:t>，得到一組</a:t>
            </a:r>
            <a:r>
              <a:rPr lang="zh-TW" altLang="en-US" sz="1600" dirty="0" smtClean="0"/>
              <a:t>「相關</a:t>
            </a:r>
            <a:r>
              <a:rPr lang="zh-TW" altLang="en-US" sz="1600" dirty="0"/>
              <a:t>」主變量的過程。 降維可進一步細分為</a:t>
            </a:r>
            <a:r>
              <a:rPr lang="zh-TW" altLang="en-US" sz="1600" dirty="0">
                <a:solidFill>
                  <a:srgbClr val="FFC000"/>
                </a:solidFill>
              </a:rPr>
              <a:t>變量選擇</a:t>
            </a:r>
            <a:r>
              <a:rPr lang="zh-TW" altLang="en-US" sz="1600" dirty="0"/>
              <a:t>和</a:t>
            </a:r>
            <a:r>
              <a:rPr lang="zh-TW" altLang="en-US" sz="1600" dirty="0">
                <a:solidFill>
                  <a:srgbClr val="FFC000"/>
                </a:solidFill>
              </a:rPr>
              <a:t>特徵提取</a:t>
            </a:r>
            <a:r>
              <a:rPr lang="zh-TW" altLang="en-US" sz="1600" dirty="0"/>
              <a:t>兩大方法。</a:t>
            </a:r>
          </a:p>
        </p:txBody>
      </p:sp>
    </p:spTree>
    <p:extLst>
      <p:ext uri="{BB962C8B-B14F-4D97-AF65-F5344CB8AC3E}">
        <p14:creationId xmlns:p14="http://schemas.microsoft.com/office/powerpoint/2010/main" val="50001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431999" y="1052736"/>
            <a:ext cx="8280000" cy="5448864"/>
          </a:xfrm>
        </p:spPr>
        <p:txBody>
          <a:bodyPr/>
          <a:lstStyle/>
          <a:p>
            <a:r>
              <a:rPr lang="en-US" altLang="zh-TW" sz="2000" dirty="0" smtClean="0">
                <a:solidFill>
                  <a:srgbClr val="FF0000"/>
                </a:solidFill>
              </a:rPr>
              <a:t>1.</a:t>
            </a:r>
            <a:r>
              <a:rPr lang="zh-TW" altLang="en-US" sz="2000" dirty="0">
                <a:solidFill>
                  <a:srgbClr val="FF0000"/>
                </a:solidFill>
              </a:rPr>
              <a:t>降</a:t>
            </a:r>
            <a:r>
              <a:rPr lang="zh-TW" altLang="en-US" sz="2000" dirty="0" smtClean="0">
                <a:solidFill>
                  <a:srgbClr val="FF0000"/>
                </a:solidFill>
              </a:rPr>
              <a:t>維的意義</a:t>
            </a:r>
            <a:r>
              <a:rPr lang="en-US" altLang="zh-TW" sz="2000" dirty="0" smtClean="0">
                <a:solidFill>
                  <a:srgbClr val="FF0000"/>
                </a:solidFill>
              </a:rPr>
              <a:t>: </a:t>
            </a:r>
          </a:p>
          <a:p>
            <a:r>
              <a:rPr lang="zh-TW" altLang="en-US" sz="2000" dirty="0" smtClean="0"/>
              <a:t>在</a:t>
            </a:r>
            <a:r>
              <a:rPr lang="zh-TW" altLang="en-US" sz="2000" dirty="0"/>
              <a:t>機器學習和統計學領域，降維是指在某些限定條件下，</a:t>
            </a:r>
            <a:r>
              <a:rPr lang="zh-TW" altLang="en-US" sz="2000" dirty="0">
                <a:solidFill>
                  <a:srgbClr val="FFC000"/>
                </a:solidFill>
              </a:rPr>
              <a:t>降低隨機變量個數</a:t>
            </a:r>
            <a:r>
              <a:rPr lang="zh-TW" altLang="en-US" sz="2000" dirty="0"/>
              <a:t>，得到一組</a:t>
            </a:r>
            <a:r>
              <a:rPr lang="zh-TW" altLang="en-US" sz="2000" dirty="0" smtClean="0"/>
              <a:t>「相關</a:t>
            </a:r>
            <a:r>
              <a:rPr lang="zh-TW" altLang="en-US" sz="2000" dirty="0"/>
              <a:t>」主變量的過程。 降維可進一步細分為</a:t>
            </a:r>
            <a:r>
              <a:rPr lang="zh-TW" altLang="en-US" sz="2000" dirty="0">
                <a:solidFill>
                  <a:srgbClr val="FFC000"/>
                </a:solidFill>
              </a:rPr>
              <a:t>變量選擇</a:t>
            </a:r>
            <a:r>
              <a:rPr lang="zh-TW" altLang="en-US" sz="2000" dirty="0"/>
              <a:t>和</a:t>
            </a:r>
            <a:r>
              <a:rPr lang="zh-TW" altLang="en-US" sz="2000" dirty="0">
                <a:solidFill>
                  <a:srgbClr val="FFC000"/>
                </a:solidFill>
              </a:rPr>
              <a:t>特徵提取</a:t>
            </a:r>
            <a:r>
              <a:rPr lang="zh-TW" altLang="en-US" sz="2000" dirty="0"/>
              <a:t>兩大方法</a:t>
            </a:r>
            <a:r>
              <a:rPr lang="zh-TW" altLang="en-US" sz="2000" dirty="0" smtClean="0"/>
              <a:t>。</a:t>
            </a:r>
            <a:endParaRPr lang="en-US" altLang="zh-TW" sz="2000" dirty="0" smtClean="0"/>
          </a:p>
          <a:p>
            <a:endParaRPr lang="en-US" altLang="zh-TW" sz="2000" dirty="0" smtClean="0"/>
          </a:p>
          <a:p>
            <a:r>
              <a:rPr lang="en-US" altLang="zh-TW" sz="2000" dirty="0" smtClean="0">
                <a:solidFill>
                  <a:srgbClr val="FF0000"/>
                </a:solidFill>
              </a:rPr>
              <a:t>2.</a:t>
            </a:r>
            <a:r>
              <a:rPr lang="zh-TW" altLang="en-US" sz="2000" dirty="0">
                <a:solidFill>
                  <a:srgbClr val="FF0000"/>
                </a:solidFill>
              </a:rPr>
              <a:t>降</a:t>
            </a:r>
            <a:r>
              <a:rPr lang="zh-TW" altLang="en-US" sz="2000" dirty="0" smtClean="0">
                <a:solidFill>
                  <a:srgbClr val="FF0000"/>
                </a:solidFill>
              </a:rPr>
              <a:t>維的好處</a:t>
            </a:r>
            <a:endParaRPr lang="en-US" altLang="zh-TW" sz="2000" dirty="0" smtClean="0">
              <a:solidFill>
                <a:srgbClr val="FF0000"/>
              </a:solidFill>
            </a:endParaRPr>
          </a:p>
          <a:p>
            <a:r>
              <a:rPr lang="zh-TW" altLang="en-US" sz="2000" dirty="0">
                <a:solidFill>
                  <a:srgbClr val="0000FF"/>
                </a:solidFill>
              </a:rPr>
              <a:t>把一些資料做壓縮，同時又能夠保持資料原來的特性</a:t>
            </a:r>
            <a:r>
              <a:rPr lang="zh-TW" altLang="en-US" sz="2000" dirty="0"/>
              <a:t>。 因此我們可以用比較少的空間，或是</a:t>
            </a:r>
            <a:r>
              <a:rPr lang="zh-TW" altLang="en-US" sz="2000" dirty="0">
                <a:solidFill>
                  <a:schemeClr val="tx1"/>
                </a:solidFill>
              </a:rPr>
              <a:t>計算時用比較少的資源就可以得到跟沒有做資料壓縮之前得到相似的結果。</a:t>
            </a:r>
            <a:r>
              <a:rPr lang="zh-TW" altLang="en-US" sz="2000" dirty="0"/>
              <a:t> 此外資料降維可以幫助我們進行資料視覺化，二維可以用平面圖表示、三維可以用立體圖作表示，</a:t>
            </a:r>
            <a:r>
              <a:rPr lang="zh-TW" altLang="en-US" sz="2000" dirty="0">
                <a:solidFill>
                  <a:srgbClr val="0000FF"/>
                </a:solidFill>
              </a:rPr>
              <a:t>而大於三維的空間難以視覺化做呈現</a:t>
            </a:r>
            <a:r>
              <a:rPr lang="zh-TW" altLang="en-US" sz="2000" dirty="0"/>
              <a:t>。</a:t>
            </a:r>
          </a:p>
          <a:p>
            <a:endParaRPr lang="zh-TW" altLang="en-US" dirty="0"/>
          </a:p>
        </p:txBody>
      </p:sp>
    </p:spTree>
    <p:extLst>
      <p:ext uri="{BB962C8B-B14F-4D97-AF65-F5344CB8AC3E}">
        <p14:creationId xmlns:p14="http://schemas.microsoft.com/office/powerpoint/2010/main" val="3385563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7.4.2 </a:t>
            </a:r>
            <a:r>
              <a:rPr lang="en-US" altLang="zh-TW" dirty="0" err="1"/>
              <a:t>Scikit</a:t>
            </a:r>
            <a:r>
              <a:rPr lang="en-US" altLang="zh-TW" dirty="0"/>
              <a:t>-Learn </a:t>
            </a:r>
            <a:r>
              <a:rPr lang="zh-TW" altLang="en-US" dirty="0"/>
              <a:t>的</a:t>
            </a:r>
            <a:r>
              <a:rPr lang="en-US" altLang="zh-TW" dirty="0"/>
              <a:t>PCA </a:t>
            </a:r>
            <a:r>
              <a:rPr lang="zh-TW" altLang="en-US" dirty="0"/>
              <a:t>模組</a:t>
            </a:r>
          </a:p>
          <a:p>
            <a:pPr marL="342900" lvl="3" indent="-342900">
              <a:buFont typeface="+mj-lt"/>
              <a:buAutoNum type="arabicPeriod"/>
            </a:pPr>
            <a:r>
              <a:rPr lang="zh-TW" altLang="en-US" dirty="0" smtClean="0"/>
              <a:t>要</a:t>
            </a:r>
            <a:r>
              <a:rPr lang="zh-TW" altLang="en-US" dirty="0"/>
              <a:t>使用</a:t>
            </a:r>
            <a:r>
              <a:rPr lang="en-US" altLang="zh-TW" dirty="0" err="1"/>
              <a:t>Scikit</a:t>
            </a:r>
            <a:r>
              <a:rPr lang="en-US" altLang="zh-TW" dirty="0"/>
              <a:t>-Learn </a:t>
            </a:r>
            <a:r>
              <a:rPr lang="zh-TW" altLang="en-US" dirty="0"/>
              <a:t>主成份分析功能，首先要含入主成份分析模組</a:t>
            </a:r>
            <a:r>
              <a:rPr lang="zh-TW" altLang="en-US" dirty="0" smtClean="0"/>
              <a:t>：</a:t>
            </a:r>
            <a:endParaRPr lang="en-US" altLang="zh-TW" dirty="0" smtClean="0"/>
          </a:p>
          <a:p>
            <a:pPr marL="342900" lvl="3" indent="-342900">
              <a:buFont typeface="+mj-lt"/>
              <a:buAutoNum type="arabicPeriod"/>
            </a:pPr>
            <a:endParaRPr lang="en-US" altLang="zh-TW" dirty="0"/>
          </a:p>
          <a:p>
            <a:pPr marL="342900" lvl="3" indent="-342900">
              <a:buFont typeface="+mj-lt"/>
              <a:buAutoNum type="arabicPeriod"/>
            </a:pPr>
            <a:r>
              <a:rPr lang="zh-TW" altLang="en-US" dirty="0"/>
              <a:t>接著建立</a:t>
            </a:r>
            <a:r>
              <a:rPr lang="en-US" altLang="zh-TW" dirty="0"/>
              <a:t>PCA </a:t>
            </a:r>
            <a:r>
              <a:rPr lang="zh-TW" altLang="en-US" dirty="0"/>
              <a:t>物件，語法為</a:t>
            </a:r>
            <a:r>
              <a:rPr lang="zh-TW" altLang="en-US" dirty="0" smtClean="0"/>
              <a:t>：</a:t>
            </a:r>
            <a:endParaRPr lang="en-US" altLang="zh-TW" dirty="0" smtClean="0"/>
          </a:p>
          <a:p>
            <a:pPr marL="342900" lvl="3" indent="-342900">
              <a:buFont typeface="+mj-lt"/>
              <a:buAutoNum type="arabicPeriod"/>
            </a:pPr>
            <a:endParaRPr lang="en-US" altLang="zh-TW" dirty="0"/>
          </a:p>
          <a:p>
            <a:pPr marL="285750" lvl="3" indent="-285750">
              <a:buFont typeface="Wingdings" panose="05000000000000000000" pitchFamily="2" charset="2"/>
              <a:buChar char="n"/>
            </a:pPr>
            <a:r>
              <a:rPr lang="en-US" altLang="zh-TW" b="1" dirty="0" err="1" smtClean="0"/>
              <a:t>n_components</a:t>
            </a:r>
            <a:r>
              <a:rPr lang="zh-TW" altLang="en-US" dirty="0"/>
              <a:t>：此參數值有兩種設定方式：</a:t>
            </a:r>
          </a:p>
          <a:p>
            <a:pPr marL="645750" lvl="4" indent="-285750">
              <a:buFont typeface="Wingdings" panose="05000000000000000000" pitchFamily="2" charset="2"/>
              <a:buChar char="l"/>
            </a:pPr>
            <a:r>
              <a:rPr lang="zh-TW" altLang="en-US" b="1" dirty="0" smtClean="0"/>
              <a:t>小數</a:t>
            </a:r>
            <a:r>
              <a:rPr lang="zh-TW" altLang="en-US" dirty="0"/>
              <a:t>：表示要保留原始資料的比例，其值一般在 </a:t>
            </a:r>
            <a:r>
              <a:rPr lang="en-US" altLang="zh-TW" dirty="0"/>
              <a:t>0.9 </a:t>
            </a:r>
            <a:r>
              <a:rPr lang="zh-TW" altLang="en-US" dirty="0"/>
              <a:t>至 </a:t>
            </a:r>
            <a:r>
              <a:rPr lang="en-US" altLang="zh-TW" dirty="0"/>
              <a:t>0.95 </a:t>
            </a:r>
            <a:r>
              <a:rPr lang="zh-TW" altLang="en-US" dirty="0"/>
              <a:t>之間，即</a:t>
            </a:r>
            <a:r>
              <a:rPr lang="zh-TW" altLang="en-US" dirty="0" smtClean="0"/>
              <a:t>保留</a:t>
            </a:r>
            <a:r>
              <a:rPr lang="en-US" altLang="zh-TW" dirty="0" smtClean="0"/>
              <a:t>90</a:t>
            </a:r>
            <a:r>
              <a:rPr lang="en-US" altLang="zh-TW" dirty="0"/>
              <a:t>% </a:t>
            </a:r>
            <a:r>
              <a:rPr lang="zh-TW" altLang="en-US" dirty="0"/>
              <a:t>到</a:t>
            </a:r>
            <a:r>
              <a:rPr lang="en-US" altLang="zh-TW" dirty="0"/>
              <a:t>95% </a:t>
            </a:r>
            <a:r>
              <a:rPr lang="zh-TW" altLang="en-US" dirty="0"/>
              <a:t>的原始資料。</a:t>
            </a:r>
          </a:p>
          <a:p>
            <a:pPr marL="645750" lvl="4" indent="-285750">
              <a:buFont typeface="Wingdings" panose="05000000000000000000" pitchFamily="2" charset="2"/>
              <a:buChar char="l"/>
            </a:pPr>
            <a:r>
              <a:rPr lang="zh-TW" altLang="en-US" b="1" dirty="0" smtClean="0"/>
              <a:t>整數</a:t>
            </a:r>
            <a:r>
              <a:rPr lang="zh-TW" altLang="en-US" dirty="0"/>
              <a:t>：表示要保留原始資料的特徵數量。由於要保留的特徵數量不易決定</a:t>
            </a:r>
            <a:r>
              <a:rPr lang="zh-TW" altLang="en-US" dirty="0" smtClean="0"/>
              <a:t>，通常</a:t>
            </a:r>
            <a:r>
              <a:rPr lang="zh-TW" altLang="en-US" dirty="0"/>
              <a:t>都是設定為小數</a:t>
            </a:r>
            <a:r>
              <a:rPr lang="zh-TW" altLang="en-US" dirty="0" smtClean="0"/>
              <a:t>。</a:t>
            </a:r>
            <a:endParaRPr lang="en-US" altLang="zh-TW" dirty="0" smtClean="0"/>
          </a:p>
          <a:p>
            <a:pPr marL="342900" lvl="3" indent="-342900">
              <a:buFont typeface="+mj-lt"/>
              <a:buAutoNum type="arabicPeriod" startAt="3"/>
            </a:pPr>
            <a:r>
              <a:rPr lang="zh-TW" altLang="en-US" dirty="0"/>
              <a:t>然後用</a:t>
            </a:r>
            <a:r>
              <a:rPr lang="en-US" altLang="zh-TW" dirty="0"/>
              <a:t>PCA </a:t>
            </a:r>
            <a:r>
              <a:rPr lang="zh-TW" altLang="en-US" dirty="0"/>
              <a:t>物件的</a:t>
            </a:r>
            <a:r>
              <a:rPr lang="en-US" altLang="zh-TW" dirty="0" err="1"/>
              <a:t>fit_transform</a:t>
            </a:r>
            <a:r>
              <a:rPr lang="en-US" altLang="zh-TW" dirty="0"/>
              <a:t> </a:t>
            </a:r>
            <a:r>
              <a:rPr lang="zh-TW" altLang="en-US" dirty="0"/>
              <a:t>方法轉換，語法為：</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556792"/>
            <a:ext cx="5627911" cy="552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420888"/>
            <a:ext cx="5627911" cy="513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2331" y="5413743"/>
            <a:ext cx="5604231" cy="5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014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3"/>
          <p:cNvSpPr>
            <a:spLocks noGrp="1"/>
          </p:cNvSpPr>
          <p:nvPr>
            <p:ph sz="quarter" idx="10"/>
          </p:nvPr>
        </p:nvSpPr>
        <p:spPr/>
        <p:txBody>
          <a:bodyPr/>
          <a:lstStyle/>
          <a:p>
            <a:pPr lvl="1"/>
            <a:r>
              <a:rPr lang="en-US" altLang="zh-TW" dirty="0"/>
              <a:t>7.4.3 </a:t>
            </a:r>
            <a:r>
              <a:rPr lang="zh-TW" altLang="en-US" dirty="0"/>
              <a:t>主成份分析應用：消費者購買哪些商品</a:t>
            </a:r>
          </a:p>
          <a:p>
            <a:pPr lvl="3"/>
            <a:r>
              <a:rPr lang="zh-TW" altLang="en-US" dirty="0"/>
              <a:t>這裡將使用</a:t>
            </a:r>
            <a:r>
              <a:rPr lang="en-US" altLang="zh-TW" dirty="0" err="1"/>
              <a:t>Kaggle</a:t>
            </a:r>
            <a:r>
              <a:rPr lang="en-US" altLang="zh-TW" dirty="0"/>
              <a:t> </a:t>
            </a:r>
            <a:r>
              <a:rPr lang="zh-TW" altLang="en-US" dirty="0"/>
              <a:t>網站所提供的</a:t>
            </a:r>
            <a:r>
              <a:rPr lang="en-US" altLang="zh-TW" dirty="0" err="1"/>
              <a:t>Instacart</a:t>
            </a:r>
            <a:r>
              <a:rPr lang="en-US" altLang="zh-TW" dirty="0"/>
              <a:t> </a:t>
            </a:r>
            <a:r>
              <a:rPr lang="zh-TW" altLang="en-US" dirty="0"/>
              <a:t>購物系統資料集</a:t>
            </a:r>
            <a:r>
              <a:rPr lang="en-US" altLang="zh-TW" dirty="0"/>
              <a:t>(https://</a:t>
            </a:r>
            <a:r>
              <a:rPr lang="en-US" altLang="zh-TW" dirty="0" smtClean="0"/>
              <a:t>www.kaggle.com/c/instacart-market-basket-analysis/data</a:t>
            </a:r>
            <a:r>
              <a:rPr lang="en-US" altLang="zh-TW" dirty="0"/>
              <a:t>)</a:t>
            </a:r>
            <a:r>
              <a:rPr lang="zh-TW" altLang="en-US" dirty="0"/>
              <a:t>。這個資料集包含來自超過 </a:t>
            </a:r>
            <a:r>
              <a:rPr lang="en-US" altLang="zh-TW" dirty="0" smtClean="0"/>
              <a:t>200,000</a:t>
            </a:r>
            <a:r>
              <a:rPr lang="zh-TW" altLang="en-US" dirty="0" smtClean="0"/>
              <a:t>個 </a:t>
            </a:r>
            <a:r>
              <a:rPr lang="en-US" altLang="zh-TW" dirty="0" err="1"/>
              <a:t>Instacart</a:t>
            </a:r>
            <a:r>
              <a:rPr lang="en-US" altLang="zh-TW" dirty="0"/>
              <a:t> </a:t>
            </a:r>
            <a:r>
              <a:rPr lang="zh-TW" altLang="en-US" dirty="0"/>
              <a:t>顧客所產生超過 </a:t>
            </a:r>
            <a:r>
              <a:rPr lang="en-US" altLang="zh-TW" dirty="0"/>
              <a:t>300 </a:t>
            </a:r>
            <a:r>
              <a:rPr lang="zh-TW" altLang="en-US" dirty="0"/>
              <a:t>萬份訂單的資料。這裡將建立一個含有一百多個</a:t>
            </a:r>
            <a:r>
              <a:rPr lang="zh-TW" altLang="en-US" dirty="0" smtClean="0"/>
              <a:t>特徵</a:t>
            </a:r>
            <a:r>
              <a:rPr lang="zh-TW" altLang="en-US" dirty="0"/>
              <a:t>的資料來示範主成份分析降維的效果</a:t>
            </a:r>
            <a:r>
              <a:rPr lang="zh-TW" altLang="en-US" dirty="0" smtClean="0"/>
              <a:t>。</a:t>
            </a:r>
            <a:endParaRPr lang="en-US" altLang="zh-TW" dirty="0" smtClean="0"/>
          </a:p>
          <a:p>
            <a:pPr lvl="3"/>
            <a:r>
              <a:rPr lang="zh-TW" altLang="en-US" dirty="0"/>
              <a:t>可見到有</a:t>
            </a:r>
            <a:r>
              <a:rPr lang="en-US" altLang="zh-TW" dirty="0"/>
              <a:t>206209 </a:t>
            </a:r>
            <a:r>
              <a:rPr lang="zh-TW" altLang="en-US" dirty="0"/>
              <a:t>位消費者，</a:t>
            </a:r>
            <a:r>
              <a:rPr lang="zh-TW" altLang="en-US" dirty="0">
                <a:solidFill>
                  <a:srgbClr val="FF0000"/>
                </a:solidFill>
              </a:rPr>
              <a:t>商品共有</a:t>
            </a:r>
            <a:r>
              <a:rPr lang="en-US" altLang="zh-TW" dirty="0">
                <a:solidFill>
                  <a:srgbClr val="FF0000"/>
                </a:solidFill>
              </a:rPr>
              <a:t>134 </a:t>
            </a:r>
            <a:r>
              <a:rPr lang="zh-TW" altLang="en-US" dirty="0">
                <a:solidFill>
                  <a:srgbClr val="FF0000"/>
                </a:solidFill>
              </a:rPr>
              <a:t>類，即有</a:t>
            </a:r>
            <a:r>
              <a:rPr lang="en-US" altLang="zh-TW" dirty="0">
                <a:solidFill>
                  <a:srgbClr val="FF0000"/>
                </a:solidFill>
              </a:rPr>
              <a:t>134 </a:t>
            </a:r>
            <a:r>
              <a:rPr lang="zh-TW" altLang="en-US" dirty="0">
                <a:solidFill>
                  <a:srgbClr val="FF0000"/>
                </a:solidFill>
              </a:rPr>
              <a:t>個特徵</a:t>
            </a:r>
            <a:r>
              <a:rPr lang="zh-TW" altLang="en-US" dirty="0"/>
              <a:t>。</a:t>
            </a:r>
            <a:r>
              <a:rPr lang="zh-TW" altLang="en-US" dirty="0">
                <a:solidFill>
                  <a:srgbClr val="FF0000"/>
                </a:solidFill>
              </a:rPr>
              <a:t>特徵</a:t>
            </a:r>
            <a:r>
              <a:rPr lang="zh-TW" altLang="en-US" dirty="0" smtClean="0">
                <a:solidFill>
                  <a:srgbClr val="FF0000"/>
                </a:solidFill>
              </a:rPr>
              <a:t>數超過</a:t>
            </a:r>
            <a:r>
              <a:rPr lang="zh-TW" altLang="en-US" dirty="0">
                <a:solidFill>
                  <a:srgbClr val="FF0000"/>
                </a:solidFill>
              </a:rPr>
              <a:t>百個，且多數特徵值為</a:t>
            </a:r>
            <a:r>
              <a:rPr lang="en-US" altLang="zh-TW" dirty="0">
                <a:solidFill>
                  <a:srgbClr val="FF0000"/>
                </a:solidFill>
              </a:rPr>
              <a:t>0</a:t>
            </a:r>
            <a:r>
              <a:rPr lang="zh-TW" altLang="en-US" dirty="0">
                <a:solidFill>
                  <a:srgbClr val="FF0000"/>
                </a:solidFill>
              </a:rPr>
              <a:t>，非常適合使用主成份分析降維</a:t>
            </a:r>
            <a:r>
              <a:rPr lang="zh-TW" altLang="en-US" dirty="0" smtClean="0">
                <a:solidFill>
                  <a:srgbClr val="FF0000"/>
                </a:solidFill>
              </a:rPr>
              <a:t>。</a:t>
            </a:r>
            <a:endParaRPr lang="en-US" altLang="zh-TW" dirty="0" smtClean="0">
              <a:solidFill>
                <a:srgbClr val="FF0000"/>
              </a:solidFill>
            </a:endParaRPr>
          </a:p>
          <a:p>
            <a:pPr lvl="3"/>
            <a:endParaRPr lang="en-US" altLang="zh-TW" dirty="0"/>
          </a:p>
          <a:p>
            <a:pPr lvl="3"/>
            <a:endParaRPr lang="en-US" altLang="zh-TW" dirty="0" smtClean="0"/>
          </a:p>
          <a:p>
            <a:pPr lvl="3"/>
            <a:endParaRPr lang="en-US" altLang="zh-TW" dirty="0"/>
          </a:p>
          <a:p>
            <a:pPr lvl="3"/>
            <a:r>
              <a:rPr lang="zh-TW" altLang="en-US" dirty="0"/>
              <a:t>可見到</a:t>
            </a:r>
            <a:r>
              <a:rPr lang="zh-TW" altLang="en-US" dirty="0">
                <a:solidFill>
                  <a:srgbClr val="0000FF"/>
                </a:solidFill>
              </a:rPr>
              <a:t>使用保留</a:t>
            </a:r>
            <a:r>
              <a:rPr lang="en-US" altLang="zh-TW" dirty="0">
                <a:solidFill>
                  <a:srgbClr val="0000FF"/>
                </a:solidFill>
              </a:rPr>
              <a:t>95% </a:t>
            </a:r>
            <a:r>
              <a:rPr lang="zh-TW" altLang="en-US" dirty="0">
                <a:solidFill>
                  <a:srgbClr val="0000FF"/>
                </a:solidFill>
              </a:rPr>
              <a:t>資料的主成份分析時，特徵數量成為</a:t>
            </a:r>
            <a:r>
              <a:rPr lang="en-US" altLang="zh-TW" dirty="0">
                <a:solidFill>
                  <a:srgbClr val="0000FF"/>
                </a:solidFill>
              </a:rPr>
              <a:t>44 </a:t>
            </a:r>
            <a:r>
              <a:rPr lang="zh-TW" altLang="en-US" dirty="0">
                <a:solidFill>
                  <a:srgbClr val="0000FF"/>
                </a:solidFill>
              </a:rPr>
              <a:t>個</a:t>
            </a:r>
            <a:r>
              <a:rPr lang="zh-TW" altLang="en-US" dirty="0"/>
              <a:t>。若是</a:t>
            </a:r>
            <a:r>
              <a:rPr lang="zh-TW" altLang="en-US" dirty="0">
                <a:solidFill>
                  <a:srgbClr val="FFC000"/>
                </a:solidFill>
              </a:rPr>
              <a:t>使用</a:t>
            </a:r>
            <a:r>
              <a:rPr lang="zh-TW" altLang="en-US" dirty="0" smtClean="0">
                <a:solidFill>
                  <a:srgbClr val="FFC000"/>
                </a:solidFill>
              </a:rPr>
              <a:t>保留</a:t>
            </a:r>
            <a:r>
              <a:rPr lang="en-US" altLang="zh-TW" dirty="0" smtClean="0">
                <a:solidFill>
                  <a:srgbClr val="FFC000"/>
                </a:solidFill>
              </a:rPr>
              <a:t>90</a:t>
            </a:r>
            <a:r>
              <a:rPr lang="en-US" altLang="zh-TW" dirty="0">
                <a:solidFill>
                  <a:srgbClr val="FFC000"/>
                </a:solidFill>
              </a:rPr>
              <a:t>% </a:t>
            </a:r>
            <a:r>
              <a:rPr lang="zh-TW" altLang="en-US" dirty="0">
                <a:solidFill>
                  <a:srgbClr val="FFC000"/>
                </a:solidFill>
              </a:rPr>
              <a:t>資料的主成份分析，則特徵數量大幅削減成為</a:t>
            </a:r>
            <a:r>
              <a:rPr lang="en-US" altLang="zh-TW" dirty="0">
                <a:solidFill>
                  <a:srgbClr val="FFC000"/>
                </a:solidFill>
              </a:rPr>
              <a:t>27 </a:t>
            </a:r>
            <a:r>
              <a:rPr lang="zh-TW" altLang="en-US" dirty="0">
                <a:solidFill>
                  <a:srgbClr val="FFC000"/>
                </a:solidFill>
              </a:rPr>
              <a:t>個</a:t>
            </a:r>
            <a:r>
              <a:rPr lang="zh-TW" altLang="en-US" dirty="0"/>
              <a:t>。</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3429000"/>
            <a:ext cx="4781550"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1642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古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21416</TotalTime>
  <Words>2519</Words>
  <Application>Microsoft Office PowerPoint</Application>
  <PresentationFormat>如螢幕大小 (4:3)</PresentationFormat>
  <Paragraphs>162</Paragraphs>
  <Slides>20</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20</vt:i4>
      </vt:variant>
    </vt:vector>
  </HeadingPairs>
  <TitlesOfParts>
    <vt:vector size="28" baseType="lpstr">
      <vt:lpstr>微軟正黑體</vt:lpstr>
      <vt:lpstr>新細明體</vt:lpstr>
      <vt:lpstr>標楷體</vt:lpstr>
      <vt:lpstr>Arial</vt:lpstr>
      <vt:lpstr>Arial Black</vt:lpstr>
      <vt:lpstr>Calibri</vt:lpstr>
      <vt:lpstr>Wingdings</vt:lpstr>
      <vt:lpstr>Median</vt:lpstr>
      <vt:lpstr>PowerPoint 簡報</vt:lpstr>
      <vt:lpstr>PowerPoint 簡報</vt:lpstr>
      <vt:lpstr>7.1 認識機器學習</vt:lpstr>
      <vt:lpstr>PowerPoint 簡報</vt:lpstr>
      <vt:lpstr>PowerPoint 簡報</vt:lpstr>
      <vt:lpstr>7.2 K-means 演算法</vt:lpstr>
      <vt:lpstr>PowerPoint 簡報</vt:lpstr>
      <vt:lpstr>PowerPoint 簡報</vt:lpstr>
      <vt:lpstr>PowerPoint 簡報</vt:lpstr>
      <vt:lpstr>PowerPoint 簡報</vt:lpstr>
      <vt:lpstr>PowerPoint 簡報</vt:lpstr>
      <vt:lpstr>7.3 DBSCAN 演算法</vt:lpstr>
      <vt:lpstr>PowerPoint 簡報</vt:lpstr>
      <vt:lpstr>PowerPoint 簡報</vt:lpstr>
      <vt:lpstr>PowerPoint 簡報</vt:lpstr>
      <vt:lpstr>PowerPoint 簡報</vt:lpstr>
      <vt:lpstr>7.4 降維演算法</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敲開 Android 的開發大門</dc:title>
  <dc:creator>memi</dc:creator>
  <cp:keywords>ACL040700</cp:keywords>
  <cp:lastModifiedBy>user</cp:lastModifiedBy>
  <cp:revision>2086</cp:revision>
  <dcterms:created xsi:type="dcterms:W3CDTF">2011-06-06T16:54:13Z</dcterms:created>
  <dcterms:modified xsi:type="dcterms:W3CDTF">2025-12-03T02:17:59Z</dcterms:modified>
</cp:coreProperties>
</file>